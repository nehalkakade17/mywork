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1.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232" r:id="rId1"/>
  </p:sldMasterIdLst>
  <p:notesMasterIdLst>
    <p:notesMasterId r:id="rId21"/>
  </p:notesMasterIdLst>
  <p:sldIdLst>
    <p:sldId id="266" r:id="rId2"/>
    <p:sldId id="257" r:id="rId3"/>
    <p:sldId id="284" r:id="rId4"/>
    <p:sldId id="285" r:id="rId5"/>
    <p:sldId id="259" r:id="rId6"/>
    <p:sldId id="277" r:id="rId7"/>
    <p:sldId id="278" r:id="rId8"/>
    <p:sldId id="279" r:id="rId9"/>
    <p:sldId id="280" r:id="rId10"/>
    <p:sldId id="287" r:id="rId11"/>
    <p:sldId id="286" r:id="rId12"/>
    <p:sldId id="283" r:id="rId13"/>
    <p:sldId id="288" r:id="rId14"/>
    <p:sldId id="289" r:id="rId15"/>
    <p:sldId id="263" r:id="rId16"/>
    <p:sldId id="290" r:id="rId17"/>
    <p:sldId id="291" r:id="rId18"/>
    <p:sldId id="292" r:id="rId19"/>
    <p:sldId id="27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1"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63FF49-F8AB-4CC6-B294-0ACEF9AC94EF}" v="48" dt="2026-05-30T15:34:21.4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30" autoAdjust="0"/>
    <p:restoredTop sz="94660"/>
  </p:normalViewPr>
  <p:slideViewPr>
    <p:cSldViewPr snapToGrid="0" showGuides="1">
      <p:cViewPr varScale="1">
        <p:scale>
          <a:sx n="78" d="100"/>
          <a:sy n="78" d="100"/>
        </p:scale>
        <p:origin x="1003" y="62"/>
      </p:cViewPr>
      <p:guideLst>
        <p:guide orient="horz" pos="2171"/>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C3D775-A074-45F0-8482-0BEEFA079D7D}" type="doc">
      <dgm:prSet loTypeId="urn:microsoft.com/office/officeart/2005/8/layout/vList2" loCatId="list" qsTypeId="urn:microsoft.com/office/officeart/2005/8/quickstyle/simple2" qsCatId="simple" csTypeId="urn:microsoft.com/office/officeart/2005/8/colors/accent1_3" csCatId="accent1" phldr="1"/>
      <dgm:spPr/>
      <dgm:t>
        <a:bodyPr/>
        <a:lstStyle/>
        <a:p>
          <a:endParaRPr lang="en-IN"/>
        </a:p>
      </dgm:t>
    </dgm:pt>
    <dgm:pt modelId="{8298D82C-1389-42F8-BB78-68B440277C24}">
      <dgm:prSet/>
      <dgm:spPr/>
      <dgm:t>
        <a:bodyPr/>
        <a:lstStyle/>
        <a:p>
          <a:r>
            <a:rPr lang="en-US" b="1" dirty="0"/>
            <a:t>Introduction: The CRM Analytics dataset offers a comprehensive view of the sales pipeline, including opportunity stages, conversion metrics, and deal timelines. By studying this data, businesses can evaluate performance across multiple KPIs such as revenue growth, pipeline conversion, and seasonal closing patterns. This project leverages Excel, SQL, and Power BI to transform raw transactional data into meaningful insights.</a:t>
          </a:r>
          <a:endParaRPr lang="en-IN" dirty="0"/>
        </a:p>
      </dgm:t>
    </dgm:pt>
    <dgm:pt modelId="{34CFCE49-EFD9-41C8-9AA5-27C7FCC3CC73}" type="parTrans" cxnId="{08A2A595-959F-4A8A-A692-E061A5E0131D}">
      <dgm:prSet/>
      <dgm:spPr/>
      <dgm:t>
        <a:bodyPr/>
        <a:lstStyle/>
        <a:p>
          <a:endParaRPr lang="en-IN"/>
        </a:p>
      </dgm:t>
    </dgm:pt>
    <dgm:pt modelId="{9B5857A7-D6E5-419E-9953-1318DC3260AF}" type="sibTrans" cxnId="{08A2A595-959F-4A8A-A692-E061A5E0131D}">
      <dgm:prSet/>
      <dgm:spPr/>
      <dgm:t>
        <a:bodyPr/>
        <a:lstStyle/>
        <a:p>
          <a:endParaRPr lang="en-IN"/>
        </a:p>
      </dgm:t>
    </dgm:pt>
    <dgm:pt modelId="{C036FB2C-C3BB-47D2-96E0-5D3A27BF4D0E}">
      <dgm:prSet/>
      <dgm:spPr/>
      <dgm:t>
        <a:bodyPr/>
        <a:lstStyle/>
        <a:p>
          <a:r>
            <a:rPr lang="en-IN" b="1" dirty="0"/>
            <a:t>KPI insights: </a:t>
          </a:r>
          <a:r>
            <a:rPr lang="en-US" b="1" dirty="0"/>
            <a:t>Our analysis of the CRM dashboard highlights key performance insights. Active pipeline values stand strong at 35M, though conversion rates point to significant early-stage drop-offs. Seasonal data reveals that closing activity scales up aggressively toward Q4, reflecting notable back-half buying behavior. Additionally, a strong concentration of revenue relies heavily on a single opportunity type, which highlights areas for portfolio diversification.</a:t>
          </a:r>
          <a:endParaRPr lang="en-IN" dirty="0"/>
        </a:p>
      </dgm:t>
    </dgm:pt>
    <dgm:pt modelId="{4F086CAA-1FAC-45E7-B238-D02240ADE366}" type="parTrans" cxnId="{8F72F8F2-7D7F-4067-B65B-00583038E5BA}">
      <dgm:prSet/>
      <dgm:spPr/>
      <dgm:t>
        <a:bodyPr/>
        <a:lstStyle/>
        <a:p>
          <a:endParaRPr lang="en-IN"/>
        </a:p>
      </dgm:t>
    </dgm:pt>
    <dgm:pt modelId="{AB67FB0D-A2EA-4EC3-8B1C-5AEA77A389B3}" type="sibTrans" cxnId="{8F72F8F2-7D7F-4067-B65B-00583038E5BA}">
      <dgm:prSet/>
      <dgm:spPr/>
      <dgm:t>
        <a:bodyPr/>
        <a:lstStyle/>
        <a:p>
          <a:endParaRPr lang="en-IN"/>
        </a:p>
      </dgm:t>
    </dgm:pt>
    <dgm:pt modelId="{1E94B7B3-3569-458D-90B6-A754914AD8E1}">
      <dgm:prSet/>
      <dgm:spPr/>
      <dgm:t>
        <a:bodyPr/>
        <a:lstStyle/>
        <a:p>
          <a:r>
            <a:rPr lang="en-IN" b="1" dirty="0"/>
            <a:t>Final Recommendations: </a:t>
          </a:r>
          <a:r>
            <a:rPr lang="en-US" b="1" dirty="0"/>
            <a:t>Each KPI chart will be reviewed individually. For every metric, we provide an Observation, a Suggestion, and a Conclusion to deliver actionable business strategies.</a:t>
          </a:r>
          <a:endParaRPr lang="en-IN" dirty="0"/>
        </a:p>
      </dgm:t>
    </dgm:pt>
    <dgm:pt modelId="{3D139766-BD88-4CBE-86E0-7F214AED992F}" type="parTrans" cxnId="{89B75F0F-07BF-4652-923D-DEB95CFA17FD}">
      <dgm:prSet/>
      <dgm:spPr/>
      <dgm:t>
        <a:bodyPr/>
        <a:lstStyle/>
        <a:p>
          <a:endParaRPr lang="en-IN"/>
        </a:p>
      </dgm:t>
    </dgm:pt>
    <dgm:pt modelId="{3CB82B72-3583-44DE-9444-E5358FAD93C6}" type="sibTrans" cxnId="{89B75F0F-07BF-4652-923D-DEB95CFA17FD}">
      <dgm:prSet/>
      <dgm:spPr/>
      <dgm:t>
        <a:bodyPr/>
        <a:lstStyle/>
        <a:p>
          <a:endParaRPr lang="en-IN"/>
        </a:p>
      </dgm:t>
    </dgm:pt>
    <dgm:pt modelId="{08EBEB78-D9D6-46DC-944B-75F3DE3B8DFF}" type="pres">
      <dgm:prSet presAssocID="{83C3D775-A074-45F0-8482-0BEEFA079D7D}" presName="linear" presStyleCnt="0">
        <dgm:presLayoutVars>
          <dgm:animLvl val="lvl"/>
          <dgm:resizeHandles val="exact"/>
        </dgm:presLayoutVars>
      </dgm:prSet>
      <dgm:spPr/>
    </dgm:pt>
    <dgm:pt modelId="{6DDFFA22-8ECC-4541-B523-A12F48103A31}" type="pres">
      <dgm:prSet presAssocID="{8298D82C-1389-42F8-BB78-68B440277C24}" presName="parentText" presStyleLbl="node1" presStyleIdx="0" presStyleCnt="3">
        <dgm:presLayoutVars>
          <dgm:chMax val="0"/>
          <dgm:bulletEnabled val="1"/>
        </dgm:presLayoutVars>
      </dgm:prSet>
      <dgm:spPr/>
    </dgm:pt>
    <dgm:pt modelId="{AE8A0C41-2DAB-4E77-AABA-5E113BB746C9}" type="pres">
      <dgm:prSet presAssocID="{9B5857A7-D6E5-419E-9953-1318DC3260AF}" presName="spacer" presStyleCnt="0"/>
      <dgm:spPr/>
    </dgm:pt>
    <dgm:pt modelId="{EFA6FDDC-E807-4628-82D3-CFB5045D4398}" type="pres">
      <dgm:prSet presAssocID="{C036FB2C-C3BB-47D2-96E0-5D3A27BF4D0E}" presName="parentText" presStyleLbl="node1" presStyleIdx="1" presStyleCnt="3">
        <dgm:presLayoutVars>
          <dgm:chMax val="0"/>
          <dgm:bulletEnabled val="1"/>
        </dgm:presLayoutVars>
      </dgm:prSet>
      <dgm:spPr/>
    </dgm:pt>
    <dgm:pt modelId="{5AB60614-F78D-4583-B365-AF97E4C121D4}" type="pres">
      <dgm:prSet presAssocID="{AB67FB0D-A2EA-4EC3-8B1C-5AEA77A389B3}" presName="spacer" presStyleCnt="0"/>
      <dgm:spPr/>
    </dgm:pt>
    <dgm:pt modelId="{2C8D2F7C-2392-46FB-871B-1B7B4073FD3C}" type="pres">
      <dgm:prSet presAssocID="{1E94B7B3-3569-458D-90B6-A754914AD8E1}" presName="parentText" presStyleLbl="node1" presStyleIdx="2" presStyleCnt="3">
        <dgm:presLayoutVars>
          <dgm:chMax val="0"/>
          <dgm:bulletEnabled val="1"/>
        </dgm:presLayoutVars>
      </dgm:prSet>
      <dgm:spPr/>
    </dgm:pt>
  </dgm:ptLst>
  <dgm:cxnLst>
    <dgm:cxn modelId="{89B75F0F-07BF-4652-923D-DEB95CFA17FD}" srcId="{83C3D775-A074-45F0-8482-0BEEFA079D7D}" destId="{1E94B7B3-3569-458D-90B6-A754914AD8E1}" srcOrd="2" destOrd="0" parTransId="{3D139766-BD88-4CBE-86E0-7F214AED992F}" sibTransId="{3CB82B72-3583-44DE-9444-E5358FAD93C6}"/>
    <dgm:cxn modelId="{7CA4DE19-B1A7-492A-BCBA-38A5F3ECB0C8}" type="presOf" srcId="{1E94B7B3-3569-458D-90B6-A754914AD8E1}" destId="{2C8D2F7C-2392-46FB-871B-1B7B4073FD3C}" srcOrd="0" destOrd="0" presId="urn:microsoft.com/office/officeart/2005/8/layout/vList2"/>
    <dgm:cxn modelId="{AAFCC91E-27C7-4680-8CE1-7B9868BF3670}" type="presOf" srcId="{8298D82C-1389-42F8-BB78-68B440277C24}" destId="{6DDFFA22-8ECC-4541-B523-A12F48103A31}" srcOrd="0" destOrd="0" presId="urn:microsoft.com/office/officeart/2005/8/layout/vList2"/>
    <dgm:cxn modelId="{D3A8C75E-01E9-4A60-B787-659397B00C41}" type="presOf" srcId="{83C3D775-A074-45F0-8482-0BEEFA079D7D}" destId="{08EBEB78-D9D6-46DC-944B-75F3DE3B8DFF}" srcOrd="0" destOrd="0" presId="urn:microsoft.com/office/officeart/2005/8/layout/vList2"/>
    <dgm:cxn modelId="{08A2A595-959F-4A8A-A692-E061A5E0131D}" srcId="{83C3D775-A074-45F0-8482-0BEEFA079D7D}" destId="{8298D82C-1389-42F8-BB78-68B440277C24}" srcOrd="0" destOrd="0" parTransId="{34CFCE49-EFD9-41C8-9AA5-27C7FCC3CC73}" sibTransId="{9B5857A7-D6E5-419E-9953-1318DC3260AF}"/>
    <dgm:cxn modelId="{74F75BA0-C74B-400F-B3EA-DC8285874C75}" type="presOf" srcId="{C036FB2C-C3BB-47D2-96E0-5D3A27BF4D0E}" destId="{EFA6FDDC-E807-4628-82D3-CFB5045D4398}" srcOrd="0" destOrd="0" presId="urn:microsoft.com/office/officeart/2005/8/layout/vList2"/>
    <dgm:cxn modelId="{8F72F8F2-7D7F-4067-B65B-00583038E5BA}" srcId="{83C3D775-A074-45F0-8482-0BEEFA079D7D}" destId="{C036FB2C-C3BB-47D2-96E0-5D3A27BF4D0E}" srcOrd="1" destOrd="0" parTransId="{4F086CAA-1FAC-45E7-B238-D02240ADE366}" sibTransId="{AB67FB0D-A2EA-4EC3-8B1C-5AEA77A389B3}"/>
    <dgm:cxn modelId="{391B980F-F260-403F-8181-56F20CCD41EE}" type="presParOf" srcId="{08EBEB78-D9D6-46DC-944B-75F3DE3B8DFF}" destId="{6DDFFA22-8ECC-4541-B523-A12F48103A31}" srcOrd="0" destOrd="0" presId="urn:microsoft.com/office/officeart/2005/8/layout/vList2"/>
    <dgm:cxn modelId="{B422FD4C-FF1C-4F9E-A29F-F7D606E49E83}" type="presParOf" srcId="{08EBEB78-D9D6-46DC-944B-75F3DE3B8DFF}" destId="{AE8A0C41-2DAB-4E77-AABA-5E113BB746C9}" srcOrd="1" destOrd="0" presId="urn:microsoft.com/office/officeart/2005/8/layout/vList2"/>
    <dgm:cxn modelId="{B846F80A-EE7B-40CD-A07E-A209627842F2}" type="presParOf" srcId="{08EBEB78-D9D6-46DC-944B-75F3DE3B8DFF}" destId="{EFA6FDDC-E807-4628-82D3-CFB5045D4398}" srcOrd="2" destOrd="0" presId="urn:microsoft.com/office/officeart/2005/8/layout/vList2"/>
    <dgm:cxn modelId="{B2F0CA9E-1105-4B7D-8882-988893CBDD8F}" type="presParOf" srcId="{08EBEB78-D9D6-46DC-944B-75F3DE3B8DFF}" destId="{5AB60614-F78D-4583-B365-AF97E4C121D4}" srcOrd="3" destOrd="0" presId="urn:microsoft.com/office/officeart/2005/8/layout/vList2"/>
    <dgm:cxn modelId="{E43B31CD-D290-4739-83A4-F070F90B66E3}" type="presParOf" srcId="{08EBEB78-D9D6-46DC-944B-75F3DE3B8DFF}" destId="{2C8D2F7C-2392-46FB-871B-1B7B4073FD3C}"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C04D51F-0335-4C12-9F27-003775A12AF5}" type="doc">
      <dgm:prSet loTypeId="urn:microsoft.com/office/officeart/2005/8/layout/matrix2" loCatId="matrix" qsTypeId="urn:microsoft.com/office/officeart/2005/8/quickstyle/simple2" qsCatId="simple" csTypeId="urn:microsoft.com/office/officeart/2005/8/colors/accent1_3" csCatId="accent1" phldr="1"/>
      <dgm:spPr/>
      <dgm:t>
        <a:bodyPr/>
        <a:lstStyle/>
        <a:p>
          <a:endParaRPr lang="en-IN"/>
        </a:p>
      </dgm:t>
    </dgm:pt>
    <dgm:pt modelId="{86D94994-1C89-4072-B4A1-842F84D30412}">
      <dgm:prSet/>
      <dgm:spPr/>
      <dgm:t>
        <a:bodyPr/>
        <a:lstStyle/>
        <a:p>
          <a:r>
            <a:rPr lang="en-US" dirty="0"/>
            <a:t>Utilized the CRM Analytics Dataset, consisting of relational tables stored in structured database/CSV formats.</a:t>
          </a:r>
          <a:endParaRPr lang="en-IN" dirty="0"/>
        </a:p>
      </dgm:t>
    </dgm:pt>
    <dgm:pt modelId="{4F88F86D-60B2-4D8E-9F9F-CA2274A16CF8}" type="parTrans" cxnId="{2F22D682-81E6-462B-A603-DF4F59D9717F}">
      <dgm:prSet/>
      <dgm:spPr/>
      <dgm:t>
        <a:bodyPr/>
        <a:lstStyle/>
        <a:p>
          <a:endParaRPr lang="en-IN"/>
        </a:p>
      </dgm:t>
    </dgm:pt>
    <dgm:pt modelId="{48817CEC-F788-42B5-9A56-AA73C93C54FF}" type="sibTrans" cxnId="{2F22D682-81E6-462B-A603-DF4F59D9717F}">
      <dgm:prSet/>
      <dgm:spPr/>
      <dgm:t>
        <a:bodyPr/>
        <a:lstStyle/>
        <a:p>
          <a:endParaRPr lang="en-IN"/>
        </a:p>
      </dgm:t>
    </dgm:pt>
    <dgm:pt modelId="{9D9D598E-726A-4770-BF82-C8F730CC8FFE}">
      <dgm:prSet/>
      <dgm:spPr/>
      <dgm:t>
        <a:bodyPr/>
        <a:lstStyle/>
        <a:p>
          <a:r>
            <a:rPr lang="en-US" dirty="0"/>
            <a:t>​Worked with key tables such as Opportunity, Lead Table, Account Table, Opportunity Product, and User Table to establish a comprehensive data model.​</a:t>
          </a:r>
          <a:endParaRPr lang="en-IN" dirty="0"/>
        </a:p>
      </dgm:t>
    </dgm:pt>
    <dgm:pt modelId="{43E79549-B155-4D8B-9930-11A979B22582}" type="parTrans" cxnId="{8728F0DF-4B88-43BC-BBD0-D2CF7DCB6371}">
      <dgm:prSet/>
      <dgm:spPr/>
      <dgm:t>
        <a:bodyPr/>
        <a:lstStyle/>
        <a:p>
          <a:endParaRPr lang="en-IN"/>
        </a:p>
      </dgm:t>
    </dgm:pt>
    <dgm:pt modelId="{27147BBC-F0B8-4BDE-9214-EE817D9E688E}" type="sibTrans" cxnId="{8728F0DF-4B88-43BC-BBD0-D2CF7DCB6371}">
      <dgm:prSet/>
      <dgm:spPr/>
      <dgm:t>
        <a:bodyPr/>
        <a:lstStyle/>
        <a:p>
          <a:endParaRPr lang="en-IN"/>
        </a:p>
      </dgm:t>
    </dgm:pt>
    <dgm:pt modelId="{B378EB57-067C-42A1-B6CB-CE18FF5005E4}">
      <dgm:prSet/>
      <dgm:spPr/>
      <dgm:t>
        <a:bodyPr/>
        <a:lstStyle/>
        <a:p>
          <a:r>
            <a:rPr lang="en-US" dirty="0"/>
            <a:t>Performed data engineering and analysis on structured sales pipeline data using SQL and Power BI (DAX).​</a:t>
          </a:r>
          <a:endParaRPr lang="en-IN" dirty="0"/>
        </a:p>
      </dgm:t>
    </dgm:pt>
    <dgm:pt modelId="{52306EE8-E3DF-424E-BC15-E39DFC6F4B5A}" type="parTrans" cxnId="{69EECBA9-A4B2-4E3F-9A51-FA51C6F29E22}">
      <dgm:prSet/>
      <dgm:spPr/>
      <dgm:t>
        <a:bodyPr/>
        <a:lstStyle/>
        <a:p>
          <a:endParaRPr lang="en-IN"/>
        </a:p>
      </dgm:t>
    </dgm:pt>
    <dgm:pt modelId="{87D5FCCC-2B53-46F7-A167-9F21CA79C897}" type="sibTrans" cxnId="{69EECBA9-A4B2-4E3F-9A51-FA51C6F29E22}">
      <dgm:prSet/>
      <dgm:spPr/>
      <dgm:t>
        <a:bodyPr/>
        <a:lstStyle/>
        <a:p>
          <a:endParaRPr lang="en-IN"/>
        </a:p>
      </dgm:t>
    </dgm:pt>
    <dgm:pt modelId="{C107D85D-2A82-4CFA-9AA8-E7FDCBEC0A38}">
      <dgm:prSet/>
      <dgm:spPr/>
      <dgm:t>
        <a:bodyPr/>
        <a:lstStyle/>
        <a:p>
          <a:r>
            <a:rPr lang="en-US" dirty="0"/>
            <a:t>Extracted insights related to sales representative performance, pipeline velocity, quarterly seasonality trends, and opportunity conversion rates.</a:t>
          </a:r>
          <a:endParaRPr lang="en-IN" dirty="0"/>
        </a:p>
      </dgm:t>
    </dgm:pt>
    <dgm:pt modelId="{C80D0F76-2BC1-4A24-B14B-4DF7AF920046}" type="parTrans" cxnId="{D5571C35-D5F7-4DF6-88F5-BB7318B4E9FE}">
      <dgm:prSet/>
      <dgm:spPr/>
      <dgm:t>
        <a:bodyPr/>
        <a:lstStyle/>
        <a:p>
          <a:endParaRPr lang="en-IN"/>
        </a:p>
      </dgm:t>
    </dgm:pt>
    <dgm:pt modelId="{7F3CC40C-C962-4D8A-9D0C-3A99AB32887A}" type="sibTrans" cxnId="{D5571C35-D5F7-4DF6-88F5-BB7318B4E9FE}">
      <dgm:prSet/>
      <dgm:spPr/>
      <dgm:t>
        <a:bodyPr/>
        <a:lstStyle/>
        <a:p>
          <a:endParaRPr lang="en-IN"/>
        </a:p>
      </dgm:t>
    </dgm:pt>
    <dgm:pt modelId="{AA8CC2E1-9046-427A-AC8A-DBE5B97272D2}">
      <dgm:prSet/>
      <dgm:spPr/>
      <dgm:t>
        <a:bodyPr/>
        <a:lstStyle/>
        <a:p>
          <a:endParaRPr lang="en-IN"/>
        </a:p>
      </dgm:t>
    </dgm:pt>
    <dgm:pt modelId="{D9FE8CDC-12DC-43F9-9C98-1964C1B8EBED}" type="parTrans" cxnId="{B861F0F1-F7FD-4712-87B1-C96D07B45DC4}">
      <dgm:prSet/>
      <dgm:spPr/>
      <dgm:t>
        <a:bodyPr/>
        <a:lstStyle/>
        <a:p>
          <a:endParaRPr lang="en-IN"/>
        </a:p>
      </dgm:t>
    </dgm:pt>
    <dgm:pt modelId="{5AB03C4B-A5C9-4327-A07F-4F9E80EBA0CB}" type="sibTrans" cxnId="{B861F0F1-F7FD-4712-87B1-C96D07B45DC4}">
      <dgm:prSet/>
      <dgm:spPr/>
      <dgm:t>
        <a:bodyPr/>
        <a:lstStyle/>
        <a:p>
          <a:endParaRPr lang="en-IN"/>
        </a:p>
      </dgm:t>
    </dgm:pt>
    <dgm:pt modelId="{63A5F33F-1C9A-403E-8034-25B5A1AFEC34}" type="pres">
      <dgm:prSet presAssocID="{0C04D51F-0335-4C12-9F27-003775A12AF5}" presName="matrix" presStyleCnt="0">
        <dgm:presLayoutVars>
          <dgm:chMax val="1"/>
          <dgm:dir/>
          <dgm:resizeHandles val="exact"/>
        </dgm:presLayoutVars>
      </dgm:prSet>
      <dgm:spPr/>
    </dgm:pt>
    <dgm:pt modelId="{7F96CD65-7372-40F4-A9FC-F52A0DB3649A}" type="pres">
      <dgm:prSet presAssocID="{0C04D51F-0335-4C12-9F27-003775A12AF5}" presName="axisShape" presStyleLbl="bgShp" presStyleIdx="0" presStyleCnt="1"/>
      <dgm:spPr/>
    </dgm:pt>
    <dgm:pt modelId="{50299D96-C317-4291-B24C-3AE287419B7D}" type="pres">
      <dgm:prSet presAssocID="{0C04D51F-0335-4C12-9F27-003775A12AF5}" presName="rect1" presStyleLbl="node1" presStyleIdx="0" presStyleCnt="4">
        <dgm:presLayoutVars>
          <dgm:chMax val="0"/>
          <dgm:chPref val="0"/>
          <dgm:bulletEnabled val="1"/>
        </dgm:presLayoutVars>
      </dgm:prSet>
      <dgm:spPr/>
    </dgm:pt>
    <dgm:pt modelId="{DE48A5E8-4989-4042-9A29-7F69BA2975DC}" type="pres">
      <dgm:prSet presAssocID="{0C04D51F-0335-4C12-9F27-003775A12AF5}" presName="rect2" presStyleLbl="node1" presStyleIdx="1" presStyleCnt="4">
        <dgm:presLayoutVars>
          <dgm:chMax val="0"/>
          <dgm:chPref val="0"/>
          <dgm:bulletEnabled val="1"/>
        </dgm:presLayoutVars>
      </dgm:prSet>
      <dgm:spPr/>
    </dgm:pt>
    <dgm:pt modelId="{6FD80977-5B62-4912-9EAD-BB7064F4B6BA}" type="pres">
      <dgm:prSet presAssocID="{0C04D51F-0335-4C12-9F27-003775A12AF5}" presName="rect3" presStyleLbl="node1" presStyleIdx="2" presStyleCnt="4">
        <dgm:presLayoutVars>
          <dgm:chMax val="0"/>
          <dgm:chPref val="0"/>
          <dgm:bulletEnabled val="1"/>
        </dgm:presLayoutVars>
      </dgm:prSet>
      <dgm:spPr/>
    </dgm:pt>
    <dgm:pt modelId="{3936F6E2-9BC3-4457-9999-A70C9D1BD413}" type="pres">
      <dgm:prSet presAssocID="{0C04D51F-0335-4C12-9F27-003775A12AF5}" presName="rect4" presStyleLbl="node1" presStyleIdx="3" presStyleCnt="4">
        <dgm:presLayoutVars>
          <dgm:chMax val="0"/>
          <dgm:chPref val="0"/>
          <dgm:bulletEnabled val="1"/>
        </dgm:presLayoutVars>
      </dgm:prSet>
      <dgm:spPr/>
    </dgm:pt>
  </dgm:ptLst>
  <dgm:cxnLst>
    <dgm:cxn modelId="{D5571C35-D5F7-4DF6-88F5-BB7318B4E9FE}" srcId="{0C04D51F-0335-4C12-9F27-003775A12AF5}" destId="{C107D85D-2A82-4CFA-9AA8-E7FDCBEC0A38}" srcOrd="3" destOrd="0" parTransId="{C80D0F76-2BC1-4A24-B14B-4DF7AF920046}" sibTransId="{7F3CC40C-C962-4D8A-9D0C-3A99AB32887A}"/>
    <dgm:cxn modelId="{0E697736-BA32-421A-9E02-CFCAD9EC3083}" type="presOf" srcId="{9D9D598E-726A-4770-BF82-C8F730CC8FFE}" destId="{DE48A5E8-4989-4042-9A29-7F69BA2975DC}" srcOrd="0" destOrd="0" presId="urn:microsoft.com/office/officeart/2005/8/layout/matrix2"/>
    <dgm:cxn modelId="{80565765-9AC4-4834-999A-AC2D2C2213FF}" type="presOf" srcId="{0C04D51F-0335-4C12-9F27-003775A12AF5}" destId="{63A5F33F-1C9A-403E-8034-25B5A1AFEC34}" srcOrd="0" destOrd="0" presId="urn:microsoft.com/office/officeart/2005/8/layout/matrix2"/>
    <dgm:cxn modelId="{41CAA151-575B-4D00-94A7-C540CB3C6532}" type="presOf" srcId="{C107D85D-2A82-4CFA-9AA8-E7FDCBEC0A38}" destId="{3936F6E2-9BC3-4457-9999-A70C9D1BD413}" srcOrd="0" destOrd="0" presId="urn:microsoft.com/office/officeart/2005/8/layout/matrix2"/>
    <dgm:cxn modelId="{65329E7D-47F8-4EBD-BCD0-E3DE33FA366E}" type="presOf" srcId="{86D94994-1C89-4072-B4A1-842F84D30412}" destId="{50299D96-C317-4291-B24C-3AE287419B7D}" srcOrd="0" destOrd="0" presId="urn:microsoft.com/office/officeart/2005/8/layout/matrix2"/>
    <dgm:cxn modelId="{2F22D682-81E6-462B-A603-DF4F59D9717F}" srcId="{0C04D51F-0335-4C12-9F27-003775A12AF5}" destId="{86D94994-1C89-4072-B4A1-842F84D30412}" srcOrd="0" destOrd="0" parTransId="{4F88F86D-60B2-4D8E-9F9F-CA2274A16CF8}" sibTransId="{48817CEC-F788-42B5-9A56-AA73C93C54FF}"/>
    <dgm:cxn modelId="{69EECBA9-A4B2-4E3F-9A51-FA51C6F29E22}" srcId="{0C04D51F-0335-4C12-9F27-003775A12AF5}" destId="{B378EB57-067C-42A1-B6CB-CE18FF5005E4}" srcOrd="2" destOrd="0" parTransId="{52306EE8-E3DF-424E-BC15-E39DFC6F4B5A}" sibTransId="{87D5FCCC-2B53-46F7-A167-9F21CA79C897}"/>
    <dgm:cxn modelId="{921B9ED4-F22D-4CE0-BD51-DA96919A735A}" type="presOf" srcId="{B378EB57-067C-42A1-B6CB-CE18FF5005E4}" destId="{6FD80977-5B62-4912-9EAD-BB7064F4B6BA}" srcOrd="0" destOrd="0" presId="urn:microsoft.com/office/officeart/2005/8/layout/matrix2"/>
    <dgm:cxn modelId="{8728F0DF-4B88-43BC-BBD0-D2CF7DCB6371}" srcId="{0C04D51F-0335-4C12-9F27-003775A12AF5}" destId="{9D9D598E-726A-4770-BF82-C8F730CC8FFE}" srcOrd="1" destOrd="0" parTransId="{43E79549-B155-4D8B-9930-11A979B22582}" sibTransId="{27147BBC-F0B8-4BDE-9214-EE817D9E688E}"/>
    <dgm:cxn modelId="{B861F0F1-F7FD-4712-87B1-C96D07B45DC4}" srcId="{0C04D51F-0335-4C12-9F27-003775A12AF5}" destId="{AA8CC2E1-9046-427A-AC8A-DBE5B97272D2}" srcOrd="4" destOrd="0" parTransId="{D9FE8CDC-12DC-43F9-9C98-1964C1B8EBED}" sibTransId="{5AB03C4B-A5C9-4327-A07F-4F9E80EBA0CB}"/>
    <dgm:cxn modelId="{06B5E351-9A4E-4985-ACB7-71D6B0A3005E}" type="presParOf" srcId="{63A5F33F-1C9A-403E-8034-25B5A1AFEC34}" destId="{7F96CD65-7372-40F4-A9FC-F52A0DB3649A}" srcOrd="0" destOrd="0" presId="urn:microsoft.com/office/officeart/2005/8/layout/matrix2"/>
    <dgm:cxn modelId="{2B993D46-28EA-4B24-930C-24E2D88E8D01}" type="presParOf" srcId="{63A5F33F-1C9A-403E-8034-25B5A1AFEC34}" destId="{50299D96-C317-4291-B24C-3AE287419B7D}" srcOrd="1" destOrd="0" presId="urn:microsoft.com/office/officeart/2005/8/layout/matrix2"/>
    <dgm:cxn modelId="{B944F798-B048-45C5-9532-35C2E62D8CC7}" type="presParOf" srcId="{63A5F33F-1C9A-403E-8034-25B5A1AFEC34}" destId="{DE48A5E8-4989-4042-9A29-7F69BA2975DC}" srcOrd="2" destOrd="0" presId="urn:microsoft.com/office/officeart/2005/8/layout/matrix2"/>
    <dgm:cxn modelId="{F0EDBEA6-37F9-45DE-81C4-4580D6C0B961}" type="presParOf" srcId="{63A5F33F-1C9A-403E-8034-25B5A1AFEC34}" destId="{6FD80977-5B62-4912-9EAD-BB7064F4B6BA}" srcOrd="3" destOrd="0" presId="urn:microsoft.com/office/officeart/2005/8/layout/matrix2"/>
    <dgm:cxn modelId="{2983CB55-33F3-4E40-8ABC-8CF5D667F266}" type="presParOf" srcId="{63A5F33F-1C9A-403E-8034-25B5A1AFEC34}" destId="{3936F6E2-9BC3-4457-9999-A70C9D1BD413}"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80BBAC8-CB42-49BD-A1F3-14A559D6345C}" type="doc">
      <dgm:prSet loTypeId="urn:microsoft.com/office/officeart/2005/8/layout/vList2" loCatId="list" qsTypeId="urn:microsoft.com/office/officeart/2005/8/quickstyle/simple2" qsCatId="simple" csTypeId="urn:microsoft.com/office/officeart/2005/8/colors/accent1_4" csCatId="accent1" phldr="1"/>
      <dgm:spPr/>
      <dgm:t>
        <a:bodyPr/>
        <a:lstStyle/>
        <a:p>
          <a:endParaRPr lang="en-IN"/>
        </a:p>
      </dgm:t>
    </dgm:pt>
    <dgm:pt modelId="{B191CBA2-23CC-4A60-B3B6-83904C703B7E}">
      <dgm:prSet/>
      <dgm:spPr/>
      <dgm:t>
        <a:bodyPr/>
        <a:lstStyle/>
        <a:p>
          <a:r>
            <a:rPr lang="en-US" b="1" dirty="0">
              <a:latin typeface="Aptos Display" panose="020B0004020202020204" pitchFamily="34" charset="0"/>
            </a:rPr>
            <a:t>Optimize Pipeline Allocation: While top-line potential is robust at 35M, resources must be strictly directed toward high-yield opportunities rather than spreading efforts thin across all 192 active accounts.</a:t>
          </a:r>
          <a:endParaRPr lang="en-IN" dirty="0">
            <a:latin typeface="Aptos Display" panose="020B0004020202020204" pitchFamily="34" charset="0"/>
          </a:endParaRPr>
        </a:p>
      </dgm:t>
    </dgm:pt>
    <dgm:pt modelId="{CFC861D8-6B82-4287-9142-132B2741D4EE}" type="parTrans" cxnId="{74A78AA6-FED9-48A8-AF20-6A0D2716C749}">
      <dgm:prSet/>
      <dgm:spPr/>
      <dgm:t>
        <a:bodyPr/>
        <a:lstStyle/>
        <a:p>
          <a:endParaRPr lang="en-IN"/>
        </a:p>
      </dgm:t>
    </dgm:pt>
    <dgm:pt modelId="{41449B78-DAE3-432B-83B0-40D9649EAFA3}" type="sibTrans" cxnId="{74A78AA6-FED9-48A8-AF20-6A0D2716C749}">
      <dgm:prSet phldrT="1" phldr="0"/>
      <dgm:spPr/>
      <dgm:t>
        <a:bodyPr/>
        <a:lstStyle/>
        <a:p>
          <a:endParaRPr lang="en-IN"/>
        </a:p>
      </dgm:t>
    </dgm:pt>
    <dgm:pt modelId="{3F4F55B6-AF63-40BA-8835-A3AF6A31A534}">
      <dgm:prSet/>
      <dgm:spPr/>
      <dgm:t>
        <a:bodyPr/>
        <a:lstStyle/>
        <a:p>
          <a:r>
            <a:rPr lang="en-US" b="1" dirty="0"/>
            <a:t>​ </a:t>
          </a:r>
          <a:r>
            <a:rPr lang="en-US" b="1" dirty="0">
              <a:latin typeface="Aptos Display" panose="020B0004020202020204" pitchFamily="34" charset="0"/>
            </a:rPr>
            <a:t>Institutionalize Winning Sales Playbooks: Capitalize on the strong 48.61%  win rate by analyzing successful deal traits and scaling these closing techniques across the entire sales enablement framework</a:t>
          </a:r>
          <a:r>
            <a:rPr lang="en-US" b="1" dirty="0"/>
            <a:t>.</a:t>
          </a:r>
          <a:endParaRPr lang="en-IN" dirty="0"/>
        </a:p>
      </dgm:t>
    </dgm:pt>
    <dgm:pt modelId="{0F5CE371-513B-4B3A-AE8D-DA4886DBF2D4}" type="parTrans" cxnId="{E4E2E560-E8FF-4B80-BDA7-9272696A4AB3}">
      <dgm:prSet/>
      <dgm:spPr/>
      <dgm:t>
        <a:bodyPr/>
        <a:lstStyle/>
        <a:p>
          <a:endParaRPr lang="en-IN"/>
        </a:p>
      </dgm:t>
    </dgm:pt>
    <dgm:pt modelId="{9F984E3F-C337-4DBB-A094-E8229D51474E}" type="sibTrans" cxnId="{E4E2E560-E8FF-4B80-BDA7-9272696A4AB3}">
      <dgm:prSet phldrT="2" phldr="0"/>
      <dgm:spPr/>
      <dgm:t>
        <a:bodyPr/>
        <a:lstStyle/>
        <a:p>
          <a:endParaRPr lang="en-IN"/>
        </a:p>
      </dgm:t>
    </dgm:pt>
    <dgm:pt modelId="{AF2B03F9-FA2D-43FB-A9A9-A3AFA4ACD5BC}">
      <dgm:prSet/>
      <dgm:spPr/>
      <dgm:t>
        <a:bodyPr/>
        <a:lstStyle/>
        <a:p>
          <a:r>
            <a:rPr lang="en-US" b="1" dirty="0"/>
            <a:t>​ </a:t>
          </a:r>
          <a:r>
            <a:rPr lang="en-US" b="1" dirty="0">
              <a:latin typeface="Aptos Display" panose="020B0004020202020204" pitchFamily="34" charset="0"/>
            </a:rPr>
            <a:t>Remediate Early-Funnel Leakage: The 0.38% conversion velocity marks a major operational gap; introduce stricter discovery stage entry criteria and aggressive lead-nurturing protocols to stabilize early drop-offs.</a:t>
          </a:r>
          <a:endParaRPr lang="en-IN" dirty="0">
            <a:latin typeface="Aptos Display" panose="020B0004020202020204" pitchFamily="34" charset="0"/>
          </a:endParaRPr>
        </a:p>
      </dgm:t>
    </dgm:pt>
    <dgm:pt modelId="{F9CD3210-7A45-4498-8DFC-1DD96E3B7C9A}" type="parTrans" cxnId="{960A0337-BCC8-47DD-A9BE-AC8F7D6808D7}">
      <dgm:prSet/>
      <dgm:spPr/>
      <dgm:t>
        <a:bodyPr/>
        <a:lstStyle/>
        <a:p>
          <a:endParaRPr lang="en-IN"/>
        </a:p>
      </dgm:t>
    </dgm:pt>
    <dgm:pt modelId="{963091C6-DDF4-431A-B521-E397A4D1ADD8}" type="sibTrans" cxnId="{960A0337-BCC8-47DD-A9BE-AC8F7D6808D7}">
      <dgm:prSet phldrT="3" phldr="0"/>
      <dgm:spPr/>
      <dgm:t>
        <a:bodyPr/>
        <a:lstStyle/>
        <a:p>
          <a:endParaRPr lang="en-IN"/>
        </a:p>
      </dgm:t>
    </dgm:pt>
    <dgm:pt modelId="{F5C468B7-B31C-4AAC-A33B-C60EB97A17BE}">
      <dgm:prSet/>
      <dgm:spPr/>
      <dgm:t>
        <a:bodyPr/>
        <a:lstStyle/>
        <a:p>
          <a:r>
            <a:rPr lang="en-US" b="1" dirty="0"/>
            <a:t>​</a:t>
          </a:r>
          <a:r>
            <a:rPr lang="en-US" b="1" dirty="0">
              <a:latin typeface="Aptos Display" panose="020B0004020202020204" pitchFamily="34" charset="0"/>
            </a:rPr>
            <a:t>Mitigate Operational Back-Loading: Address the heavy seasonal dependency where closed deal volumes peak sharply in Q4 by distributing key performance targets and pipeline support resources more evenly into Q1 and Q2.</a:t>
          </a:r>
          <a:endParaRPr lang="en-IN" dirty="0">
            <a:latin typeface="Aptos Display" panose="020B0004020202020204" pitchFamily="34" charset="0"/>
          </a:endParaRPr>
        </a:p>
      </dgm:t>
    </dgm:pt>
    <dgm:pt modelId="{4D5CD3B8-69A8-4B00-9F50-B4269D32E2CC}" type="parTrans" cxnId="{977095F8-66EF-46B3-A971-027B7D7A2E79}">
      <dgm:prSet/>
      <dgm:spPr/>
      <dgm:t>
        <a:bodyPr/>
        <a:lstStyle/>
        <a:p>
          <a:endParaRPr lang="en-IN"/>
        </a:p>
      </dgm:t>
    </dgm:pt>
    <dgm:pt modelId="{FC4BB654-10B8-497E-9D6F-A50AEDA2EBE0}" type="sibTrans" cxnId="{977095F8-66EF-46B3-A971-027B7D7A2E79}">
      <dgm:prSet phldrT="4" phldr="0"/>
      <dgm:spPr/>
      <dgm:t>
        <a:bodyPr/>
        <a:lstStyle/>
        <a:p>
          <a:endParaRPr lang="en-IN"/>
        </a:p>
      </dgm:t>
    </dgm:pt>
    <dgm:pt modelId="{BE9FC3F3-19DA-49E4-A35D-87484AB53E2E}">
      <dgm:prSet/>
      <dgm:spPr/>
      <dgm:t>
        <a:bodyPr/>
        <a:lstStyle/>
        <a:p>
          <a:r>
            <a:rPr lang="en-US" b="1" dirty="0"/>
            <a:t>​ </a:t>
          </a:r>
          <a:r>
            <a:rPr lang="en-US" b="1" dirty="0">
              <a:latin typeface="Aptos Display" panose="020B0004020202020204" pitchFamily="34" charset="0"/>
            </a:rPr>
            <a:t>De-risk Revenue Concentrations: The pipeline's structural reliance on a single opportunity type (88.63%) introduces business vulnerability; incentivize the account management teams to aggressively pursue cross-selling and account renewals to diversify portfolio exposure.</a:t>
          </a:r>
          <a:endParaRPr lang="en-IN" dirty="0">
            <a:latin typeface="Aptos Display" panose="020B0004020202020204" pitchFamily="34" charset="0"/>
          </a:endParaRPr>
        </a:p>
      </dgm:t>
    </dgm:pt>
    <dgm:pt modelId="{09DC7695-1152-4668-83FA-A37937C0B538}" type="parTrans" cxnId="{D53A77FE-1CAB-4F73-80FD-DF3528411C13}">
      <dgm:prSet/>
      <dgm:spPr/>
      <dgm:t>
        <a:bodyPr/>
        <a:lstStyle/>
        <a:p>
          <a:endParaRPr lang="en-IN"/>
        </a:p>
      </dgm:t>
    </dgm:pt>
    <dgm:pt modelId="{4F060389-41AA-4B23-8ECF-15EC45C8D370}" type="sibTrans" cxnId="{D53A77FE-1CAB-4F73-80FD-DF3528411C13}">
      <dgm:prSet phldrT="5" phldr="0"/>
      <dgm:spPr/>
      <dgm:t>
        <a:bodyPr/>
        <a:lstStyle/>
        <a:p>
          <a:endParaRPr lang="en-IN"/>
        </a:p>
      </dgm:t>
    </dgm:pt>
    <dgm:pt modelId="{4A7B3EE5-A20A-4A10-9DDB-C085EA7A407E}" type="pres">
      <dgm:prSet presAssocID="{B80BBAC8-CB42-49BD-A1F3-14A559D6345C}" presName="linear" presStyleCnt="0">
        <dgm:presLayoutVars>
          <dgm:animLvl val="lvl"/>
          <dgm:resizeHandles val="exact"/>
        </dgm:presLayoutVars>
      </dgm:prSet>
      <dgm:spPr/>
    </dgm:pt>
    <dgm:pt modelId="{B132DC6D-2F37-4939-A90C-F5A7D71B8B0C}" type="pres">
      <dgm:prSet presAssocID="{B191CBA2-23CC-4A60-B3B6-83904C703B7E}" presName="parentText" presStyleLbl="node1" presStyleIdx="0" presStyleCnt="5" custLinFactNeighborY="87105">
        <dgm:presLayoutVars>
          <dgm:chMax val="0"/>
          <dgm:bulletEnabled val="1"/>
        </dgm:presLayoutVars>
      </dgm:prSet>
      <dgm:spPr/>
    </dgm:pt>
    <dgm:pt modelId="{E4CA9749-7C3C-4CC8-8CA1-0091227DED07}" type="pres">
      <dgm:prSet presAssocID="{41449B78-DAE3-432B-83B0-40D9649EAFA3}" presName="spacer" presStyleCnt="0"/>
      <dgm:spPr/>
    </dgm:pt>
    <dgm:pt modelId="{5C46CCF2-64BD-4D93-ACDC-B4C28F9BEA1C}" type="pres">
      <dgm:prSet presAssocID="{3F4F55B6-AF63-40BA-8835-A3AF6A31A534}" presName="parentText" presStyleLbl="node1" presStyleIdx="1" presStyleCnt="5">
        <dgm:presLayoutVars>
          <dgm:chMax val="0"/>
          <dgm:bulletEnabled val="1"/>
        </dgm:presLayoutVars>
      </dgm:prSet>
      <dgm:spPr/>
    </dgm:pt>
    <dgm:pt modelId="{3D0C0761-46FB-43B4-8B4D-07961BC506A3}" type="pres">
      <dgm:prSet presAssocID="{9F984E3F-C337-4DBB-A094-E8229D51474E}" presName="spacer" presStyleCnt="0"/>
      <dgm:spPr/>
    </dgm:pt>
    <dgm:pt modelId="{38FDED88-26E6-4D67-B139-0566E1A08BCC}" type="pres">
      <dgm:prSet presAssocID="{AF2B03F9-FA2D-43FB-A9A9-A3AFA4ACD5BC}" presName="parentText" presStyleLbl="node1" presStyleIdx="2" presStyleCnt="5">
        <dgm:presLayoutVars>
          <dgm:chMax val="0"/>
          <dgm:bulletEnabled val="1"/>
        </dgm:presLayoutVars>
      </dgm:prSet>
      <dgm:spPr/>
    </dgm:pt>
    <dgm:pt modelId="{D2130EC2-5BD1-4E64-8B67-F9DA0CA69967}" type="pres">
      <dgm:prSet presAssocID="{963091C6-DDF4-431A-B521-E397A4D1ADD8}" presName="spacer" presStyleCnt="0"/>
      <dgm:spPr/>
    </dgm:pt>
    <dgm:pt modelId="{C78379B0-B733-4482-A592-C66E2F73A40F}" type="pres">
      <dgm:prSet presAssocID="{F5C468B7-B31C-4AAC-A33B-C60EB97A17BE}" presName="parentText" presStyleLbl="node1" presStyleIdx="3" presStyleCnt="5">
        <dgm:presLayoutVars>
          <dgm:chMax val="0"/>
          <dgm:bulletEnabled val="1"/>
        </dgm:presLayoutVars>
      </dgm:prSet>
      <dgm:spPr/>
    </dgm:pt>
    <dgm:pt modelId="{0AD7CE2E-FB1B-4DBD-8904-472C1719F23D}" type="pres">
      <dgm:prSet presAssocID="{FC4BB654-10B8-497E-9D6F-A50AEDA2EBE0}" presName="spacer" presStyleCnt="0"/>
      <dgm:spPr/>
    </dgm:pt>
    <dgm:pt modelId="{2D14E728-73D3-4974-8A45-13E7DD73C7F1}" type="pres">
      <dgm:prSet presAssocID="{BE9FC3F3-19DA-49E4-A35D-87484AB53E2E}" presName="parentText" presStyleLbl="node1" presStyleIdx="4" presStyleCnt="5">
        <dgm:presLayoutVars>
          <dgm:chMax val="0"/>
          <dgm:bulletEnabled val="1"/>
        </dgm:presLayoutVars>
      </dgm:prSet>
      <dgm:spPr/>
    </dgm:pt>
  </dgm:ptLst>
  <dgm:cxnLst>
    <dgm:cxn modelId="{8C1A5012-D240-4C75-A61D-A7CC346A4FF7}" type="presOf" srcId="{B80BBAC8-CB42-49BD-A1F3-14A559D6345C}" destId="{4A7B3EE5-A20A-4A10-9DDB-C085EA7A407E}" srcOrd="0" destOrd="0" presId="urn:microsoft.com/office/officeart/2005/8/layout/vList2"/>
    <dgm:cxn modelId="{77179713-8542-4A68-BBBA-95D9F9DA5E25}" type="presOf" srcId="{F5C468B7-B31C-4AAC-A33B-C60EB97A17BE}" destId="{C78379B0-B733-4482-A592-C66E2F73A40F}" srcOrd="0" destOrd="0" presId="urn:microsoft.com/office/officeart/2005/8/layout/vList2"/>
    <dgm:cxn modelId="{960A0337-BCC8-47DD-A9BE-AC8F7D6808D7}" srcId="{B80BBAC8-CB42-49BD-A1F3-14A559D6345C}" destId="{AF2B03F9-FA2D-43FB-A9A9-A3AFA4ACD5BC}" srcOrd="2" destOrd="0" parTransId="{F9CD3210-7A45-4498-8DFC-1DD96E3B7C9A}" sibTransId="{963091C6-DDF4-431A-B521-E397A4D1ADD8}"/>
    <dgm:cxn modelId="{E4E2E560-E8FF-4B80-BDA7-9272696A4AB3}" srcId="{B80BBAC8-CB42-49BD-A1F3-14A559D6345C}" destId="{3F4F55B6-AF63-40BA-8835-A3AF6A31A534}" srcOrd="1" destOrd="0" parTransId="{0F5CE371-513B-4B3A-AE8D-DA4886DBF2D4}" sibTransId="{9F984E3F-C337-4DBB-A094-E8229D51474E}"/>
    <dgm:cxn modelId="{12D0FF6A-6B15-44E6-9FAC-054CCABF9C87}" type="presOf" srcId="{AF2B03F9-FA2D-43FB-A9A9-A3AFA4ACD5BC}" destId="{38FDED88-26E6-4D67-B139-0566E1A08BCC}" srcOrd="0" destOrd="0" presId="urn:microsoft.com/office/officeart/2005/8/layout/vList2"/>
    <dgm:cxn modelId="{12449A8E-51A7-4F4B-B0FB-C9A3DCE0C7B1}" type="presOf" srcId="{B191CBA2-23CC-4A60-B3B6-83904C703B7E}" destId="{B132DC6D-2F37-4939-A90C-F5A7D71B8B0C}" srcOrd="0" destOrd="0" presId="urn:microsoft.com/office/officeart/2005/8/layout/vList2"/>
    <dgm:cxn modelId="{5B30D18F-558F-4DD7-95BB-1910708F6618}" type="presOf" srcId="{3F4F55B6-AF63-40BA-8835-A3AF6A31A534}" destId="{5C46CCF2-64BD-4D93-ACDC-B4C28F9BEA1C}" srcOrd="0" destOrd="0" presId="urn:microsoft.com/office/officeart/2005/8/layout/vList2"/>
    <dgm:cxn modelId="{74A78AA6-FED9-48A8-AF20-6A0D2716C749}" srcId="{B80BBAC8-CB42-49BD-A1F3-14A559D6345C}" destId="{B191CBA2-23CC-4A60-B3B6-83904C703B7E}" srcOrd="0" destOrd="0" parTransId="{CFC861D8-6B82-4287-9142-132B2741D4EE}" sibTransId="{41449B78-DAE3-432B-83B0-40D9649EAFA3}"/>
    <dgm:cxn modelId="{A59B84DB-B492-4029-ABE3-71A8018E033D}" type="presOf" srcId="{BE9FC3F3-19DA-49E4-A35D-87484AB53E2E}" destId="{2D14E728-73D3-4974-8A45-13E7DD73C7F1}" srcOrd="0" destOrd="0" presId="urn:microsoft.com/office/officeart/2005/8/layout/vList2"/>
    <dgm:cxn modelId="{977095F8-66EF-46B3-A971-027B7D7A2E79}" srcId="{B80BBAC8-CB42-49BD-A1F3-14A559D6345C}" destId="{F5C468B7-B31C-4AAC-A33B-C60EB97A17BE}" srcOrd="3" destOrd="0" parTransId="{4D5CD3B8-69A8-4B00-9F50-B4269D32E2CC}" sibTransId="{FC4BB654-10B8-497E-9D6F-A50AEDA2EBE0}"/>
    <dgm:cxn modelId="{D53A77FE-1CAB-4F73-80FD-DF3528411C13}" srcId="{B80BBAC8-CB42-49BD-A1F3-14A559D6345C}" destId="{BE9FC3F3-19DA-49E4-A35D-87484AB53E2E}" srcOrd="4" destOrd="0" parTransId="{09DC7695-1152-4668-83FA-A37937C0B538}" sibTransId="{4F060389-41AA-4B23-8ECF-15EC45C8D370}"/>
    <dgm:cxn modelId="{1E4A1F7C-C055-48BC-978A-B0DF5948B334}" type="presParOf" srcId="{4A7B3EE5-A20A-4A10-9DDB-C085EA7A407E}" destId="{B132DC6D-2F37-4939-A90C-F5A7D71B8B0C}" srcOrd="0" destOrd="0" presId="urn:microsoft.com/office/officeart/2005/8/layout/vList2"/>
    <dgm:cxn modelId="{C4C54502-0EF3-44CC-9EBC-1AA889B64300}" type="presParOf" srcId="{4A7B3EE5-A20A-4A10-9DDB-C085EA7A407E}" destId="{E4CA9749-7C3C-4CC8-8CA1-0091227DED07}" srcOrd="1" destOrd="0" presId="urn:microsoft.com/office/officeart/2005/8/layout/vList2"/>
    <dgm:cxn modelId="{32CAA9F4-8255-4389-920B-806026E57915}" type="presParOf" srcId="{4A7B3EE5-A20A-4A10-9DDB-C085EA7A407E}" destId="{5C46CCF2-64BD-4D93-ACDC-B4C28F9BEA1C}" srcOrd="2" destOrd="0" presId="urn:microsoft.com/office/officeart/2005/8/layout/vList2"/>
    <dgm:cxn modelId="{8C53AC2F-244F-4687-A4CC-1D1DAA2F55A6}" type="presParOf" srcId="{4A7B3EE5-A20A-4A10-9DDB-C085EA7A407E}" destId="{3D0C0761-46FB-43B4-8B4D-07961BC506A3}" srcOrd="3" destOrd="0" presId="urn:microsoft.com/office/officeart/2005/8/layout/vList2"/>
    <dgm:cxn modelId="{44312A4C-0E19-4CF6-9251-B46860D6D37F}" type="presParOf" srcId="{4A7B3EE5-A20A-4A10-9DDB-C085EA7A407E}" destId="{38FDED88-26E6-4D67-B139-0566E1A08BCC}" srcOrd="4" destOrd="0" presId="urn:microsoft.com/office/officeart/2005/8/layout/vList2"/>
    <dgm:cxn modelId="{CBB79FE5-6D03-48F7-B2A8-D1D63CDE0B26}" type="presParOf" srcId="{4A7B3EE5-A20A-4A10-9DDB-C085EA7A407E}" destId="{D2130EC2-5BD1-4E64-8B67-F9DA0CA69967}" srcOrd="5" destOrd="0" presId="urn:microsoft.com/office/officeart/2005/8/layout/vList2"/>
    <dgm:cxn modelId="{96C8D2D7-95B0-4313-9C76-5202280AF640}" type="presParOf" srcId="{4A7B3EE5-A20A-4A10-9DDB-C085EA7A407E}" destId="{C78379B0-B733-4482-A592-C66E2F73A40F}" srcOrd="6" destOrd="0" presId="urn:microsoft.com/office/officeart/2005/8/layout/vList2"/>
    <dgm:cxn modelId="{0DE32E93-6101-4195-8C5C-14A8B1FD189D}" type="presParOf" srcId="{4A7B3EE5-A20A-4A10-9DDB-C085EA7A407E}" destId="{0AD7CE2E-FB1B-4DBD-8904-472C1719F23D}" srcOrd="7" destOrd="0" presId="urn:microsoft.com/office/officeart/2005/8/layout/vList2"/>
    <dgm:cxn modelId="{DBB48817-29F8-4763-9FD1-01C5052318A4}" type="presParOf" srcId="{4A7B3EE5-A20A-4A10-9DDB-C085EA7A407E}" destId="{2D14E728-73D3-4974-8A45-13E7DD73C7F1}"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DFFA22-8ECC-4541-B523-A12F48103A31}">
      <dsp:nvSpPr>
        <dsp:cNvPr id="0" name=""/>
        <dsp:cNvSpPr/>
      </dsp:nvSpPr>
      <dsp:spPr>
        <a:xfrm>
          <a:off x="0" y="512143"/>
          <a:ext cx="10396883" cy="1645020"/>
        </a:xfrm>
        <a:prstGeom prst="roundRect">
          <a:avLst/>
        </a:prstGeom>
        <a:solidFill>
          <a:schemeClr val="accent1">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t>Introduction: The CRM Analytics dataset offers a comprehensive view of the sales pipeline, including opportunity stages, conversion metrics, and deal timelines. By studying this data, businesses can evaluate performance across multiple KPIs such as revenue growth, pipeline conversion, and seasonal closing patterns. This project leverages Excel, SQL, and Power BI to transform raw transactional data into meaningful insights.</a:t>
          </a:r>
          <a:endParaRPr lang="en-IN" sz="1900" kern="1200" dirty="0"/>
        </a:p>
      </dsp:txBody>
      <dsp:txXfrm>
        <a:off x="80303" y="592446"/>
        <a:ext cx="10236277" cy="1484414"/>
      </dsp:txXfrm>
    </dsp:sp>
    <dsp:sp modelId="{EFA6FDDC-E807-4628-82D3-CFB5045D4398}">
      <dsp:nvSpPr>
        <dsp:cNvPr id="0" name=""/>
        <dsp:cNvSpPr/>
      </dsp:nvSpPr>
      <dsp:spPr>
        <a:xfrm>
          <a:off x="0" y="2211883"/>
          <a:ext cx="10396883" cy="1645020"/>
        </a:xfrm>
        <a:prstGeom prst="roundRect">
          <a:avLst/>
        </a:prstGeom>
        <a:solidFill>
          <a:schemeClr val="accent1">
            <a:shade val="80000"/>
            <a:hueOff val="72705"/>
            <a:satOff val="-5315"/>
            <a:lumOff val="13696"/>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b="1" kern="1200" dirty="0"/>
            <a:t>KPI insights: </a:t>
          </a:r>
          <a:r>
            <a:rPr lang="en-US" sz="1900" b="1" kern="1200" dirty="0"/>
            <a:t>Our analysis of the CRM dashboard highlights key performance insights. Active pipeline values stand strong at 35M, though conversion rates point to significant early-stage drop-offs. Seasonal data reveals that closing activity scales up aggressively toward Q4, reflecting notable back-half buying behavior. Additionally, a strong concentration of revenue relies heavily on a single opportunity type, which highlights areas for portfolio diversification.</a:t>
          </a:r>
          <a:endParaRPr lang="en-IN" sz="1900" kern="1200" dirty="0"/>
        </a:p>
      </dsp:txBody>
      <dsp:txXfrm>
        <a:off x="80303" y="2292186"/>
        <a:ext cx="10236277" cy="1484414"/>
      </dsp:txXfrm>
    </dsp:sp>
    <dsp:sp modelId="{2C8D2F7C-2392-46FB-871B-1B7B4073FD3C}">
      <dsp:nvSpPr>
        <dsp:cNvPr id="0" name=""/>
        <dsp:cNvSpPr/>
      </dsp:nvSpPr>
      <dsp:spPr>
        <a:xfrm>
          <a:off x="0" y="3911623"/>
          <a:ext cx="10396883" cy="1645020"/>
        </a:xfrm>
        <a:prstGeom prst="roundRect">
          <a:avLst/>
        </a:prstGeom>
        <a:solidFill>
          <a:schemeClr val="accent1">
            <a:shade val="80000"/>
            <a:hueOff val="145410"/>
            <a:satOff val="-10630"/>
            <a:lumOff val="27392"/>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b="1" kern="1200" dirty="0"/>
            <a:t>Final Recommendations: </a:t>
          </a:r>
          <a:r>
            <a:rPr lang="en-US" sz="1900" b="1" kern="1200" dirty="0"/>
            <a:t>Each KPI chart will be reviewed individually. For every metric, we provide an Observation, a Suggestion, and a Conclusion to deliver actionable business strategies.</a:t>
          </a:r>
          <a:endParaRPr lang="en-IN" sz="1900" kern="1200" dirty="0"/>
        </a:p>
      </dsp:txBody>
      <dsp:txXfrm>
        <a:off x="80303" y="3991926"/>
        <a:ext cx="10236277" cy="14844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96CD65-7372-40F4-A9FC-F52A0DB3649A}">
      <dsp:nvSpPr>
        <dsp:cNvPr id="0" name=""/>
        <dsp:cNvSpPr/>
      </dsp:nvSpPr>
      <dsp:spPr>
        <a:xfrm>
          <a:off x="2035010" y="0"/>
          <a:ext cx="5113644" cy="5113644"/>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299D96-C317-4291-B24C-3AE287419B7D}">
      <dsp:nvSpPr>
        <dsp:cNvPr id="0" name=""/>
        <dsp:cNvSpPr/>
      </dsp:nvSpPr>
      <dsp:spPr>
        <a:xfrm>
          <a:off x="2367397" y="332386"/>
          <a:ext cx="2045457" cy="2045457"/>
        </a:xfrm>
        <a:prstGeom prst="roundRect">
          <a:avLst/>
        </a:prstGeom>
        <a:solidFill>
          <a:schemeClr val="accent1">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Utilized the CRM Analytics Dataset, consisting of relational tables stored in structured database/CSV formats.</a:t>
          </a:r>
          <a:endParaRPr lang="en-IN" sz="1400" kern="1200" dirty="0"/>
        </a:p>
      </dsp:txBody>
      <dsp:txXfrm>
        <a:off x="2467248" y="432237"/>
        <a:ext cx="1845755" cy="1845755"/>
      </dsp:txXfrm>
    </dsp:sp>
    <dsp:sp modelId="{DE48A5E8-4989-4042-9A29-7F69BA2975DC}">
      <dsp:nvSpPr>
        <dsp:cNvPr id="0" name=""/>
        <dsp:cNvSpPr/>
      </dsp:nvSpPr>
      <dsp:spPr>
        <a:xfrm>
          <a:off x="4770810" y="332386"/>
          <a:ext cx="2045457" cy="2045457"/>
        </a:xfrm>
        <a:prstGeom prst="roundRect">
          <a:avLst/>
        </a:prstGeom>
        <a:solidFill>
          <a:schemeClr val="accent1">
            <a:shade val="80000"/>
            <a:hueOff val="48470"/>
            <a:satOff val="-3543"/>
            <a:lumOff val="9131"/>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​Worked with key tables such as Opportunity, Lead Table, Account Table, Opportunity Product, and User Table to establish a comprehensive data model.​</a:t>
          </a:r>
          <a:endParaRPr lang="en-IN" sz="1400" kern="1200" dirty="0"/>
        </a:p>
      </dsp:txBody>
      <dsp:txXfrm>
        <a:off x="4870661" y="432237"/>
        <a:ext cx="1845755" cy="1845755"/>
      </dsp:txXfrm>
    </dsp:sp>
    <dsp:sp modelId="{6FD80977-5B62-4912-9EAD-BB7064F4B6BA}">
      <dsp:nvSpPr>
        <dsp:cNvPr id="0" name=""/>
        <dsp:cNvSpPr/>
      </dsp:nvSpPr>
      <dsp:spPr>
        <a:xfrm>
          <a:off x="2367397" y="2735799"/>
          <a:ext cx="2045457" cy="2045457"/>
        </a:xfrm>
        <a:prstGeom prst="roundRect">
          <a:avLst/>
        </a:prstGeom>
        <a:solidFill>
          <a:schemeClr val="accent1">
            <a:shade val="80000"/>
            <a:hueOff val="96940"/>
            <a:satOff val="-7087"/>
            <a:lumOff val="18261"/>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Performed data engineering and analysis on structured sales pipeline data using SQL and Power BI (DAX).​</a:t>
          </a:r>
          <a:endParaRPr lang="en-IN" sz="1400" kern="1200" dirty="0"/>
        </a:p>
      </dsp:txBody>
      <dsp:txXfrm>
        <a:off x="2467248" y="2835650"/>
        <a:ext cx="1845755" cy="1845755"/>
      </dsp:txXfrm>
    </dsp:sp>
    <dsp:sp modelId="{3936F6E2-9BC3-4457-9999-A70C9D1BD413}">
      <dsp:nvSpPr>
        <dsp:cNvPr id="0" name=""/>
        <dsp:cNvSpPr/>
      </dsp:nvSpPr>
      <dsp:spPr>
        <a:xfrm>
          <a:off x="4770810" y="2735799"/>
          <a:ext cx="2045457" cy="2045457"/>
        </a:xfrm>
        <a:prstGeom prst="roundRect">
          <a:avLst/>
        </a:prstGeom>
        <a:solidFill>
          <a:schemeClr val="accent1">
            <a:shade val="80000"/>
            <a:hueOff val="145410"/>
            <a:satOff val="-10630"/>
            <a:lumOff val="27392"/>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Extracted insights related to sales representative performance, pipeline velocity, quarterly seasonality trends, and opportunity conversion rates.</a:t>
          </a:r>
          <a:endParaRPr lang="en-IN" sz="1400" kern="1200" dirty="0"/>
        </a:p>
      </dsp:txBody>
      <dsp:txXfrm>
        <a:off x="4870661" y="2835650"/>
        <a:ext cx="1845755" cy="18457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32DC6D-2F37-4939-A90C-F5A7D71B8B0C}">
      <dsp:nvSpPr>
        <dsp:cNvPr id="0" name=""/>
        <dsp:cNvSpPr/>
      </dsp:nvSpPr>
      <dsp:spPr>
        <a:xfrm>
          <a:off x="0" y="92558"/>
          <a:ext cx="10714565" cy="1006931"/>
        </a:xfrm>
        <a:prstGeom prst="roundRect">
          <a:avLst/>
        </a:prstGeom>
        <a:solidFill>
          <a:schemeClr val="accent1">
            <a:shade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latin typeface="Aptos Display" panose="020B0004020202020204" pitchFamily="34" charset="0"/>
            </a:rPr>
            <a:t>Optimize Pipeline Allocation: While top-line potential is robust at 35M, resources must be strictly directed toward high-yield opportunities rather than spreading efforts thin across all 192 active accounts.</a:t>
          </a:r>
          <a:endParaRPr lang="en-IN" sz="1800" kern="1200" dirty="0">
            <a:latin typeface="Aptos Display" panose="020B0004020202020204" pitchFamily="34" charset="0"/>
          </a:endParaRPr>
        </a:p>
      </dsp:txBody>
      <dsp:txXfrm>
        <a:off x="49154" y="141712"/>
        <a:ext cx="10616257" cy="908623"/>
      </dsp:txXfrm>
    </dsp:sp>
    <dsp:sp modelId="{5C46CCF2-64BD-4D93-ACDC-B4C28F9BEA1C}">
      <dsp:nvSpPr>
        <dsp:cNvPr id="0" name=""/>
        <dsp:cNvSpPr/>
      </dsp:nvSpPr>
      <dsp:spPr>
        <a:xfrm>
          <a:off x="0" y="1106174"/>
          <a:ext cx="10714565" cy="1006931"/>
        </a:xfrm>
        <a:prstGeom prst="roundRect">
          <a:avLst/>
        </a:prstGeom>
        <a:solidFill>
          <a:schemeClr val="accent1">
            <a:shade val="50000"/>
            <a:hueOff val="71009"/>
            <a:satOff val="-5693"/>
            <a:lumOff val="17461"/>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 </a:t>
          </a:r>
          <a:r>
            <a:rPr lang="en-US" sz="1800" b="1" kern="1200" dirty="0">
              <a:latin typeface="Aptos Display" panose="020B0004020202020204" pitchFamily="34" charset="0"/>
            </a:rPr>
            <a:t>Institutionalize Winning Sales Playbooks: Capitalize on the strong 48.61%  win rate by analyzing successful deal traits and scaling these closing techniques across the entire sales enablement framework</a:t>
          </a:r>
          <a:r>
            <a:rPr lang="en-US" sz="1800" b="1" kern="1200" dirty="0"/>
            <a:t>.</a:t>
          </a:r>
          <a:endParaRPr lang="en-IN" sz="1800" kern="1200" dirty="0"/>
        </a:p>
      </dsp:txBody>
      <dsp:txXfrm>
        <a:off x="49154" y="1155328"/>
        <a:ext cx="10616257" cy="908623"/>
      </dsp:txXfrm>
    </dsp:sp>
    <dsp:sp modelId="{38FDED88-26E6-4D67-B139-0566E1A08BCC}">
      <dsp:nvSpPr>
        <dsp:cNvPr id="0" name=""/>
        <dsp:cNvSpPr/>
      </dsp:nvSpPr>
      <dsp:spPr>
        <a:xfrm>
          <a:off x="0" y="2164945"/>
          <a:ext cx="10714565" cy="1006931"/>
        </a:xfrm>
        <a:prstGeom prst="roundRect">
          <a:avLst/>
        </a:prstGeom>
        <a:solidFill>
          <a:schemeClr val="accent1">
            <a:shade val="50000"/>
            <a:hueOff val="142018"/>
            <a:satOff val="-11386"/>
            <a:lumOff val="34922"/>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 </a:t>
          </a:r>
          <a:r>
            <a:rPr lang="en-US" sz="1800" b="1" kern="1200" dirty="0">
              <a:latin typeface="Aptos Display" panose="020B0004020202020204" pitchFamily="34" charset="0"/>
            </a:rPr>
            <a:t>Remediate Early-Funnel Leakage: The 0.38% conversion velocity marks a major operational gap; introduce stricter discovery stage entry criteria and aggressive lead-nurturing protocols to stabilize early drop-offs.</a:t>
          </a:r>
          <a:endParaRPr lang="en-IN" sz="1800" kern="1200" dirty="0">
            <a:latin typeface="Aptos Display" panose="020B0004020202020204" pitchFamily="34" charset="0"/>
          </a:endParaRPr>
        </a:p>
      </dsp:txBody>
      <dsp:txXfrm>
        <a:off x="49154" y="2214099"/>
        <a:ext cx="10616257" cy="908623"/>
      </dsp:txXfrm>
    </dsp:sp>
    <dsp:sp modelId="{C78379B0-B733-4482-A592-C66E2F73A40F}">
      <dsp:nvSpPr>
        <dsp:cNvPr id="0" name=""/>
        <dsp:cNvSpPr/>
      </dsp:nvSpPr>
      <dsp:spPr>
        <a:xfrm>
          <a:off x="0" y="3223716"/>
          <a:ext cx="10714565" cy="1006931"/>
        </a:xfrm>
        <a:prstGeom prst="roundRect">
          <a:avLst/>
        </a:prstGeom>
        <a:solidFill>
          <a:schemeClr val="accent1">
            <a:shade val="50000"/>
            <a:hueOff val="142018"/>
            <a:satOff val="-11386"/>
            <a:lumOff val="34922"/>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a:t>
          </a:r>
          <a:r>
            <a:rPr lang="en-US" sz="1800" b="1" kern="1200" dirty="0">
              <a:latin typeface="Aptos Display" panose="020B0004020202020204" pitchFamily="34" charset="0"/>
            </a:rPr>
            <a:t>Mitigate Operational Back-Loading: Address the heavy seasonal dependency where closed deal volumes peak sharply in Q4 by distributing key performance targets and pipeline support resources more evenly into Q1 and Q2.</a:t>
          </a:r>
          <a:endParaRPr lang="en-IN" sz="1800" kern="1200" dirty="0">
            <a:latin typeface="Aptos Display" panose="020B0004020202020204" pitchFamily="34" charset="0"/>
          </a:endParaRPr>
        </a:p>
      </dsp:txBody>
      <dsp:txXfrm>
        <a:off x="49154" y="3272870"/>
        <a:ext cx="10616257" cy="908623"/>
      </dsp:txXfrm>
    </dsp:sp>
    <dsp:sp modelId="{2D14E728-73D3-4974-8A45-13E7DD73C7F1}">
      <dsp:nvSpPr>
        <dsp:cNvPr id="0" name=""/>
        <dsp:cNvSpPr/>
      </dsp:nvSpPr>
      <dsp:spPr>
        <a:xfrm>
          <a:off x="0" y="4282487"/>
          <a:ext cx="10714565" cy="1006931"/>
        </a:xfrm>
        <a:prstGeom prst="roundRect">
          <a:avLst/>
        </a:prstGeom>
        <a:solidFill>
          <a:schemeClr val="accent1">
            <a:shade val="50000"/>
            <a:hueOff val="71009"/>
            <a:satOff val="-5693"/>
            <a:lumOff val="17461"/>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 </a:t>
          </a:r>
          <a:r>
            <a:rPr lang="en-US" sz="1800" b="1" kern="1200" dirty="0">
              <a:latin typeface="Aptos Display" panose="020B0004020202020204" pitchFamily="34" charset="0"/>
            </a:rPr>
            <a:t>De-risk Revenue Concentrations: The pipeline's structural reliance on a single opportunity type (88.63%) introduces business vulnerability; incentivize the account management teams to aggressively pursue cross-selling and account renewals to diversify portfolio exposure.</a:t>
          </a:r>
          <a:endParaRPr lang="en-IN" sz="1800" kern="1200" dirty="0">
            <a:latin typeface="Aptos Display" panose="020B0004020202020204" pitchFamily="34" charset="0"/>
          </a:endParaRPr>
        </a:p>
      </dsp:txBody>
      <dsp:txXfrm>
        <a:off x="49154" y="4331641"/>
        <a:ext cx="10616257" cy="90862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31-05-2026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31-05-2026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3483871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8790018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9297921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31-05-2026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5563813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31-05-2026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2814545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31-05-2026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4610648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31-05-2026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646420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1747336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8269159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517959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2984233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27063277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2684526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31-05-2026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4767823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31-05-2026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3726832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2338296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626691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31-05-2026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extLst>
      <p:ext uri="{BB962C8B-B14F-4D97-AF65-F5344CB8AC3E}">
        <p14:creationId xmlns:p14="http://schemas.microsoft.com/office/powerpoint/2010/main" val="2557449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48A87A34-81AB-432B-8DAE-1953F412C126}" type="datetimeFigureOut">
              <a:rPr lang="en-US" smtClean="0"/>
              <a:t>31-05-2026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1411171209"/>
      </p:ext>
    </p:extLst>
  </p:cSld>
  <p:clrMap bg1="dk1" tx1="lt1" bg2="dk2" tx2="lt2" accent1="accent1" accent2="accent2" accent3="accent3" accent4="accent4" accent5="accent5" accent6="accent6" hlink="hlink" folHlink="folHlink"/>
  <p:sldLayoutIdLst>
    <p:sldLayoutId id="2147484233" r:id="rId1"/>
    <p:sldLayoutId id="2147484234" r:id="rId2"/>
    <p:sldLayoutId id="2147484235" r:id="rId3"/>
    <p:sldLayoutId id="2147484236" r:id="rId4"/>
    <p:sldLayoutId id="2147484237" r:id="rId5"/>
    <p:sldLayoutId id="2147484238" r:id="rId6"/>
    <p:sldLayoutId id="2147484239" r:id="rId7"/>
    <p:sldLayoutId id="2147484240" r:id="rId8"/>
    <p:sldLayoutId id="2147484241" r:id="rId9"/>
    <p:sldLayoutId id="2147484242" r:id="rId10"/>
    <p:sldLayoutId id="2147484243" r:id="rId11"/>
    <p:sldLayoutId id="2147484244" r:id="rId12"/>
    <p:sldLayoutId id="2147484245" r:id="rId13"/>
    <p:sldLayoutId id="2147484246" r:id="rId14"/>
    <p:sldLayoutId id="2147484247" r:id="rId15"/>
    <p:sldLayoutId id="2147484248" r:id="rId16"/>
    <p:sldLayoutId id="2147484249" r:id="rId17"/>
    <p:sldLayoutId id="2147484250" r:id="rId18"/>
  </p:sldLayoutIdLst>
  <p:hf sldNum="0" hdr="0" ftr="0" dt="0"/>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18.xml"/><Relationship Id="rId1" Type="http://schemas.openxmlformats.org/officeDocument/2006/relationships/tags" Target="../tags/tag1.xml"/><Relationship Id="rId4" Type="http://schemas.openxmlformats.org/officeDocument/2006/relationships/hyperlink" Target="https://www.pinterest.es/pin/get-thank-you-powerpoint-and-google-slides-template--69784690477595063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9439" y="259730"/>
            <a:ext cx="6030603" cy="765729"/>
          </a:xfrm>
        </p:spPr>
        <p:style>
          <a:lnRef idx="2">
            <a:schemeClr val="accent1"/>
          </a:lnRef>
          <a:fillRef idx="1">
            <a:schemeClr val="lt1"/>
          </a:fillRef>
          <a:effectRef idx="0">
            <a:schemeClr val="accent1"/>
          </a:effectRef>
          <a:fontRef idx="minor">
            <a:schemeClr val="dk1"/>
          </a:fontRef>
        </p:style>
        <p:txBody>
          <a:bodyPr>
            <a:normAutofit/>
          </a:bodyPr>
          <a:lstStyle/>
          <a:p>
            <a:pPr algn="ctr"/>
            <a:r>
              <a:rPr lang="en-US" sz="4000">
                <a:ln w="13462">
                  <a:solidFill>
                    <a:schemeClr val="bg1"/>
                  </a:solidFill>
                  <a:prstDash val="solid"/>
                </a:ln>
                <a:solidFill>
                  <a:schemeClr val="tx2">
                    <a:lumMod val="90000"/>
                  </a:schemeClr>
                </a:solidFill>
                <a:effectLst>
                  <a:outerShdw blurRad="38100" dist="38100" dir="2700000" algn="tl">
                    <a:srgbClr val="000000">
                      <a:alpha val="43137"/>
                    </a:srgbClr>
                  </a:outerShdw>
                </a:effectLst>
                <a:latin typeface="Eras Demi ITC" panose="020B0805030504020804" pitchFamily="34" charset="0"/>
                <a:ea typeface="Calibri" panose="020F0502020204030204"/>
                <a:cs typeface="Calibri" panose="020F0502020204030204"/>
                <a:sym typeface="Calibri" panose="020F0502020204030204"/>
              </a:rPr>
              <a:t>C</a:t>
            </a:r>
            <a:r>
              <a:rPr lang="en-IN" sz="4000">
                <a:ln w="13462">
                  <a:solidFill>
                    <a:schemeClr val="bg1"/>
                  </a:solidFill>
                  <a:prstDash val="solid"/>
                </a:ln>
                <a:solidFill>
                  <a:schemeClr val="tx2">
                    <a:lumMod val="90000"/>
                  </a:schemeClr>
                </a:solidFill>
                <a:effectLst>
                  <a:outerShdw blurRad="38100" dist="38100" dir="2700000" algn="tl">
                    <a:srgbClr val="000000">
                      <a:alpha val="43137"/>
                    </a:srgbClr>
                  </a:outerShdw>
                </a:effectLst>
                <a:latin typeface="Eras Demi ITC" panose="020B0805030504020804" pitchFamily="34" charset="0"/>
                <a:ea typeface="Calibri" panose="020F0502020204030204"/>
                <a:cs typeface="Calibri" panose="020F0502020204030204"/>
                <a:sym typeface="Calibri" panose="020F0502020204030204"/>
              </a:rPr>
              <a:t>RM DATA ANALYTICS</a:t>
            </a:r>
            <a:endParaRPr lang="en-IN" sz="4000" dirty="0">
              <a:ln w="13462">
                <a:solidFill>
                  <a:schemeClr val="bg1"/>
                </a:solidFill>
                <a:prstDash val="solid"/>
              </a:ln>
              <a:solidFill>
                <a:schemeClr val="tx2">
                  <a:lumMod val="90000"/>
                </a:schemeClr>
              </a:solidFill>
              <a:effectLst>
                <a:outerShdw blurRad="38100" dist="38100" dir="2700000" algn="tl">
                  <a:srgbClr val="000000">
                    <a:alpha val="43137"/>
                  </a:srgbClr>
                </a:outerShdw>
              </a:effectLst>
              <a:latin typeface="Eras Demi ITC" panose="020B0805030504020804" pitchFamily="34" charset="0"/>
              <a:ea typeface="Calibri" panose="020F0502020204030204"/>
              <a:cs typeface="Calibri" panose="020F0502020204030204"/>
              <a:sym typeface="Calibri" panose="020F0502020204030204"/>
            </a:endParaRPr>
          </a:p>
        </p:txBody>
      </p:sp>
      <p:sp>
        <p:nvSpPr>
          <p:cNvPr id="5" name="TextBox 4">
            <a:extLst>
              <a:ext uri="{FF2B5EF4-FFF2-40B4-BE49-F238E27FC236}">
                <a16:creationId xmlns:a16="http://schemas.microsoft.com/office/drawing/2014/main" id="{3FE895BE-F94E-498E-ACD4-C6A096420288}"/>
              </a:ext>
            </a:extLst>
          </p:cNvPr>
          <p:cNvSpPr txBox="1"/>
          <p:nvPr/>
        </p:nvSpPr>
        <p:spPr>
          <a:xfrm>
            <a:off x="4869397" y="1626002"/>
            <a:ext cx="2453198" cy="400110"/>
          </a:xfrm>
          <a:prstGeom prst="rect">
            <a:avLst/>
          </a:prstGeom>
          <a:noFill/>
        </p:spPr>
        <p:txBody>
          <a:bodyPr wrap="square" rtlCol="0">
            <a:spAutoFit/>
          </a:bodyPr>
          <a:lstStyle/>
          <a:p>
            <a:pPr algn="ctr"/>
            <a:r>
              <a:rPr lang="en-US" sz="2000" b="1" dirty="0">
                <a:latin typeface="Tahoma" panose="020B0604030504040204" pitchFamily="34" charset="0"/>
                <a:ea typeface="Tahoma" panose="020B0604030504040204" pitchFamily="34" charset="0"/>
                <a:cs typeface="Tahoma" panose="020B0604030504040204" pitchFamily="34" charset="0"/>
              </a:rPr>
              <a:t>Team Members:</a:t>
            </a:r>
          </a:p>
        </p:txBody>
      </p:sp>
      <p:sp>
        <p:nvSpPr>
          <p:cNvPr id="4" name="TextBox 3">
            <a:extLst>
              <a:ext uri="{FF2B5EF4-FFF2-40B4-BE49-F238E27FC236}">
                <a16:creationId xmlns:a16="http://schemas.microsoft.com/office/drawing/2014/main" id="{CC84F4F0-95E7-AE04-A413-A2F3E83A308D}"/>
              </a:ext>
            </a:extLst>
          </p:cNvPr>
          <p:cNvSpPr txBox="1"/>
          <p:nvPr/>
        </p:nvSpPr>
        <p:spPr>
          <a:xfrm>
            <a:off x="3408461" y="875341"/>
            <a:ext cx="5375070" cy="400110"/>
          </a:xfrm>
          <a:prstGeom prst="rect">
            <a:avLst/>
          </a:prstGeom>
          <a:noFill/>
        </p:spPr>
        <p:txBody>
          <a:bodyPr wrap="square" rtlCol="0">
            <a:spAutoFit/>
          </a:bodyPr>
          <a:lstStyle/>
          <a:p>
            <a:pPr algn="ctr"/>
            <a:r>
              <a:rPr lang="en-US" sz="2000" b="1" dirty="0">
                <a:latin typeface="Algerian" panose="04020705040A02060702" pitchFamily="82" charset="0"/>
              </a:rPr>
              <a:t>__________________________________</a:t>
            </a:r>
          </a:p>
        </p:txBody>
      </p:sp>
      <p:sp>
        <p:nvSpPr>
          <p:cNvPr id="8" name="TextBox 7">
            <a:extLst>
              <a:ext uri="{FF2B5EF4-FFF2-40B4-BE49-F238E27FC236}">
                <a16:creationId xmlns:a16="http://schemas.microsoft.com/office/drawing/2014/main" id="{35F15171-DE9B-4080-02FE-1AC0BA5CAA5C}"/>
              </a:ext>
            </a:extLst>
          </p:cNvPr>
          <p:cNvSpPr txBox="1"/>
          <p:nvPr/>
        </p:nvSpPr>
        <p:spPr>
          <a:xfrm>
            <a:off x="5147087" y="1784665"/>
            <a:ext cx="1897818" cy="400110"/>
          </a:xfrm>
          <a:prstGeom prst="rect">
            <a:avLst/>
          </a:prstGeom>
          <a:noFill/>
        </p:spPr>
        <p:txBody>
          <a:bodyPr wrap="square" rtlCol="0">
            <a:spAutoFit/>
          </a:bodyPr>
          <a:lstStyle/>
          <a:p>
            <a:pPr algn="ctr"/>
            <a:r>
              <a:rPr lang="en-US" sz="2000" dirty="0">
                <a:solidFill>
                  <a:schemeClr val="accent6">
                    <a:lumMod val="20000"/>
                    <a:lumOff val="80000"/>
                  </a:schemeClr>
                </a:solidFill>
                <a:latin typeface="Tahoma" panose="020B0604030504040204" pitchFamily="34" charset="0"/>
                <a:ea typeface="Tahoma" panose="020B0604030504040204" pitchFamily="34" charset="0"/>
                <a:cs typeface="Tahoma" panose="020B0604030504040204" pitchFamily="34" charset="0"/>
              </a:rPr>
              <a:t>__________</a:t>
            </a:r>
          </a:p>
        </p:txBody>
      </p:sp>
      <p:sp>
        <p:nvSpPr>
          <p:cNvPr id="10" name="TextBox 9">
            <a:extLst>
              <a:ext uri="{FF2B5EF4-FFF2-40B4-BE49-F238E27FC236}">
                <a16:creationId xmlns:a16="http://schemas.microsoft.com/office/drawing/2014/main" id="{FDF0B830-76D7-2C56-8470-5DABD85863FE}"/>
              </a:ext>
            </a:extLst>
          </p:cNvPr>
          <p:cNvSpPr txBox="1"/>
          <p:nvPr/>
        </p:nvSpPr>
        <p:spPr>
          <a:xfrm>
            <a:off x="3129439" y="2259613"/>
            <a:ext cx="2453198" cy="400110"/>
          </a:xfrm>
          <a:prstGeom prst="rect">
            <a:avLst/>
          </a:prstGeom>
          <a:noFill/>
        </p:spPr>
        <p:txBody>
          <a:bodyPr wrap="square">
            <a:spAutoFit/>
          </a:bodyPr>
          <a:lstStyle/>
          <a:p>
            <a:r>
              <a:rPr lang="en-US" sz="2000" dirty="0">
                <a:latin typeface="Century" panose="02040604050505020304" pitchFamily="18" charset="0"/>
              </a:rPr>
              <a:t>Nehal</a:t>
            </a:r>
            <a:endParaRPr lang="en-IN" sz="2000" dirty="0">
              <a:latin typeface="Century" panose="02040604050505020304" pitchFamily="18" charset="0"/>
            </a:endParaRPr>
          </a:p>
        </p:txBody>
      </p:sp>
      <p:sp>
        <p:nvSpPr>
          <p:cNvPr id="11" name="TextBox 10">
            <a:extLst>
              <a:ext uri="{FF2B5EF4-FFF2-40B4-BE49-F238E27FC236}">
                <a16:creationId xmlns:a16="http://schemas.microsoft.com/office/drawing/2014/main" id="{698433B6-25AA-8E4B-875C-DAB58E79FB22}"/>
              </a:ext>
            </a:extLst>
          </p:cNvPr>
          <p:cNvSpPr txBox="1"/>
          <p:nvPr/>
        </p:nvSpPr>
        <p:spPr>
          <a:xfrm>
            <a:off x="6603112" y="3203203"/>
            <a:ext cx="2453198" cy="400110"/>
          </a:xfrm>
          <a:prstGeom prst="rect">
            <a:avLst/>
          </a:prstGeom>
          <a:noFill/>
        </p:spPr>
        <p:txBody>
          <a:bodyPr wrap="square">
            <a:spAutoFit/>
          </a:bodyPr>
          <a:lstStyle/>
          <a:p>
            <a:r>
              <a:rPr lang="en-US" sz="2000" dirty="0">
                <a:latin typeface="Century" panose="02040604050505020304" pitchFamily="18" charset="0"/>
              </a:rPr>
              <a:t>Parnika Vartak</a:t>
            </a:r>
            <a:endParaRPr lang="en-IN" sz="2000" dirty="0">
              <a:latin typeface="Century" panose="02040604050505020304" pitchFamily="18" charset="0"/>
            </a:endParaRPr>
          </a:p>
        </p:txBody>
      </p:sp>
      <p:sp>
        <p:nvSpPr>
          <p:cNvPr id="12" name="TextBox 11">
            <a:extLst>
              <a:ext uri="{FF2B5EF4-FFF2-40B4-BE49-F238E27FC236}">
                <a16:creationId xmlns:a16="http://schemas.microsoft.com/office/drawing/2014/main" id="{3AC75914-BE3A-886D-ADFE-617E9D1A3921}"/>
              </a:ext>
            </a:extLst>
          </p:cNvPr>
          <p:cNvSpPr txBox="1"/>
          <p:nvPr/>
        </p:nvSpPr>
        <p:spPr>
          <a:xfrm>
            <a:off x="3129439" y="2726615"/>
            <a:ext cx="2767000" cy="400110"/>
          </a:xfrm>
          <a:prstGeom prst="rect">
            <a:avLst/>
          </a:prstGeom>
          <a:noFill/>
        </p:spPr>
        <p:txBody>
          <a:bodyPr wrap="square">
            <a:spAutoFit/>
          </a:bodyPr>
          <a:lstStyle/>
          <a:p>
            <a:r>
              <a:rPr lang="en-IN" sz="2000" dirty="0">
                <a:latin typeface="Century" panose="02040604050505020304" pitchFamily="18" charset="0"/>
              </a:rPr>
              <a:t>Guttappa Balappagol</a:t>
            </a:r>
            <a:endParaRPr lang="en-IN" sz="2000" dirty="0">
              <a:solidFill>
                <a:srgbClr val="FFFF00"/>
              </a:solidFill>
              <a:latin typeface="Century" panose="02040604050505020304" pitchFamily="18" charset="0"/>
            </a:endParaRPr>
          </a:p>
        </p:txBody>
      </p:sp>
      <p:sp>
        <p:nvSpPr>
          <p:cNvPr id="13" name="TextBox 12">
            <a:extLst>
              <a:ext uri="{FF2B5EF4-FFF2-40B4-BE49-F238E27FC236}">
                <a16:creationId xmlns:a16="http://schemas.microsoft.com/office/drawing/2014/main" id="{C7101619-F3AB-7409-49A2-CED780DA07B4}"/>
              </a:ext>
            </a:extLst>
          </p:cNvPr>
          <p:cNvSpPr txBox="1"/>
          <p:nvPr/>
        </p:nvSpPr>
        <p:spPr>
          <a:xfrm>
            <a:off x="6609356" y="2282741"/>
            <a:ext cx="2839443" cy="400110"/>
          </a:xfrm>
          <a:prstGeom prst="rect">
            <a:avLst/>
          </a:prstGeom>
          <a:noFill/>
        </p:spPr>
        <p:txBody>
          <a:bodyPr wrap="square">
            <a:spAutoFit/>
          </a:bodyPr>
          <a:lstStyle/>
          <a:p>
            <a:r>
              <a:rPr lang="en-US" sz="2000" dirty="0">
                <a:latin typeface="Century" panose="02040604050505020304" pitchFamily="18" charset="0"/>
              </a:rPr>
              <a:t>Spandhana Bhaskar</a:t>
            </a:r>
            <a:endParaRPr lang="en-IN" sz="2000" dirty="0">
              <a:latin typeface="Century" panose="02040604050505020304" pitchFamily="18" charset="0"/>
            </a:endParaRPr>
          </a:p>
        </p:txBody>
      </p:sp>
      <p:sp>
        <p:nvSpPr>
          <p:cNvPr id="14" name="TextBox 13">
            <a:extLst>
              <a:ext uri="{FF2B5EF4-FFF2-40B4-BE49-F238E27FC236}">
                <a16:creationId xmlns:a16="http://schemas.microsoft.com/office/drawing/2014/main" id="{D2222112-C4F2-8495-0EEA-A446DB8DDBE0}"/>
              </a:ext>
            </a:extLst>
          </p:cNvPr>
          <p:cNvSpPr txBox="1"/>
          <p:nvPr/>
        </p:nvSpPr>
        <p:spPr>
          <a:xfrm>
            <a:off x="3135692" y="3203203"/>
            <a:ext cx="2453198" cy="400110"/>
          </a:xfrm>
          <a:prstGeom prst="rect">
            <a:avLst/>
          </a:prstGeom>
          <a:noFill/>
        </p:spPr>
        <p:txBody>
          <a:bodyPr wrap="square">
            <a:spAutoFit/>
          </a:bodyPr>
          <a:lstStyle/>
          <a:p>
            <a:r>
              <a:rPr lang="en-US" sz="2000" dirty="0">
                <a:latin typeface="Century" panose="02040604050505020304" pitchFamily="18" charset="0"/>
              </a:rPr>
              <a:t>P</a:t>
            </a:r>
            <a:r>
              <a:rPr lang="en-IN" sz="2000" dirty="0">
                <a:latin typeface="Century" panose="02040604050505020304" pitchFamily="18" charset="0"/>
              </a:rPr>
              <a:t>ratik</a:t>
            </a:r>
          </a:p>
        </p:txBody>
      </p:sp>
      <p:sp>
        <p:nvSpPr>
          <p:cNvPr id="15" name="TextBox 14">
            <a:extLst>
              <a:ext uri="{FF2B5EF4-FFF2-40B4-BE49-F238E27FC236}">
                <a16:creationId xmlns:a16="http://schemas.microsoft.com/office/drawing/2014/main" id="{963B8E49-3147-33EE-E7DC-9A42A6E86C9B}"/>
              </a:ext>
            </a:extLst>
          </p:cNvPr>
          <p:cNvSpPr txBox="1"/>
          <p:nvPr/>
        </p:nvSpPr>
        <p:spPr>
          <a:xfrm>
            <a:off x="6609357" y="2743586"/>
            <a:ext cx="2453198" cy="400110"/>
          </a:xfrm>
          <a:prstGeom prst="rect">
            <a:avLst/>
          </a:prstGeom>
          <a:noFill/>
        </p:spPr>
        <p:txBody>
          <a:bodyPr wrap="square">
            <a:spAutoFit/>
          </a:bodyPr>
          <a:lstStyle/>
          <a:p>
            <a:r>
              <a:rPr lang="en-IN" sz="2000" dirty="0">
                <a:latin typeface="Century" panose="02040604050505020304" pitchFamily="18" charset="0"/>
              </a:rPr>
              <a:t>M. Kiraneshwar</a:t>
            </a:r>
            <a:endParaRPr lang="en-IN" sz="2000" dirty="0">
              <a:solidFill>
                <a:srgbClr val="FFFF00"/>
              </a:solidFill>
              <a:latin typeface="Century" panose="02040604050505020304" pitchFamily="18" charset="0"/>
            </a:endParaRPr>
          </a:p>
        </p:txBody>
      </p:sp>
      <p:sp>
        <p:nvSpPr>
          <p:cNvPr id="18" name="TextBox 17">
            <a:extLst>
              <a:ext uri="{FF2B5EF4-FFF2-40B4-BE49-F238E27FC236}">
                <a16:creationId xmlns:a16="http://schemas.microsoft.com/office/drawing/2014/main" id="{11BE4432-870C-901D-E8E0-1C87A6C5F3B1}"/>
              </a:ext>
            </a:extLst>
          </p:cNvPr>
          <p:cNvSpPr txBox="1"/>
          <p:nvPr/>
        </p:nvSpPr>
        <p:spPr>
          <a:xfrm>
            <a:off x="5147088" y="3901334"/>
            <a:ext cx="2175508" cy="400110"/>
          </a:xfrm>
          <a:prstGeom prst="rect">
            <a:avLst/>
          </a:prstGeom>
          <a:noFill/>
        </p:spPr>
        <p:txBody>
          <a:bodyPr wrap="square">
            <a:spAutoFit/>
          </a:bodyPr>
          <a:lstStyle/>
          <a:p>
            <a:pPr algn="ctr"/>
            <a:r>
              <a:rPr lang="en-IN" b="1" dirty="0">
                <a:latin typeface="Arial Black" panose="020B0A04020102020204" pitchFamily="34" charset="0"/>
              </a:rPr>
              <a:t>Mentor</a:t>
            </a:r>
            <a:r>
              <a:rPr lang="en-IN" b="1" dirty="0">
                <a:latin typeface="Century" panose="02040604050505020304" pitchFamily="18" charset="0"/>
              </a:rPr>
              <a:t>: </a:t>
            </a:r>
            <a:r>
              <a:rPr lang="en-IN" sz="2000" dirty="0">
                <a:latin typeface="Century" panose="02040604050505020304" pitchFamily="18" charset="0"/>
              </a:rPr>
              <a:t>Hafeez</a:t>
            </a:r>
            <a:endParaRPr lang="en-IN" sz="2000" b="1" dirty="0">
              <a:solidFill>
                <a:srgbClr val="FFFF00"/>
              </a:solidFill>
              <a:latin typeface="Century" panose="02040604050505020304" pitchFamily="18" charset="0"/>
            </a:endParaRPr>
          </a:p>
        </p:txBody>
      </p:sp>
      <p:sp>
        <p:nvSpPr>
          <p:cNvPr id="19" name="TextBox 18">
            <a:extLst>
              <a:ext uri="{FF2B5EF4-FFF2-40B4-BE49-F238E27FC236}">
                <a16:creationId xmlns:a16="http://schemas.microsoft.com/office/drawing/2014/main" id="{7B9D2900-874B-3ABC-F775-98F0D5BECF00}"/>
              </a:ext>
            </a:extLst>
          </p:cNvPr>
          <p:cNvSpPr txBox="1"/>
          <p:nvPr/>
        </p:nvSpPr>
        <p:spPr>
          <a:xfrm>
            <a:off x="3940527" y="4230133"/>
            <a:ext cx="4465819" cy="369332"/>
          </a:xfrm>
          <a:prstGeom prst="rect">
            <a:avLst/>
          </a:prstGeom>
          <a:noFill/>
        </p:spPr>
        <p:txBody>
          <a:bodyPr wrap="square">
            <a:spAutoFit/>
          </a:bodyPr>
          <a:lstStyle/>
          <a:p>
            <a:r>
              <a:rPr lang="en-IN" b="1" dirty="0">
                <a:latin typeface="Century" panose="02040604050505020304" pitchFamily="18" charset="0"/>
              </a:rPr>
              <a:t>_____________________________________</a:t>
            </a:r>
            <a:endParaRPr lang="en-IN" b="1" dirty="0">
              <a:solidFill>
                <a:srgbClr val="FFFF00"/>
              </a:solidFill>
              <a:latin typeface="Century" panose="020406040505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838" y="228600"/>
            <a:ext cx="10396883" cy="601133"/>
          </a:xfrm>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fontScale="90000"/>
          </a:bodyPr>
          <a:lstStyle/>
          <a:p>
            <a:pPr algn="ctr"/>
            <a:r>
              <a:rPr lang="en-IN" sz="4000" dirty="0">
                <a:ln w="13462">
                  <a:solidFill>
                    <a:schemeClr val="bg1"/>
                  </a:solidFill>
                  <a:prstDash val="solid"/>
                </a:ln>
                <a:solidFill>
                  <a:schemeClr val="tx2">
                    <a:lumMod val="90000"/>
                  </a:schemeClr>
                </a:solidFill>
                <a:effectLst>
                  <a:outerShdw blurRad="38100" dist="38100" dir="2700000" algn="tl">
                    <a:srgbClr val="000000">
                      <a:alpha val="43137"/>
                    </a:srgbClr>
                  </a:outerShdw>
                </a:effectLst>
                <a:latin typeface="Eras Demi ITC" panose="020B0805030504020804" pitchFamily="34" charset="0"/>
                <a:ea typeface="Calibri" panose="020F0502020204030204"/>
                <a:cs typeface="Calibri" panose="020F0502020204030204"/>
              </a:rPr>
              <a:t>Agenda</a:t>
            </a:r>
          </a:p>
        </p:txBody>
      </p:sp>
      <p:graphicFrame>
        <p:nvGraphicFramePr>
          <p:cNvPr id="4" name="Content Placeholder 3">
            <a:extLst>
              <a:ext uri="{FF2B5EF4-FFF2-40B4-BE49-F238E27FC236}">
                <a16:creationId xmlns:a16="http://schemas.microsoft.com/office/drawing/2014/main" id="{4C44373F-122A-9AE7-AE6D-866B55F7E2E9}"/>
              </a:ext>
            </a:extLst>
          </p:cNvPr>
          <p:cNvGraphicFramePr>
            <a:graphicFrameLocks noGrp="1"/>
          </p:cNvGraphicFramePr>
          <p:nvPr>
            <p:ph idx="1"/>
            <p:extLst>
              <p:ext uri="{D42A27DB-BD31-4B8C-83A1-F6EECF244321}">
                <p14:modId xmlns:p14="http://schemas.microsoft.com/office/powerpoint/2010/main" val="665685066"/>
              </p:ext>
            </p:extLst>
          </p:nvPr>
        </p:nvGraphicFramePr>
        <p:xfrm>
          <a:off x="897558" y="664029"/>
          <a:ext cx="10396883" cy="60687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Graphic spid="4"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8CA36348-692C-4D5B-9BDB-B6AEC4B73844}"/>
              </a:ext>
            </a:extLst>
          </p:cNvPr>
          <p:cNvGraphicFramePr/>
          <p:nvPr>
            <p:extLst>
              <p:ext uri="{D42A27DB-BD31-4B8C-83A1-F6EECF244321}">
                <p14:modId xmlns:p14="http://schemas.microsoft.com/office/powerpoint/2010/main" val="709462043"/>
              </p:ext>
            </p:extLst>
          </p:nvPr>
        </p:nvGraphicFramePr>
        <p:xfrm>
          <a:off x="1122742" y="938398"/>
          <a:ext cx="9183665" cy="51136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1C85D8C2-273F-4C30-B503-DC0E9FD2BCBA}"/>
              </a:ext>
            </a:extLst>
          </p:cNvPr>
          <p:cNvSpPr txBox="1"/>
          <p:nvPr/>
        </p:nvSpPr>
        <p:spPr>
          <a:xfrm>
            <a:off x="2358310" y="159627"/>
            <a:ext cx="6712527" cy="646331"/>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a:bodyPr>
          <a:lstStyle>
            <a:lvl1pPr algn="ctr" defTabSz="914400">
              <a:lnSpc>
                <a:spcPct val="90000"/>
              </a:lnSpc>
              <a:spcBef>
                <a:spcPct val="0"/>
              </a:spcBef>
              <a:buNone/>
              <a:defRPr sz="4000" b="0">
                <a:ln w="13462">
                  <a:solidFill>
                    <a:schemeClr val="bg1"/>
                  </a:solidFill>
                  <a:prstDash val="solid"/>
                </a:ln>
                <a:solidFill>
                  <a:schemeClr val="tx2">
                    <a:lumMod val="90000"/>
                  </a:schemeClr>
                </a:solidFill>
                <a:effectLst>
                  <a:outerShdw blurRad="38100" dist="38100" dir="2700000" algn="tl">
                    <a:srgbClr val="000000">
                      <a:alpha val="43137"/>
                    </a:srgbClr>
                  </a:outerShdw>
                </a:effectLst>
                <a:latin typeface="Eras Demi ITC" panose="020B0805030504020804" pitchFamily="34" charset="0"/>
                <a:ea typeface="Calibri" panose="020F0502020204030204"/>
                <a:cs typeface="Calibri" panose="020F0502020204030204"/>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IN" dirty="0"/>
              <a:t>Project Overview</a:t>
            </a:r>
            <a:endParaRPr lang="en-KI" dirty="0"/>
          </a:p>
        </p:txBody>
      </p:sp>
    </p:spTree>
    <p:extLst>
      <p:ext uri="{BB962C8B-B14F-4D97-AF65-F5344CB8AC3E}">
        <p14:creationId xmlns:p14="http://schemas.microsoft.com/office/powerpoint/2010/main" val="407883332"/>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ACB03CE-701B-CEA8-2B7F-B6D94B680208}"/>
              </a:ext>
            </a:extLst>
          </p:cNvPr>
          <p:cNvSpPr>
            <a:spLocks noGrp="1"/>
          </p:cNvSpPr>
          <p:nvPr>
            <p:ph type="title"/>
          </p:nvPr>
        </p:nvSpPr>
        <p:spPr>
          <a:xfrm>
            <a:off x="846666" y="61435"/>
            <a:ext cx="9914943" cy="466662"/>
          </a:xfrm>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fontScale="90000"/>
          </a:bodyPr>
          <a:lstStyle/>
          <a:p>
            <a:pPr algn="ctr"/>
            <a:r>
              <a:rPr lang="en-IN" sz="4000" dirty="0">
                <a:ln w="13462">
                  <a:solidFill>
                    <a:schemeClr val="bg1"/>
                  </a:solidFill>
                  <a:prstDash val="solid"/>
                </a:ln>
                <a:solidFill>
                  <a:schemeClr val="tx2">
                    <a:lumMod val="90000"/>
                  </a:schemeClr>
                </a:solidFill>
                <a:effectLst>
                  <a:outerShdw blurRad="38100" dist="38100" dir="2700000" algn="tl">
                    <a:srgbClr val="000000">
                      <a:alpha val="43137"/>
                    </a:srgbClr>
                  </a:outerShdw>
                </a:effectLst>
                <a:latin typeface="Eras Demi ITC" panose="020B0805030504020804" pitchFamily="34" charset="0"/>
                <a:ea typeface="Calibri" panose="020F0502020204030204"/>
                <a:cs typeface="Calibri" panose="020F0502020204030204"/>
              </a:rPr>
              <a:t>Opportunity KPI Insights</a:t>
            </a:r>
          </a:p>
        </p:txBody>
      </p:sp>
      <p:sp>
        <p:nvSpPr>
          <p:cNvPr id="5" name="TextBox 4">
            <a:extLst>
              <a:ext uri="{FF2B5EF4-FFF2-40B4-BE49-F238E27FC236}">
                <a16:creationId xmlns:a16="http://schemas.microsoft.com/office/drawing/2014/main" id="{1AB92AFA-D4F6-6438-D7C2-45CA0162609E}"/>
              </a:ext>
            </a:extLst>
          </p:cNvPr>
          <p:cNvSpPr txBox="1"/>
          <p:nvPr/>
        </p:nvSpPr>
        <p:spPr>
          <a:xfrm>
            <a:off x="-1" y="528097"/>
            <a:ext cx="12231329" cy="954107"/>
          </a:xfrm>
          <a:prstGeom prst="rect">
            <a:avLst/>
          </a:prstGeom>
          <a:noFill/>
        </p:spPr>
        <p:txBody>
          <a:bodyPr wrap="square">
            <a:spAutoFit/>
          </a:bodyPr>
          <a:lstStyle/>
          <a:p>
            <a:pPr>
              <a:buClr>
                <a:srgbClr val="92D050"/>
              </a:buClr>
            </a:pPr>
            <a:r>
              <a:rPr lang="en-US" sz="2000" b="1" dirty="0">
                <a:solidFill>
                  <a:schemeClr val="accent1">
                    <a:lumMod val="60000"/>
                    <a:lumOff val="40000"/>
                  </a:schemeClr>
                </a:solidFill>
                <a:latin typeface="Castellar" panose="020A0402060406010301" pitchFamily="18" charset="0"/>
              </a:rPr>
              <a:t>About Chart: </a:t>
            </a:r>
            <a:r>
              <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Calibri" panose="020F0502020204030204" pitchFamily="34" charset="0"/>
                <a:ea typeface="Calibri" panose="020F0502020204030204" pitchFamily="34" charset="0"/>
                <a:cs typeface="Calibri" panose="020F0502020204030204" pitchFamily="34" charset="0"/>
              </a:rPr>
              <a:t>1st</a:t>
            </a:r>
            <a:r>
              <a:rPr lang="en-US" dirty="0"/>
              <a:t> KPI: Represents the total potential revenue in the pipeline. </a:t>
            </a:r>
            <a:r>
              <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Calibri" panose="020F0502020204030204" pitchFamily="34" charset="0"/>
                <a:ea typeface="Calibri" panose="020F0502020204030204" pitchFamily="34" charset="0"/>
                <a:cs typeface="Calibri" panose="020F0502020204030204" pitchFamily="34" charset="0"/>
              </a:rPr>
              <a:t>2nd </a:t>
            </a:r>
            <a:r>
              <a:rPr lang="en-US" dirty="0"/>
              <a:t>KPI: Shows the number of deals currently being pursued. </a:t>
            </a:r>
            <a:r>
              <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Calibri" panose="020F0502020204030204" pitchFamily="34" charset="0"/>
                <a:ea typeface="Calibri" panose="020F0502020204030204" pitchFamily="34" charset="0"/>
                <a:cs typeface="Calibri" panose="020F0502020204030204" pitchFamily="34" charset="0"/>
              </a:rPr>
              <a:t>3rd</a:t>
            </a:r>
            <a:r>
              <a:rPr lang="en-US" dirty="0"/>
              <a:t> KPI: Indicates how many leads successfully turn into closed deals. </a:t>
            </a:r>
            <a:r>
              <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Calibri" panose="020F0502020204030204" pitchFamily="34" charset="0"/>
                <a:ea typeface="Calibri" panose="020F0502020204030204" pitchFamily="34" charset="0"/>
                <a:cs typeface="Calibri" panose="020F0502020204030204" pitchFamily="34" charset="0"/>
              </a:rPr>
              <a:t>4th</a:t>
            </a:r>
            <a:r>
              <a:rPr lang="en-US" dirty="0"/>
              <a:t> KPI: Reflects the percentage of opportunities that result in successful closures. </a:t>
            </a:r>
            <a:r>
              <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Calibri" panose="020F0502020204030204" pitchFamily="34" charset="0"/>
                <a:ea typeface="Calibri" panose="020F0502020204030204" pitchFamily="34" charset="0"/>
                <a:cs typeface="Calibri" panose="020F0502020204030204" pitchFamily="34" charset="0"/>
              </a:rPr>
              <a:t>5th</a:t>
            </a:r>
            <a:r>
              <a:rPr lang="en-US" dirty="0"/>
              <a:t> KPI: Highlights the proportion of opportunities that end unsuccessfully.</a:t>
            </a:r>
            <a:endParaRPr lang="en-US"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endParaRPr>
          </a:p>
        </p:txBody>
      </p:sp>
      <p:sp>
        <p:nvSpPr>
          <p:cNvPr id="6" name="TextBox 5">
            <a:extLst>
              <a:ext uri="{FF2B5EF4-FFF2-40B4-BE49-F238E27FC236}">
                <a16:creationId xmlns:a16="http://schemas.microsoft.com/office/drawing/2014/main" id="{BAB0C371-83B3-4AEE-AF70-169434458342}"/>
              </a:ext>
            </a:extLst>
          </p:cNvPr>
          <p:cNvSpPr txBox="1"/>
          <p:nvPr/>
        </p:nvSpPr>
        <p:spPr>
          <a:xfrm>
            <a:off x="0" y="2518350"/>
            <a:ext cx="12270658" cy="4339650"/>
          </a:xfrm>
          <a:prstGeom prst="rect">
            <a:avLst/>
          </a:prstGeom>
          <a:noFill/>
        </p:spPr>
        <p:txBody>
          <a:bodyPr wrap="square">
            <a:spAutoFit/>
          </a:bodyPr>
          <a:lstStyle/>
          <a:p>
            <a:pPr>
              <a:buClr>
                <a:srgbClr val="92D050"/>
              </a:buClr>
            </a:pPr>
            <a:r>
              <a:rPr lang="en-IN" sz="2000" b="1" dirty="0">
                <a:solidFill>
                  <a:schemeClr val="accent5">
                    <a:lumMod val="75000"/>
                  </a:schemeClr>
                </a:solidFill>
                <a:latin typeface="Castellar" panose="020A0402060406010301" pitchFamily="18" charset="0"/>
              </a:rPr>
              <a:t>Observation</a:t>
            </a:r>
            <a:r>
              <a:rPr lang="en-IN" dirty="0"/>
              <a:t>: </a:t>
            </a:r>
            <a:r>
              <a:rPr lang="en-US" dirty="0"/>
              <a:t>Indicates a very high strong potential revenue, but it’s only meaningful if opportunities are actively progressing. A large number of opportunities shows strong market engagement, but it risks spreading sales efforts too thin. Extremely low conversion suggests a gap between lead generation and deal closure. Nearly half of pursued deals are won, which is a solid performance benchmark. A significant portion of opportunities are lost, highlighting competitive or process challenges.</a:t>
            </a:r>
            <a:endPar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endParaRPr>
          </a:p>
          <a:p>
            <a:pPr>
              <a:buClr>
                <a:srgbClr val="92D050"/>
              </a:buClr>
            </a:pPr>
            <a:endParaRPr lang="en-US" dirty="0"/>
          </a:p>
          <a:p>
            <a:pPr>
              <a:buClr>
                <a:srgbClr val="92D050"/>
              </a:buClr>
            </a:pPr>
            <a:r>
              <a:rPr lang="en-IN" sz="2000" b="1" dirty="0">
                <a:solidFill>
                  <a:schemeClr val="accent5">
                    <a:lumMod val="75000"/>
                  </a:schemeClr>
                </a:solidFill>
                <a:latin typeface="Castellar" panose="020A0402060406010301" pitchFamily="18" charset="0"/>
              </a:rPr>
              <a:t>Suggestion</a:t>
            </a:r>
            <a:r>
              <a:rPr lang="en-IN" dirty="0"/>
              <a:t>: </a:t>
            </a:r>
            <a:r>
              <a:rPr lang="en-US" dirty="0"/>
              <a:t>Prioritize high‑value deals with structured follow‑ups and allocate resources to accounts contributing most to this figure. Segment opportunities by value and stage to ensure effort is directed toward the most promising deals. Reassess lead qualification criteria and strengthen nurturing strategies to improve conversion. Analyze winning deal patterns (industry, product, approach) and replicate them across other opportunities. Conduct win/loss analysis to identify recurring reasons for losses and address them proactively.</a:t>
            </a:r>
            <a:endPar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endParaRPr>
          </a:p>
          <a:p>
            <a:pPr>
              <a:buClr>
                <a:srgbClr val="92D050"/>
              </a:buClr>
            </a:pPr>
            <a:endParaRPr lang="en-US" dirty="0"/>
          </a:p>
          <a:p>
            <a:pPr>
              <a:buClr>
                <a:srgbClr val="92D050"/>
              </a:buClr>
            </a:pPr>
            <a:r>
              <a:rPr lang="en-IN" sz="2000" b="1" dirty="0">
                <a:solidFill>
                  <a:schemeClr val="accent5">
                    <a:lumMod val="75000"/>
                  </a:schemeClr>
                </a:solidFill>
                <a:latin typeface="Castellar" panose="020A0402060406010301" pitchFamily="18" charset="0"/>
              </a:rPr>
              <a:t>Conclusion</a:t>
            </a:r>
            <a:r>
              <a:rPr lang="en-IN" dirty="0"/>
              <a:t>: </a:t>
            </a:r>
            <a:r>
              <a:rPr lang="en-US" dirty="0"/>
              <a:t>The pipeline is healthy, but conversion focus is essential to realize this expected revenue. Volume is strong, but strategic prioritization will maximize efficiency and outcomes. Current conversion is weak; refining lead quality and sales processes is critical. Win rate is healthy, but scaling best practices can push it even higher. Reducing loss rate is as important as increasing wins; targeted improvements can unlock hidden revenue.</a:t>
            </a:r>
            <a:endPar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endParaRPr>
          </a:p>
        </p:txBody>
      </p:sp>
      <p:pic>
        <p:nvPicPr>
          <p:cNvPr id="3" name="Picture 2">
            <a:extLst>
              <a:ext uri="{FF2B5EF4-FFF2-40B4-BE49-F238E27FC236}">
                <a16:creationId xmlns:a16="http://schemas.microsoft.com/office/drawing/2014/main" id="{5647B4B7-C78D-A2FF-462C-4CF9E9F9DBC9}"/>
              </a:ext>
            </a:extLst>
          </p:cNvPr>
          <p:cNvPicPr>
            <a:picLocks noChangeAspect="1"/>
          </p:cNvPicPr>
          <p:nvPr/>
        </p:nvPicPr>
        <p:blipFill>
          <a:blip r:embed="rId2"/>
          <a:srcRect b="8412"/>
          <a:stretch>
            <a:fillRect/>
          </a:stretch>
        </p:blipFill>
        <p:spPr>
          <a:xfrm>
            <a:off x="89649" y="1422125"/>
            <a:ext cx="12012701" cy="1096225"/>
          </a:xfrm>
          <a:prstGeom prst="rect">
            <a:avLst/>
          </a:prstGeom>
        </p:spPr>
      </p:pic>
    </p:spTree>
    <p:extLst>
      <p:ext uri="{BB962C8B-B14F-4D97-AF65-F5344CB8AC3E}">
        <p14:creationId xmlns:p14="http://schemas.microsoft.com/office/powerpoint/2010/main" val="4024642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7130" y="73988"/>
            <a:ext cx="9500077" cy="660669"/>
          </a:xfrm>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a:bodyPr>
          <a:lstStyle/>
          <a:p>
            <a:pPr algn="ctr"/>
            <a:r>
              <a:rPr lang="en-IN" sz="4000">
                <a:ln w="13462">
                  <a:solidFill>
                    <a:schemeClr val="bg1"/>
                  </a:solidFill>
                  <a:prstDash val="solid"/>
                </a:ln>
                <a:solidFill>
                  <a:schemeClr val="tx2">
                    <a:lumMod val="90000"/>
                  </a:schemeClr>
                </a:solidFill>
                <a:effectLst>
                  <a:outerShdw blurRad="38100" dist="38100" dir="2700000" algn="tl">
                    <a:srgbClr val="000000">
                      <a:alpha val="43137"/>
                    </a:srgbClr>
                  </a:outerShdw>
                </a:effectLst>
                <a:latin typeface="Eras Demi ITC" panose="020B0805030504020804" pitchFamily="34" charset="0"/>
                <a:ea typeface="Calibri" panose="020F0502020204030204"/>
                <a:cs typeface="Calibri" panose="020F0502020204030204"/>
              </a:rPr>
              <a:t>KPI Insights</a:t>
            </a:r>
            <a:r>
              <a:rPr lang="en-IN" sz="4000" dirty="0">
                <a:ln w="13462">
                  <a:solidFill>
                    <a:schemeClr val="bg1"/>
                  </a:solidFill>
                  <a:prstDash val="solid"/>
                </a:ln>
                <a:solidFill>
                  <a:schemeClr val="tx2">
                    <a:lumMod val="90000"/>
                  </a:schemeClr>
                </a:solidFill>
                <a:effectLst>
                  <a:outerShdw blurRad="38100" dist="38100" dir="2700000" algn="tl">
                    <a:srgbClr val="000000">
                      <a:alpha val="43137"/>
                    </a:srgbClr>
                  </a:outerShdw>
                </a:effectLst>
                <a:latin typeface="Eras Demi ITC" panose="020B0805030504020804" pitchFamily="34" charset="0"/>
                <a:ea typeface="Calibri" panose="020F0502020204030204"/>
                <a:cs typeface="Calibri" panose="020F0502020204030204"/>
              </a:rPr>
              <a:t>(</a:t>
            </a:r>
            <a:r>
              <a:rPr lang="en-IN" sz="4000">
                <a:ln w="13462">
                  <a:solidFill>
                    <a:schemeClr val="bg1"/>
                  </a:solidFill>
                  <a:prstDash val="solid"/>
                </a:ln>
                <a:solidFill>
                  <a:schemeClr val="tx2">
                    <a:lumMod val="90000"/>
                  </a:schemeClr>
                </a:solidFill>
                <a:effectLst>
                  <a:outerShdw blurRad="38100" dist="38100" dir="2700000" algn="tl">
                    <a:srgbClr val="000000">
                      <a:alpha val="43137"/>
                    </a:srgbClr>
                  </a:outerShdw>
                </a:effectLst>
                <a:latin typeface="Eras Demi ITC" panose="020B0805030504020804" pitchFamily="34" charset="0"/>
                <a:ea typeface="Calibri" panose="020F0502020204030204"/>
                <a:cs typeface="Calibri" panose="020F0502020204030204"/>
              </a:rPr>
              <a:t>Opportunity)</a:t>
            </a:r>
            <a:endParaRPr lang="en-IN" sz="4000" dirty="0">
              <a:ln w="13462">
                <a:solidFill>
                  <a:schemeClr val="bg1"/>
                </a:solidFill>
                <a:prstDash val="solid"/>
              </a:ln>
              <a:solidFill>
                <a:schemeClr val="tx2">
                  <a:lumMod val="90000"/>
                </a:schemeClr>
              </a:solidFill>
              <a:effectLst>
                <a:outerShdw blurRad="38100" dist="38100" dir="2700000" algn="tl">
                  <a:srgbClr val="000000">
                    <a:alpha val="43137"/>
                  </a:srgbClr>
                </a:outerShdw>
              </a:effectLst>
              <a:latin typeface="Eras Demi ITC" panose="020B0805030504020804" pitchFamily="34" charset="0"/>
              <a:ea typeface="Calibri" panose="020F0502020204030204"/>
              <a:cs typeface="Calibri" panose="020F0502020204030204"/>
            </a:endParaRPr>
          </a:p>
        </p:txBody>
      </p:sp>
      <p:sp>
        <p:nvSpPr>
          <p:cNvPr id="4" name="TextBox 3"/>
          <p:cNvSpPr txBox="1"/>
          <p:nvPr/>
        </p:nvSpPr>
        <p:spPr>
          <a:xfrm>
            <a:off x="199434" y="735161"/>
            <a:ext cx="9684795" cy="400110"/>
          </a:xfrm>
          <a:prstGeom prst="rect">
            <a:avLst/>
          </a:prstGeom>
          <a:noFill/>
        </p:spPr>
        <p:txBody>
          <a:bodyPr wrap="square" rtlCol="0">
            <a:spAutoFit/>
          </a:bodyPr>
          <a:lstStyle/>
          <a:p>
            <a:r>
              <a:rPr lang="en-US" sz="2000" b="1" dirty="0">
                <a:solidFill>
                  <a:schemeClr val="accent1">
                    <a:lumMod val="60000"/>
                    <a:lumOff val="40000"/>
                  </a:schemeClr>
                </a:solidFill>
                <a:latin typeface="Castellar" panose="020A0402060406010301" pitchFamily="18" charset="0"/>
              </a:rPr>
              <a:t>KPI 6 </a:t>
            </a:r>
            <a:r>
              <a:rPr lang="en-US" sz="2000" b="1" dirty="0">
                <a:solidFill>
                  <a:schemeClr val="accent1">
                    <a:lumMod val="60000"/>
                    <a:lumOff val="40000"/>
                  </a:schemeClr>
                </a:solidFill>
                <a:latin typeface="Calibri" panose="020F0502020204030204" pitchFamily="34" charset="0"/>
                <a:ea typeface="Calibri" panose="020F0502020204030204" pitchFamily="34" charset="0"/>
                <a:cs typeface="Calibri" panose="020F0502020204030204" pitchFamily="34" charset="0"/>
              </a:rPr>
              <a:t>:-OPPORTUNITY BY STAGE</a:t>
            </a:r>
            <a:r>
              <a:rPr lang="en-US" sz="2000" b="1" dirty="0">
                <a:solidFill>
                  <a:schemeClr val="accent1">
                    <a:lumMod val="60000"/>
                    <a:lumOff val="40000"/>
                  </a:schemeClr>
                </a:solidFill>
                <a:latin typeface="Castellar" panose="020A0402060406010301" pitchFamily="18" charset="0"/>
                <a:ea typeface="Calibri" panose="020F0502020204030204" pitchFamily="34" charset="0"/>
                <a:cs typeface="Calibri" panose="020F0502020204030204" pitchFamily="34" charset="0"/>
              </a:rPr>
              <a:t> </a:t>
            </a:r>
            <a:endParaRPr lang="en-IN" sz="2000" b="1" dirty="0">
              <a:solidFill>
                <a:schemeClr val="accent1">
                  <a:lumMod val="60000"/>
                  <a:lumOff val="40000"/>
                </a:schemeClr>
              </a:solidFill>
              <a:latin typeface="Castellar" panose="020A0402060406010301" pitchFamily="18" charset="0"/>
            </a:endParaRPr>
          </a:p>
        </p:txBody>
      </p:sp>
      <p:sp>
        <p:nvSpPr>
          <p:cNvPr id="8" name="TextBox 7">
            <a:extLst>
              <a:ext uri="{FF2B5EF4-FFF2-40B4-BE49-F238E27FC236}">
                <a16:creationId xmlns:a16="http://schemas.microsoft.com/office/drawing/2014/main" id="{3655B0E4-8984-4AE5-B5A4-54BB492B72BF}"/>
              </a:ext>
            </a:extLst>
          </p:cNvPr>
          <p:cNvSpPr txBox="1"/>
          <p:nvPr/>
        </p:nvSpPr>
        <p:spPr>
          <a:xfrm>
            <a:off x="5817169" y="1918656"/>
            <a:ext cx="6021239" cy="4339650"/>
          </a:xfrm>
          <a:prstGeom prst="rect">
            <a:avLst/>
          </a:prstGeom>
          <a:noFill/>
        </p:spPr>
        <p:txBody>
          <a:bodyPr wrap="square">
            <a:spAutoFit/>
          </a:bodyPr>
          <a:lstStyle/>
          <a:p>
            <a:pPr>
              <a:buClr>
                <a:srgbClr val="92D050"/>
              </a:buClr>
            </a:pPr>
            <a:r>
              <a:rPr lang="en-IN" sz="2000" b="1" dirty="0">
                <a:solidFill>
                  <a:schemeClr val="accent5"/>
                </a:solidFill>
                <a:latin typeface="Castellar" panose="020A0402060406010301" pitchFamily="18" charset="0"/>
              </a:rPr>
              <a:t>Observation</a:t>
            </a:r>
            <a:r>
              <a:rPr lang="en-IN" dirty="0"/>
              <a:t>:</a:t>
            </a:r>
            <a:r>
              <a:rPr lang="en-US" b="1" dirty="0">
                <a:latin typeface="Aptos Display" panose="020B0004020202020204" pitchFamily="34" charset="0"/>
              </a:rPr>
              <a:t>The largest visual segment dominates at 40.57% (370 opportunities), while another substantial phase holds 38.38% (350 opportunities). A small sliver sits at just 3.07% (28opportunities). This shows an extreme concentration of deals clustered in two primary stages</a:t>
            </a:r>
            <a:r>
              <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rPr>
              <a:t>.</a:t>
            </a:r>
          </a:p>
          <a:p>
            <a:pPr>
              <a:buClr>
                <a:srgbClr val="92D050"/>
              </a:buClr>
            </a:pPr>
            <a:endParaRPr lang="en-US" dirty="0"/>
          </a:p>
          <a:p>
            <a:pPr>
              <a:buClr>
                <a:srgbClr val="92D050"/>
              </a:buClr>
            </a:pPr>
            <a:r>
              <a:rPr lang="en-IN" sz="2000" b="1" dirty="0">
                <a:solidFill>
                  <a:schemeClr val="accent5"/>
                </a:solidFill>
                <a:latin typeface="Castellar" panose="020A0402060406010301" pitchFamily="18" charset="0"/>
              </a:rPr>
              <a:t>Suggestion</a:t>
            </a:r>
            <a:r>
              <a:rPr lang="en-IN" dirty="0"/>
              <a:t>:</a:t>
            </a:r>
            <a:r>
              <a:rPr lang="en-US" b="1" dirty="0">
                <a:latin typeface="Aptos Display" panose="020B0004020202020204" pitchFamily="34" charset="0"/>
              </a:rPr>
              <a:t>Define rigid, milestone-based "exit criteria" for the two heavily congested stages. Do not allow reps to manually advance a deal until the prospect has taken a verified, high-intent action.</a:t>
            </a:r>
          </a:p>
          <a:p>
            <a:pPr>
              <a:buClr>
                <a:srgbClr val="92D050"/>
              </a:buClr>
            </a:pPr>
            <a:endParaRPr lang="en-US" b="1" dirty="0">
              <a:latin typeface="Aptos Display" panose="020B0004020202020204" pitchFamily="34" charset="0"/>
            </a:endParaRPr>
          </a:p>
          <a:p>
            <a:pPr>
              <a:buClr>
                <a:srgbClr val="92D050"/>
              </a:buClr>
            </a:pPr>
            <a:r>
              <a:rPr lang="en-IN" sz="2000" b="1" dirty="0">
                <a:solidFill>
                  <a:schemeClr val="accent5"/>
                </a:solidFill>
                <a:latin typeface="Castellar" panose="020A0402060406010301" pitchFamily="18" charset="0"/>
              </a:rPr>
              <a:t>Conclusion</a:t>
            </a:r>
            <a:r>
              <a:rPr lang="en-IN" dirty="0"/>
              <a:t>:</a:t>
            </a:r>
            <a:r>
              <a:rPr lang="en-US" b="1" dirty="0">
                <a:latin typeface="Aptos Display" panose="020B0004020202020204" pitchFamily="34" charset="0"/>
              </a:rPr>
              <a:t>The pipeline's volume is bottlenecked heavily inside specific stages. Clearing these massive operational blocks will smooth out the sales cycle and create a more predictable revenue flow</a:t>
            </a:r>
            <a:r>
              <a:rPr lang="en-US" dirty="0">
                <a:latin typeface="Aptos Display" panose="020B0004020202020204" pitchFamily="34" charset="0"/>
              </a:rPr>
              <a:t>.</a:t>
            </a:r>
            <a:endPar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Aptos Display" panose="020B0004020202020204" pitchFamily="34" charset="0"/>
            </a:endParaRPr>
          </a:p>
        </p:txBody>
      </p:sp>
      <p:sp>
        <p:nvSpPr>
          <p:cNvPr id="10" name="TextBox 9">
            <a:extLst>
              <a:ext uri="{FF2B5EF4-FFF2-40B4-BE49-F238E27FC236}">
                <a16:creationId xmlns:a16="http://schemas.microsoft.com/office/drawing/2014/main" id="{73AD9854-7AC4-31A9-516C-0A359863480E}"/>
              </a:ext>
            </a:extLst>
          </p:cNvPr>
          <p:cNvSpPr txBox="1"/>
          <p:nvPr/>
        </p:nvSpPr>
        <p:spPr>
          <a:xfrm>
            <a:off x="199434" y="1209763"/>
            <a:ext cx="11793132" cy="707886"/>
          </a:xfrm>
          <a:prstGeom prst="rect">
            <a:avLst/>
          </a:prstGeom>
          <a:noFill/>
        </p:spPr>
        <p:txBody>
          <a:bodyPr wrap="square">
            <a:spAutoFit/>
          </a:bodyPr>
          <a:lstStyle/>
          <a:p>
            <a:pPr>
              <a:buClr>
                <a:srgbClr val="92D050"/>
              </a:buClr>
            </a:pPr>
            <a:r>
              <a:rPr lang="en-US" sz="2000" b="1" dirty="0">
                <a:solidFill>
                  <a:schemeClr val="accent5"/>
                </a:solidFill>
                <a:latin typeface="Castellar" panose="020A0402060406010301" pitchFamily="18" charset="0"/>
              </a:rPr>
              <a:t>About Chart</a:t>
            </a:r>
            <a:r>
              <a:rPr lang="en-US" sz="2000" b="1" dirty="0">
                <a:solidFill>
                  <a:schemeClr val="accent1">
                    <a:lumMod val="60000"/>
                    <a:lumOff val="40000"/>
                  </a:schemeClr>
                </a:solidFill>
                <a:latin typeface="Castellar" panose="020A0402060406010301" pitchFamily="18" charset="0"/>
              </a:rPr>
              <a:t>: </a:t>
            </a:r>
            <a:r>
              <a:rPr lang="en-US" sz="2000" b="1" dirty="0">
                <a:latin typeface="Aptos Display" panose="020B0004020202020204" pitchFamily="34" charset="0"/>
              </a:rPr>
              <a:t>This donut chart visualizes how your total opportunity volume is divided percentage-wise across the different developmental phases of your sales pipeline</a:t>
            </a:r>
            <a:r>
              <a:rPr lang="en-US" sz="2000" b="1" dirty="0">
                <a:solidFill>
                  <a:schemeClr val="accent1">
                    <a:lumMod val="60000"/>
                    <a:lumOff val="40000"/>
                  </a:schemeClr>
                </a:solidFill>
                <a:latin typeface="Castellar" panose="020A0402060406010301" pitchFamily="18" charset="0"/>
              </a:rPr>
              <a:t>.</a:t>
            </a:r>
            <a:endPar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endParaRPr>
          </a:p>
        </p:txBody>
      </p:sp>
      <p:pic>
        <p:nvPicPr>
          <p:cNvPr id="5" name="Picture 4">
            <a:extLst>
              <a:ext uri="{FF2B5EF4-FFF2-40B4-BE49-F238E27FC236}">
                <a16:creationId xmlns:a16="http://schemas.microsoft.com/office/drawing/2014/main" id="{37BB71AC-CDE9-72D5-F019-75BE0AB8536C}"/>
              </a:ext>
            </a:extLst>
          </p:cNvPr>
          <p:cNvPicPr>
            <a:picLocks noChangeAspect="1"/>
          </p:cNvPicPr>
          <p:nvPr/>
        </p:nvPicPr>
        <p:blipFill>
          <a:blip r:embed="rId2"/>
          <a:srcRect l="1164"/>
          <a:stretch>
            <a:fillRect/>
          </a:stretch>
        </p:blipFill>
        <p:spPr>
          <a:xfrm>
            <a:off x="353592" y="2251048"/>
            <a:ext cx="5309419" cy="400725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8"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6746" y="206123"/>
            <a:ext cx="4807855" cy="400110"/>
          </a:xfrm>
          <a:prstGeom prst="rect">
            <a:avLst/>
          </a:prstGeom>
          <a:noFill/>
        </p:spPr>
        <p:txBody>
          <a:bodyPr wrap="none" rtlCol="0">
            <a:spAutoFit/>
          </a:bodyPr>
          <a:lstStyle/>
          <a:p>
            <a:r>
              <a:rPr lang="en-US" sz="2000" b="1" dirty="0">
                <a:solidFill>
                  <a:schemeClr val="accent1">
                    <a:lumMod val="60000"/>
                    <a:lumOff val="40000"/>
                  </a:schemeClr>
                </a:solidFill>
                <a:latin typeface="Castellar" panose="020A0402060406010301" pitchFamily="18" charset="0"/>
              </a:rPr>
              <a:t>KPI-7 </a:t>
            </a:r>
            <a:r>
              <a:rPr lang="en-US" sz="2000" b="1" dirty="0">
                <a:solidFill>
                  <a:schemeClr val="accent1">
                    <a:lumMod val="60000"/>
                    <a:lumOff val="40000"/>
                  </a:schemeClr>
                </a:solidFill>
                <a:latin typeface="Calibri" panose="020F0502020204030204" pitchFamily="34" charset="0"/>
                <a:ea typeface="Calibri" panose="020F0502020204030204" pitchFamily="34" charset="0"/>
                <a:cs typeface="Calibri" panose="020F0502020204030204" pitchFamily="34" charset="0"/>
              </a:rPr>
              <a:t>:-ACTIVE VS TOTAL OPPORTUNITIES </a:t>
            </a:r>
            <a:endParaRPr lang="en-IN" sz="2000" b="1" dirty="0">
              <a:solidFill>
                <a:schemeClr val="accent1">
                  <a:lumMod val="60000"/>
                  <a:lumOff val="40000"/>
                </a:schemeClr>
              </a:solidFill>
              <a:latin typeface="Castellar" panose="020A0402060406010301" pitchFamily="18" charset="0"/>
            </a:endParaRPr>
          </a:p>
        </p:txBody>
      </p:sp>
      <p:sp>
        <p:nvSpPr>
          <p:cNvPr id="6" name="TextBox 5">
            <a:extLst>
              <a:ext uri="{FF2B5EF4-FFF2-40B4-BE49-F238E27FC236}">
                <a16:creationId xmlns:a16="http://schemas.microsoft.com/office/drawing/2014/main" id="{CB46A821-C129-41D5-A466-0F17B7F66212}"/>
              </a:ext>
            </a:extLst>
          </p:cNvPr>
          <p:cNvSpPr txBox="1"/>
          <p:nvPr/>
        </p:nvSpPr>
        <p:spPr>
          <a:xfrm>
            <a:off x="6096000" y="1787519"/>
            <a:ext cx="5867398" cy="4339650"/>
          </a:xfrm>
          <a:prstGeom prst="rect">
            <a:avLst/>
          </a:prstGeom>
          <a:noFill/>
        </p:spPr>
        <p:txBody>
          <a:bodyPr wrap="square">
            <a:spAutoFit/>
          </a:bodyPr>
          <a:lstStyle/>
          <a:p>
            <a:pPr>
              <a:buClr>
                <a:srgbClr val="92D050"/>
              </a:buClr>
            </a:pPr>
            <a:r>
              <a:rPr lang="en-IN" sz="2000" b="1" dirty="0">
                <a:solidFill>
                  <a:schemeClr val="accent5"/>
                </a:solidFill>
                <a:latin typeface="Castellar" panose="020A0402060406010301" pitchFamily="18" charset="0"/>
              </a:rPr>
              <a:t>Observation</a:t>
            </a:r>
            <a:r>
              <a:rPr lang="en-IN" dirty="0"/>
              <a:t>:</a:t>
            </a:r>
            <a:r>
              <a:rPr lang="en-US" b="1" dirty="0">
                <a:latin typeface="Aptos Display" panose="020B0004020202020204" pitchFamily="34" charset="0"/>
              </a:rPr>
              <a:t>The chart shows a steady, continuous upward climb from April 2019 through October 2019, with active opportunities scaling up to a high point of 912. The close alignment of the lines shows that active volume is driving total volume growth.</a:t>
            </a:r>
          </a:p>
          <a:p>
            <a:pPr>
              <a:buClr>
                <a:srgbClr val="92D050"/>
              </a:buClr>
            </a:pPr>
            <a:endParaRPr lang="en-US" dirty="0">
              <a:latin typeface="Aptos Display" panose="020B0004020202020204" pitchFamily="34" charset="0"/>
            </a:endParaRPr>
          </a:p>
          <a:p>
            <a:r>
              <a:rPr lang="en-IN" sz="2000" b="1" dirty="0">
                <a:solidFill>
                  <a:schemeClr val="accent5"/>
                </a:solidFill>
                <a:latin typeface="Castellar" panose="020A0402060406010301" pitchFamily="18" charset="0"/>
              </a:rPr>
              <a:t>Suggestion</a:t>
            </a:r>
            <a:r>
              <a:rPr lang="en-IN" dirty="0">
                <a:latin typeface="Aptos Display" panose="020B0004020202020204" pitchFamily="34" charset="0"/>
              </a:rPr>
              <a:t>:</a:t>
            </a:r>
            <a:r>
              <a:rPr lang="en-US" dirty="0">
                <a:latin typeface="Aptos Display" panose="020B0004020202020204" pitchFamily="34" charset="0"/>
              </a:rPr>
              <a:t> </a:t>
            </a:r>
            <a:r>
              <a:rPr lang="en-US" b="1" dirty="0">
                <a:latin typeface="Aptos Display" panose="020B0004020202020204" pitchFamily="34" charset="0"/>
              </a:rPr>
              <a:t>Ensure</a:t>
            </a:r>
            <a:r>
              <a:rPr lang="en-US" dirty="0">
                <a:latin typeface="Aptos Display" panose="020B0004020202020204" pitchFamily="34" charset="0"/>
              </a:rPr>
              <a:t> </a:t>
            </a:r>
            <a:r>
              <a:rPr lang="en-US" b="1" dirty="0">
                <a:latin typeface="Aptos Display" panose="020B0004020202020204" pitchFamily="34" charset="0"/>
              </a:rPr>
              <a:t>your sales velocity keeps up with this rapid incline. Introduce automated customer journeys or pipeline management triggers to make sure deals continue to move forward as numbers scale</a:t>
            </a:r>
            <a:r>
              <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Aptos Display" panose="020B0004020202020204" pitchFamily="34" charset="0"/>
              </a:rPr>
              <a:t>.</a:t>
            </a:r>
          </a:p>
          <a:p>
            <a:endParaRPr lang="en-US" dirty="0">
              <a:latin typeface="Aptos Display" panose="020B0004020202020204" pitchFamily="34" charset="0"/>
            </a:endParaRPr>
          </a:p>
          <a:p>
            <a:pPr>
              <a:buClr>
                <a:srgbClr val="92D050"/>
              </a:buClr>
            </a:pPr>
            <a:r>
              <a:rPr lang="en-IN" sz="2000" b="1" dirty="0">
                <a:solidFill>
                  <a:schemeClr val="accent5"/>
                </a:solidFill>
                <a:latin typeface="Castellar" panose="020A0402060406010301" pitchFamily="18" charset="0"/>
              </a:rPr>
              <a:t>Conclusion</a:t>
            </a:r>
            <a:r>
              <a:rPr lang="en-IN" dirty="0">
                <a:latin typeface="Aptos Display" panose="020B0004020202020204" pitchFamily="34" charset="0"/>
              </a:rPr>
              <a:t>:</a:t>
            </a:r>
            <a:r>
              <a:rPr lang="en-US" b="1" dirty="0">
                <a:latin typeface="Aptos Display" panose="020B0004020202020204" pitchFamily="34" charset="0"/>
              </a:rPr>
              <a:t>Pipeline growth is accelerating at a highly consistent, impressive pace over time. Maintaining strict operational control over this expanding volume will ensure that growth translates directly into cash</a:t>
            </a:r>
            <a:r>
              <a:rPr lang="en-US" dirty="0"/>
              <a:t>.</a:t>
            </a:r>
            <a:endPar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endParaRPr>
          </a:p>
        </p:txBody>
      </p:sp>
      <p:sp>
        <p:nvSpPr>
          <p:cNvPr id="8" name="TextBox 7">
            <a:extLst>
              <a:ext uri="{FF2B5EF4-FFF2-40B4-BE49-F238E27FC236}">
                <a16:creationId xmlns:a16="http://schemas.microsoft.com/office/drawing/2014/main" id="{384E031F-C627-46B0-ED10-8E190ADC390E}"/>
              </a:ext>
            </a:extLst>
          </p:cNvPr>
          <p:cNvSpPr txBox="1"/>
          <p:nvPr/>
        </p:nvSpPr>
        <p:spPr>
          <a:xfrm>
            <a:off x="156746" y="683241"/>
            <a:ext cx="11806653" cy="677108"/>
          </a:xfrm>
          <a:prstGeom prst="rect">
            <a:avLst/>
          </a:prstGeom>
          <a:noFill/>
        </p:spPr>
        <p:txBody>
          <a:bodyPr wrap="square">
            <a:spAutoFit/>
          </a:bodyPr>
          <a:lstStyle/>
          <a:p>
            <a:pPr>
              <a:buClr>
                <a:srgbClr val="92D050"/>
              </a:buClr>
            </a:pPr>
            <a:r>
              <a:rPr lang="en-US" sz="2000" b="1" dirty="0">
                <a:solidFill>
                  <a:schemeClr val="accent5">
                    <a:lumMod val="75000"/>
                  </a:schemeClr>
                </a:solidFill>
                <a:latin typeface="Castellar" panose="020A0402060406010301" pitchFamily="18" charset="0"/>
              </a:rPr>
              <a:t>About</a:t>
            </a:r>
            <a:r>
              <a:rPr lang="en-US" b="1" dirty="0">
                <a:solidFill>
                  <a:schemeClr val="accent1">
                    <a:lumMod val="60000"/>
                    <a:lumOff val="40000"/>
                  </a:schemeClr>
                </a:solidFill>
                <a:latin typeface="Castellar" panose="020A0402060406010301" pitchFamily="18" charset="0"/>
              </a:rPr>
              <a:t> </a:t>
            </a:r>
            <a:r>
              <a:rPr lang="en-US" sz="2000" b="1" dirty="0">
                <a:solidFill>
                  <a:schemeClr val="accent5">
                    <a:lumMod val="75000"/>
                  </a:schemeClr>
                </a:solidFill>
                <a:latin typeface="Castellar" panose="020A0402060406010301" pitchFamily="18" charset="0"/>
              </a:rPr>
              <a:t>Chart</a:t>
            </a:r>
            <a:r>
              <a:rPr lang="en-US" b="1" dirty="0">
                <a:solidFill>
                  <a:schemeClr val="accent1">
                    <a:lumMod val="60000"/>
                    <a:lumOff val="40000"/>
                  </a:schemeClr>
                </a:solidFill>
                <a:latin typeface="Castellar" panose="020A0402060406010301" pitchFamily="18" charset="0"/>
              </a:rPr>
              <a:t>: </a:t>
            </a:r>
            <a:r>
              <a:rPr lang="en-US" b="1" dirty="0">
                <a:latin typeface="Aptos Display" panose="020B0004020202020204" pitchFamily="34" charset="0"/>
              </a:rPr>
              <a:t>This dual-line trend chart maps the chronological growth of total cumulative opportunities created against the subset of active, ongoing opportunities throughout 2019</a:t>
            </a:r>
            <a:r>
              <a:rPr lang="en-US" b="1" dirty="0">
                <a:solidFill>
                  <a:schemeClr val="accent1">
                    <a:lumMod val="60000"/>
                    <a:lumOff val="40000"/>
                  </a:schemeClr>
                </a:solidFill>
                <a:latin typeface="Castellar" panose="020A0402060406010301" pitchFamily="18" charset="0"/>
              </a:rPr>
              <a:t>.</a:t>
            </a:r>
            <a:endParaRPr lang="en-US"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endParaRPr>
          </a:p>
        </p:txBody>
      </p:sp>
      <p:pic>
        <p:nvPicPr>
          <p:cNvPr id="9" name="Picture 8">
            <a:extLst>
              <a:ext uri="{FF2B5EF4-FFF2-40B4-BE49-F238E27FC236}">
                <a16:creationId xmlns:a16="http://schemas.microsoft.com/office/drawing/2014/main" id="{67483A54-1761-52A5-11C7-6C62E0EC24A8}"/>
              </a:ext>
            </a:extLst>
          </p:cNvPr>
          <p:cNvPicPr>
            <a:picLocks noChangeAspect="1"/>
          </p:cNvPicPr>
          <p:nvPr/>
        </p:nvPicPr>
        <p:blipFill>
          <a:blip r:embed="rId2"/>
          <a:stretch>
            <a:fillRect/>
          </a:stretch>
        </p:blipFill>
        <p:spPr>
          <a:xfrm>
            <a:off x="345234" y="1829799"/>
            <a:ext cx="5551714" cy="4124089"/>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4726" y="206851"/>
            <a:ext cx="4613507" cy="400110"/>
          </a:xfrm>
          <a:prstGeom prst="rect">
            <a:avLst/>
          </a:prstGeom>
          <a:noFill/>
        </p:spPr>
        <p:txBody>
          <a:bodyPr wrap="none" rtlCol="0">
            <a:spAutoFit/>
          </a:bodyPr>
          <a:lstStyle/>
          <a:p>
            <a:r>
              <a:rPr lang="en-US" sz="2000" b="1" dirty="0">
                <a:solidFill>
                  <a:schemeClr val="accent1">
                    <a:lumMod val="60000"/>
                    <a:lumOff val="40000"/>
                  </a:schemeClr>
                </a:solidFill>
                <a:latin typeface="Castellar" panose="020A0402060406010301" pitchFamily="18" charset="0"/>
              </a:rPr>
              <a:t>KPI-8 </a:t>
            </a:r>
            <a:r>
              <a:rPr lang="en-US" sz="2000" b="1" dirty="0">
                <a:solidFill>
                  <a:schemeClr val="accent1">
                    <a:lumMod val="60000"/>
                    <a:lumOff val="40000"/>
                  </a:schemeClr>
                </a:solidFill>
                <a:latin typeface="Calibri" panose="020F0502020204030204" pitchFamily="34" charset="0"/>
                <a:ea typeface="Calibri" panose="020F0502020204030204" pitchFamily="34" charset="0"/>
                <a:cs typeface="Calibri" panose="020F0502020204030204" pitchFamily="34" charset="0"/>
              </a:rPr>
              <a:t>:-CLOSED WON VS TOTAL CLOSED </a:t>
            </a:r>
            <a:endParaRPr lang="en-IN" sz="2000" b="1" dirty="0">
              <a:solidFill>
                <a:schemeClr val="accent1">
                  <a:lumMod val="60000"/>
                  <a:lumOff val="40000"/>
                </a:schemeClr>
              </a:solidFill>
              <a:latin typeface="Castellar" panose="020A0402060406010301" pitchFamily="18" charset="0"/>
            </a:endParaRPr>
          </a:p>
        </p:txBody>
      </p:sp>
      <p:sp>
        <p:nvSpPr>
          <p:cNvPr id="7" name="TextBox 6">
            <a:extLst>
              <a:ext uri="{FF2B5EF4-FFF2-40B4-BE49-F238E27FC236}">
                <a16:creationId xmlns:a16="http://schemas.microsoft.com/office/drawing/2014/main" id="{BED45EE8-D334-41B4-B957-7942CF293E44}"/>
              </a:ext>
            </a:extLst>
          </p:cNvPr>
          <p:cNvSpPr txBox="1"/>
          <p:nvPr/>
        </p:nvSpPr>
        <p:spPr>
          <a:xfrm>
            <a:off x="6096000" y="1634391"/>
            <a:ext cx="5791199" cy="4616648"/>
          </a:xfrm>
          <a:prstGeom prst="rect">
            <a:avLst/>
          </a:prstGeom>
          <a:noFill/>
        </p:spPr>
        <p:txBody>
          <a:bodyPr wrap="square">
            <a:spAutoFit/>
          </a:bodyPr>
          <a:lstStyle/>
          <a:p>
            <a:pPr>
              <a:buClr>
                <a:srgbClr val="92D050"/>
              </a:buClr>
            </a:pPr>
            <a:r>
              <a:rPr lang="en-IN" sz="2000" b="1" dirty="0">
                <a:solidFill>
                  <a:schemeClr val="accent5"/>
                </a:solidFill>
                <a:latin typeface="Castellar" panose="020A0402060406010301" pitchFamily="18" charset="0"/>
              </a:rPr>
              <a:t>Observation</a:t>
            </a:r>
            <a:r>
              <a:rPr lang="en-IN" dirty="0"/>
              <a:t>:</a:t>
            </a:r>
            <a:r>
              <a:rPr lang="en-US" b="1" dirty="0">
                <a:latin typeface="Aptos Display" panose="020B0004020202020204" pitchFamily="34" charset="0"/>
              </a:rPr>
              <a:t>Closed volume increases dramatically as the year progresses. It peaks heavily in Q4 with a massive 720 total closed deals (and 350 won), compared to a quiet Q1 with only 147 closed deals (and 57 won).</a:t>
            </a:r>
          </a:p>
          <a:p>
            <a:pPr>
              <a:buClr>
                <a:srgbClr val="92D050"/>
              </a:buClr>
            </a:pPr>
            <a:endPar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Aptos Display" panose="020B0004020202020204" pitchFamily="34" charset="0"/>
            </a:endParaRPr>
          </a:p>
          <a:p>
            <a:r>
              <a:rPr lang="en-IN" sz="2000" b="1" dirty="0">
                <a:solidFill>
                  <a:schemeClr val="accent5"/>
                </a:solidFill>
                <a:latin typeface="Castellar" panose="020A0402060406010301" pitchFamily="18" charset="0"/>
              </a:rPr>
              <a:t>Suggestion</a:t>
            </a:r>
            <a:r>
              <a:rPr lang="en-IN" dirty="0"/>
              <a:t>:</a:t>
            </a:r>
            <a:r>
              <a:rPr lang="en-US" b="1" dirty="0">
                <a:latin typeface="Aptos Display" panose="020B0004020202020204" pitchFamily="34" charset="0"/>
              </a:rPr>
              <a:t>Plan organizational resources around this intense back-half seasonality. Ensure that legal, onboarding, and customer success teams are heavily supported in Q3 and Q4 to handle the massive influx of closings without delays.</a:t>
            </a:r>
          </a:p>
          <a:p>
            <a:endParaRPr lang="en-US" b="1" dirty="0">
              <a:latin typeface="Aptos Display" panose="020B0004020202020204" pitchFamily="34" charset="0"/>
            </a:endParaRPr>
          </a:p>
          <a:p>
            <a:pPr>
              <a:buClr>
                <a:srgbClr val="92D050"/>
              </a:buClr>
            </a:pPr>
            <a:r>
              <a:rPr lang="en-IN" sz="2000" b="1" dirty="0">
                <a:solidFill>
                  <a:schemeClr val="accent5"/>
                </a:solidFill>
                <a:latin typeface="Castellar" panose="020A0402060406010301" pitchFamily="18" charset="0"/>
              </a:rPr>
              <a:t>Conclusion</a:t>
            </a:r>
            <a:r>
              <a:rPr lang="en-IN" dirty="0"/>
              <a:t>:</a:t>
            </a:r>
            <a:r>
              <a:rPr lang="en-US" b="1" dirty="0">
                <a:latin typeface="Aptos Display" panose="020B0004020202020204" pitchFamily="34" charset="0"/>
              </a:rPr>
              <a:t>Sales velocity is highly back-heavy and seasonal. While the massive year-end push is incredibly productive, working to stabilize deal closures during Q1 and Q2 will establish steadier revenue.</a:t>
            </a:r>
            <a:endPar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Aptos Display" panose="020B0004020202020204" pitchFamily="34" charset="0"/>
            </a:endParaRPr>
          </a:p>
        </p:txBody>
      </p:sp>
      <p:sp>
        <p:nvSpPr>
          <p:cNvPr id="6" name="TextBox 5">
            <a:extLst>
              <a:ext uri="{FF2B5EF4-FFF2-40B4-BE49-F238E27FC236}">
                <a16:creationId xmlns:a16="http://schemas.microsoft.com/office/drawing/2014/main" id="{531C8C44-A914-9664-9BA0-12592DCFCBFB}"/>
              </a:ext>
            </a:extLst>
          </p:cNvPr>
          <p:cNvSpPr txBox="1"/>
          <p:nvPr/>
        </p:nvSpPr>
        <p:spPr>
          <a:xfrm>
            <a:off x="103788" y="606961"/>
            <a:ext cx="11732474" cy="677108"/>
          </a:xfrm>
          <a:prstGeom prst="rect">
            <a:avLst/>
          </a:prstGeom>
          <a:noFill/>
        </p:spPr>
        <p:txBody>
          <a:bodyPr wrap="square">
            <a:spAutoFit/>
          </a:bodyPr>
          <a:lstStyle/>
          <a:p>
            <a:pPr>
              <a:buClr>
                <a:srgbClr val="92D050"/>
              </a:buClr>
            </a:pPr>
            <a:r>
              <a:rPr lang="en-US" sz="2000" b="1" dirty="0">
                <a:solidFill>
                  <a:schemeClr val="accent5"/>
                </a:solidFill>
                <a:latin typeface="Castellar" panose="020A0402060406010301" pitchFamily="18" charset="0"/>
              </a:rPr>
              <a:t>About</a:t>
            </a:r>
            <a:r>
              <a:rPr lang="en-US" b="1" dirty="0">
                <a:solidFill>
                  <a:schemeClr val="accent1">
                    <a:lumMod val="60000"/>
                    <a:lumOff val="40000"/>
                  </a:schemeClr>
                </a:solidFill>
                <a:latin typeface="Castellar" panose="020A0402060406010301" pitchFamily="18" charset="0"/>
              </a:rPr>
              <a:t> </a:t>
            </a:r>
            <a:r>
              <a:rPr lang="en-US" sz="2000" b="1" dirty="0">
                <a:solidFill>
                  <a:schemeClr val="accent5"/>
                </a:solidFill>
                <a:latin typeface="Castellar" panose="020A0402060406010301" pitchFamily="18" charset="0"/>
              </a:rPr>
              <a:t>Chart</a:t>
            </a:r>
            <a:r>
              <a:rPr lang="en-US" b="1" dirty="0">
                <a:solidFill>
                  <a:schemeClr val="accent1">
                    <a:lumMod val="60000"/>
                    <a:lumOff val="40000"/>
                  </a:schemeClr>
                </a:solidFill>
                <a:latin typeface="Aptos Display" panose="020B0004020202020204" pitchFamily="34" charset="0"/>
              </a:rPr>
              <a:t>: </a:t>
            </a:r>
            <a:r>
              <a:rPr lang="en-US" b="1" dirty="0">
                <a:latin typeface="Aptos Display" panose="020B0004020202020204" pitchFamily="34" charset="0"/>
              </a:rPr>
              <a:t>This horizontal bar chart tracks sales volume on a quarterly basis, contrasting the number of successfully won deals against total closed deals for Q1 through Q4.</a:t>
            </a:r>
          </a:p>
        </p:txBody>
      </p:sp>
      <p:pic>
        <p:nvPicPr>
          <p:cNvPr id="4" name="Picture 3">
            <a:extLst>
              <a:ext uri="{FF2B5EF4-FFF2-40B4-BE49-F238E27FC236}">
                <a16:creationId xmlns:a16="http://schemas.microsoft.com/office/drawing/2014/main" id="{77BC3EAA-4F2F-3522-977F-F186BF16B89D}"/>
              </a:ext>
            </a:extLst>
          </p:cNvPr>
          <p:cNvPicPr>
            <a:picLocks noChangeAspect="1"/>
          </p:cNvPicPr>
          <p:nvPr/>
        </p:nvPicPr>
        <p:blipFill>
          <a:blip r:embed="rId2"/>
          <a:stretch>
            <a:fillRect/>
          </a:stretch>
        </p:blipFill>
        <p:spPr>
          <a:xfrm>
            <a:off x="304801" y="1849994"/>
            <a:ext cx="5592179" cy="4185442"/>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4045" y="165012"/>
            <a:ext cx="7077579" cy="400110"/>
          </a:xfrm>
          <a:prstGeom prst="rect">
            <a:avLst/>
          </a:prstGeom>
          <a:noFill/>
        </p:spPr>
        <p:txBody>
          <a:bodyPr wrap="none" rtlCol="0">
            <a:spAutoFit/>
          </a:bodyPr>
          <a:lstStyle/>
          <a:p>
            <a:r>
              <a:rPr lang="en-US" sz="2000" b="1" dirty="0">
                <a:solidFill>
                  <a:schemeClr val="accent1">
                    <a:lumMod val="60000"/>
                    <a:lumOff val="40000"/>
                  </a:schemeClr>
                </a:solidFill>
                <a:latin typeface="Castellar" panose="020A0402060406010301" pitchFamily="18" charset="0"/>
              </a:rPr>
              <a:t>KPI-9 :-CLOSED WON VS TOTAL OPPORTUNITIES </a:t>
            </a:r>
            <a:endParaRPr lang="en-IN" sz="2000" b="1" dirty="0">
              <a:solidFill>
                <a:schemeClr val="accent1">
                  <a:lumMod val="60000"/>
                  <a:lumOff val="40000"/>
                </a:schemeClr>
              </a:solidFill>
              <a:latin typeface="Castellar" panose="020A0402060406010301" pitchFamily="18" charset="0"/>
            </a:endParaRPr>
          </a:p>
        </p:txBody>
      </p:sp>
      <p:sp>
        <p:nvSpPr>
          <p:cNvPr id="7" name="TextBox 6">
            <a:extLst>
              <a:ext uri="{FF2B5EF4-FFF2-40B4-BE49-F238E27FC236}">
                <a16:creationId xmlns:a16="http://schemas.microsoft.com/office/drawing/2014/main" id="{E993A0A3-6E52-4F90-B3B6-854159161809}"/>
              </a:ext>
            </a:extLst>
          </p:cNvPr>
          <p:cNvSpPr txBox="1"/>
          <p:nvPr/>
        </p:nvSpPr>
        <p:spPr>
          <a:xfrm>
            <a:off x="5966727" y="2090143"/>
            <a:ext cx="6031228" cy="4062651"/>
          </a:xfrm>
          <a:prstGeom prst="rect">
            <a:avLst/>
          </a:prstGeom>
          <a:noFill/>
        </p:spPr>
        <p:txBody>
          <a:bodyPr wrap="square">
            <a:spAutoFit/>
          </a:bodyPr>
          <a:lstStyle/>
          <a:p>
            <a:pPr>
              <a:buClr>
                <a:srgbClr val="92D050"/>
              </a:buClr>
            </a:pPr>
            <a:r>
              <a:rPr lang="en-IN" sz="2000" b="1" dirty="0">
                <a:solidFill>
                  <a:schemeClr val="accent5"/>
                </a:solidFill>
                <a:latin typeface="Castellar" panose="020A0402060406010301" pitchFamily="18" charset="0"/>
              </a:rPr>
              <a:t>Observation</a:t>
            </a:r>
            <a:r>
              <a:rPr lang="en-IN" dirty="0"/>
              <a:t>:</a:t>
            </a:r>
            <a:r>
              <a:rPr lang="en-US" b="1" dirty="0">
                <a:latin typeface="Aptos Display" panose="020B0004020202020204" pitchFamily="34" charset="0"/>
              </a:rPr>
              <a:t>For the year 2019, out of a towering cumulative pool of 912 total opportunities, a total of 350 opportunities were successfully converted to Closed Won.</a:t>
            </a:r>
          </a:p>
          <a:p>
            <a:pPr>
              <a:buClr>
                <a:srgbClr val="92D050"/>
              </a:buClr>
            </a:pPr>
            <a:endParaRPr lang="en-US" dirty="0"/>
          </a:p>
          <a:p>
            <a:r>
              <a:rPr lang="en-IN" sz="2000" b="1" dirty="0">
                <a:solidFill>
                  <a:schemeClr val="accent5"/>
                </a:solidFill>
                <a:latin typeface="Castellar" panose="020A0402060406010301" pitchFamily="18" charset="0"/>
              </a:rPr>
              <a:t>Suggestion</a:t>
            </a:r>
            <a:r>
              <a:rPr lang="en-IN" dirty="0"/>
              <a:t>:</a:t>
            </a:r>
            <a:r>
              <a:rPr lang="en-US" b="1" dirty="0">
                <a:latin typeface="Aptos Display" panose="020B0004020202020204" pitchFamily="34" charset="0"/>
              </a:rPr>
              <a:t>Use this fixed yearly ratio (350 wins out of 912 opportunities) as a foundational planning benchmark. If next year's growth target demands 500 wins, use this chart to prove to leadership that total opportunity sourcing must scale proportionally.</a:t>
            </a:r>
          </a:p>
          <a:p>
            <a:endParaRPr lang="en-US" dirty="0"/>
          </a:p>
          <a:p>
            <a:pPr>
              <a:buClr>
                <a:srgbClr val="92D050"/>
              </a:buClr>
            </a:pPr>
            <a:r>
              <a:rPr lang="en-IN" sz="2000" b="1" dirty="0">
                <a:solidFill>
                  <a:schemeClr val="accent5"/>
                </a:solidFill>
                <a:latin typeface="Castellar" panose="020A0402060406010301" pitchFamily="18" charset="0"/>
              </a:rPr>
              <a:t>Conclusion</a:t>
            </a:r>
            <a:r>
              <a:rPr lang="en-IN" dirty="0"/>
              <a:t>:</a:t>
            </a:r>
            <a:r>
              <a:rPr lang="en-US" b="1" dirty="0">
                <a:latin typeface="Aptos Display" panose="020B0004020202020204" pitchFamily="34" charset="0"/>
              </a:rPr>
              <a:t>This macro view provides a vital reality check on overall team capacity, showing exactly how much raw funnel input is required to generate your final output of successful wins.</a:t>
            </a:r>
            <a:endPar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Aptos Display" panose="020B0004020202020204" pitchFamily="34" charset="0"/>
            </a:endParaRPr>
          </a:p>
        </p:txBody>
      </p:sp>
      <p:sp>
        <p:nvSpPr>
          <p:cNvPr id="5" name="TextBox 4">
            <a:extLst>
              <a:ext uri="{FF2B5EF4-FFF2-40B4-BE49-F238E27FC236}">
                <a16:creationId xmlns:a16="http://schemas.microsoft.com/office/drawing/2014/main" id="{C5C9061F-6717-9F1E-CCC2-60F81EBE2138}"/>
              </a:ext>
            </a:extLst>
          </p:cNvPr>
          <p:cNvSpPr txBox="1"/>
          <p:nvPr/>
        </p:nvSpPr>
        <p:spPr>
          <a:xfrm>
            <a:off x="194045" y="712079"/>
            <a:ext cx="11803910" cy="677108"/>
          </a:xfrm>
          <a:prstGeom prst="rect">
            <a:avLst/>
          </a:prstGeom>
          <a:noFill/>
        </p:spPr>
        <p:txBody>
          <a:bodyPr wrap="square">
            <a:spAutoFit/>
          </a:bodyPr>
          <a:lstStyle/>
          <a:p>
            <a:pPr>
              <a:buClr>
                <a:srgbClr val="92D050"/>
              </a:buClr>
            </a:pPr>
            <a:r>
              <a:rPr lang="en-US" sz="2000" b="1" dirty="0">
                <a:solidFill>
                  <a:schemeClr val="accent5"/>
                </a:solidFill>
                <a:latin typeface="Castellar" panose="020A0402060406010301" pitchFamily="18" charset="0"/>
              </a:rPr>
              <a:t>About</a:t>
            </a:r>
            <a:r>
              <a:rPr lang="en-US" b="1" dirty="0">
                <a:solidFill>
                  <a:schemeClr val="accent1">
                    <a:lumMod val="60000"/>
                    <a:lumOff val="40000"/>
                  </a:schemeClr>
                </a:solidFill>
                <a:latin typeface="Castellar" panose="020A0402060406010301" pitchFamily="18" charset="0"/>
              </a:rPr>
              <a:t> </a:t>
            </a:r>
            <a:r>
              <a:rPr lang="en-US" sz="2000" b="1" dirty="0">
                <a:solidFill>
                  <a:schemeClr val="accent5"/>
                </a:solidFill>
                <a:latin typeface="Castellar" panose="020A0402060406010301" pitchFamily="18" charset="0"/>
              </a:rPr>
              <a:t>Chart</a:t>
            </a:r>
            <a:r>
              <a:rPr lang="en-US" b="1" dirty="0">
                <a:solidFill>
                  <a:schemeClr val="accent1">
                    <a:lumMod val="60000"/>
                    <a:lumOff val="40000"/>
                  </a:schemeClr>
                </a:solidFill>
                <a:latin typeface="Castellar" panose="020A0402060406010301" pitchFamily="18" charset="0"/>
              </a:rPr>
              <a:t>: </a:t>
            </a:r>
            <a:r>
              <a:rPr lang="en-US" b="1" dirty="0">
                <a:latin typeface="Aptos Display" panose="020B0004020202020204" pitchFamily="34" charset="0"/>
              </a:rPr>
              <a:t>This high-level vertical bar chart compares the total macro pool of opportunities generated throughout the year against the exact volume that made it to "Closed Won“.</a:t>
            </a:r>
          </a:p>
        </p:txBody>
      </p:sp>
      <p:pic>
        <p:nvPicPr>
          <p:cNvPr id="6" name="Picture 5">
            <a:extLst>
              <a:ext uri="{FF2B5EF4-FFF2-40B4-BE49-F238E27FC236}">
                <a16:creationId xmlns:a16="http://schemas.microsoft.com/office/drawing/2014/main" id="{D3A60787-5A8B-31F7-1462-4942C84E2A58}"/>
              </a:ext>
            </a:extLst>
          </p:cNvPr>
          <p:cNvPicPr>
            <a:picLocks noChangeAspect="1"/>
          </p:cNvPicPr>
          <p:nvPr/>
        </p:nvPicPr>
        <p:blipFill>
          <a:blip r:embed="rId2"/>
          <a:stretch>
            <a:fillRect/>
          </a:stretch>
        </p:blipFill>
        <p:spPr>
          <a:xfrm>
            <a:off x="194045" y="1925146"/>
            <a:ext cx="5564823" cy="4227648"/>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3937" y="141878"/>
            <a:ext cx="6216863" cy="400110"/>
          </a:xfrm>
          <a:prstGeom prst="rect">
            <a:avLst/>
          </a:prstGeom>
          <a:noFill/>
        </p:spPr>
        <p:txBody>
          <a:bodyPr wrap="square" rtlCol="0">
            <a:spAutoFit/>
          </a:bodyPr>
          <a:lstStyle/>
          <a:p>
            <a:r>
              <a:rPr lang="en-US" sz="2000" b="1" dirty="0">
                <a:solidFill>
                  <a:schemeClr val="accent1">
                    <a:lumMod val="60000"/>
                    <a:lumOff val="40000"/>
                  </a:schemeClr>
                </a:solidFill>
                <a:latin typeface="Castellar" panose="020A0402060406010301" pitchFamily="18" charset="0"/>
              </a:rPr>
              <a:t>KPI-10 :-EXPECTED VS FORECAST </a:t>
            </a:r>
          </a:p>
        </p:txBody>
      </p:sp>
      <p:sp>
        <p:nvSpPr>
          <p:cNvPr id="9" name="TextBox 8">
            <a:extLst>
              <a:ext uri="{FF2B5EF4-FFF2-40B4-BE49-F238E27FC236}">
                <a16:creationId xmlns:a16="http://schemas.microsoft.com/office/drawing/2014/main" id="{14874D5C-658A-BBDC-AB32-2D6AC064990D}"/>
              </a:ext>
            </a:extLst>
          </p:cNvPr>
          <p:cNvSpPr txBox="1"/>
          <p:nvPr/>
        </p:nvSpPr>
        <p:spPr>
          <a:xfrm>
            <a:off x="183937" y="688945"/>
            <a:ext cx="11658730" cy="677108"/>
          </a:xfrm>
          <a:prstGeom prst="rect">
            <a:avLst/>
          </a:prstGeom>
          <a:noFill/>
        </p:spPr>
        <p:txBody>
          <a:bodyPr wrap="square">
            <a:spAutoFit/>
          </a:bodyPr>
          <a:lstStyle/>
          <a:p>
            <a:pPr>
              <a:buClr>
                <a:srgbClr val="92D050"/>
              </a:buClr>
            </a:pPr>
            <a:r>
              <a:rPr lang="en-US" sz="2000" b="1" dirty="0">
                <a:solidFill>
                  <a:schemeClr val="accent5"/>
                </a:solidFill>
                <a:latin typeface="Castellar" panose="020A0402060406010301" pitchFamily="18" charset="0"/>
              </a:rPr>
              <a:t>About</a:t>
            </a:r>
            <a:r>
              <a:rPr lang="en-US" b="1" dirty="0">
                <a:solidFill>
                  <a:schemeClr val="accent1">
                    <a:lumMod val="60000"/>
                    <a:lumOff val="40000"/>
                  </a:schemeClr>
                </a:solidFill>
                <a:latin typeface="Castellar" panose="020A0402060406010301" pitchFamily="18" charset="0"/>
              </a:rPr>
              <a:t> </a:t>
            </a:r>
            <a:r>
              <a:rPr lang="en-US" sz="2000" b="1" dirty="0">
                <a:solidFill>
                  <a:schemeClr val="accent5"/>
                </a:solidFill>
                <a:latin typeface="Castellar" panose="020A0402060406010301" pitchFamily="18" charset="0"/>
              </a:rPr>
              <a:t>Chart</a:t>
            </a:r>
            <a:r>
              <a:rPr lang="en-US" b="1" dirty="0">
                <a:solidFill>
                  <a:schemeClr val="accent1">
                    <a:lumMod val="60000"/>
                    <a:lumOff val="40000"/>
                  </a:schemeClr>
                </a:solidFill>
                <a:latin typeface="Castellar" panose="020A0402060406010301" pitchFamily="18" charset="0"/>
              </a:rPr>
              <a:t>: </a:t>
            </a:r>
            <a:r>
              <a:rPr lang="en-US" b="1" dirty="0">
                <a:latin typeface="Aptos Display" panose="020B0004020202020204" pitchFamily="34" charset="0"/>
              </a:rPr>
              <a:t>This chart compares the mathematically weighted "Expected Amount" of the pipeline against the baseline sales forecast goal for the 2019 period.</a:t>
            </a:r>
            <a:endParaRPr lang="en-US" dirty="0">
              <a:latin typeface="Aptos Display" panose="020B0004020202020204" pitchFamily="34" charset="0"/>
            </a:endParaRPr>
          </a:p>
        </p:txBody>
      </p:sp>
      <p:sp>
        <p:nvSpPr>
          <p:cNvPr id="11" name="TextBox 10">
            <a:extLst>
              <a:ext uri="{FF2B5EF4-FFF2-40B4-BE49-F238E27FC236}">
                <a16:creationId xmlns:a16="http://schemas.microsoft.com/office/drawing/2014/main" id="{B2319566-A1C7-8EFF-E309-66CE814EF374}"/>
              </a:ext>
            </a:extLst>
          </p:cNvPr>
          <p:cNvSpPr txBox="1"/>
          <p:nvPr/>
        </p:nvSpPr>
        <p:spPr>
          <a:xfrm>
            <a:off x="6013302" y="2097786"/>
            <a:ext cx="6096000" cy="4062651"/>
          </a:xfrm>
          <a:prstGeom prst="rect">
            <a:avLst/>
          </a:prstGeom>
          <a:noFill/>
        </p:spPr>
        <p:txBody>
          <a:bodyPr wrap="square">
            <a:spAutoFit/>
          </a:bodyPr>
          <a:lstStyle/>
          <a:p>
            <a:pPr>
              <a:buClr>
                <a:srgbClr val="92D050"/>
              </a:buClr>
            </a:pPr>
            <a:r>
              <a:rPr lang="en-IN" sz="2000" b="1" dirty="0">
                <a:solidFill>
                  <a:schemeClr val="accent5"/>
                </a:solidFill>
                <a:latin typeface="Castellar" panose="020A0402060406010301" pitchFamily="18" charset="0"/>
              </a:rPr>
              <a:t>Observation</a:t>
            </a:r>
            <a:r>
              <a:rPr lang="en-IN" dirty="0"/>
              <a:t>:</a:t>
            </a:r>
            <a:r>
              <a:rPr lang="en-US" b="1" dirty="0">
                <a:latin typeface="Aptos Display" panose="020B0004020202020204" pitchFamily="34" charset="0"/>
              </a:rPr>
              <a:t>Both the Expected column and the Forecast column stand perfectly identical at 35M for the year 2019 and the overall total</a:t>
            </a:r>
            <a:r>
              <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Aptos Display" panose="020B0004020202020204" pitchFamily="34" charset="0"/>
              </a:rPr>
              <a:t>.</a:t>
            </a:r>
          </a:p>
          <a:p>
            <a:pPr>
              <a:buClr>
                <a:srgbClr val="92D050"/>
              </a:buClr>
            </a:pPr>
            <a:endParaRPr lang="en-US" dirty="0"/>
          </a:p>
          <a:p>
            <a:pPr>
              <a:buClr>
                <a:srgbClr val="92D050"/>
              </a:buClr>
            </a:pPr>
            <a:r>
              <a:rPr lang="en-IN" sz="2000" b="1" dirty="0">
                <a:solidFill>
                  <a:schemeClr val="accent5"/>
                </a:solidFill>
                <a:latin typeface="Castellar" panose="020A0402060406010301" pitchFamily="18" charset="0"/>
              </a:rPr>
              <a:t>Suggestion</a:t>
            </a:r>
            <a:r>
              <a:rPr lang="en-IN" dirty="0"/>
              <a:t>:</a:t>
            </a:r>
            <a:r>
              <a:rPr lang="en-US" b="1" dirty="0">
                <a:latin typeface="Aptos Display" panose="020B0004020202020204" pitchFamily="34" charset="0"/>
              </a:rPr>
              <a:t>Maintain this elite forecasting precision by continuing to audit CRM pipeline hygiene. Ensure sales reps regularly update deal closure probabilities so that data remains completely reliable.</a:t>
            </a:r>
          </a:p>
          <a:p>
            <a:pPr>
              <a:buClr>
                <a:srgbClr val="92D050"/>
              </a:buClr>
            </a:pPr>
            <a:endParaRPr lang="en-US" dirty="0"/>
          </a:p>
          <a:p>
            <a:pPr>
              <a:buClr>
                <a:srgbClr val="92D050"/>
              </a:buClr>
            </a:pPr>
            <a:r>
              <a:rPr lang="en-IN" sz="2000" b="1" dirty="0">
                <a:solidFill>
                  <a:schemeClr val="accent5"/>
                </a:solidFill>
                <a:latin typeface="Castellar" panose="020A0402060406010301" pitchFamily="18" charset="0"/>
              </a:rPr>
              <a:t>Conclusion</a:t>
            </a:r>
            <a:r>
              <a:rPr lang="en-IN" dirty="0"/>
              <a:t>:</a:t>
            </a:r>
            <a:r>
              <a:rPr lang="en-US" b="1" dirty="0">
                <a:latin typeface="Aptos Display" panose="020B0004020202020204" pitchFamily="34" charset="0"/>
              </a:rPr>
              <a:t>Pipeline forecasting is highly accurate and completely aligned with targets. This exact 1:1 match gives executive leadership absolute confidence when budgeting and allocating company resources based on future revenue projections.</a:t>
            </a:r>
            <a:endPar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Aptos Display" panose="020B0004020202020204" pitchFamily="34" charset="0"/>
            </a:endParaRPr>
          </a:p>
        </p:txBody>
      </p:sp>
      <p:pic>
        <p:nvPicPr>
          <p:cNvPr id="4" name="Picture 3">
            <a:extLst>
              <a:ext uri="{FF2B5EF4-FFF2-40B4-BE49-F238E27FC236}">
                <a16:creationId xmlns:a16="http://schemas.microsoft.com/office/drawing/2014/main" id="{49117A60-7086-2934-80AF-0F833FBBC79E}"/>
              </a:ext>
            </a:extLst>
          </p:cNvPr>
          <p:cNvPicPr>
            <a:picLocks noChangeAspect="1"/>
          </p:cNvPicPr>
          <p:nvPr/>
        </p:nvPicPr>
        <p:blipFill>
          <a:blip r:embed="rId2"/>
          <a:stretch>
            <a:fillRect/>
          </a:stretch>
        </p:blipFill>
        <p:spPr>
          <a:xfrm>
            <a:off x="320081" y="1894745"/>
            <a:ext cx="5584841" cy="4265692"/>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00AD10-3773-53EB-4BE4-B91D957E5F16}"/>
              </a:ext>
            </a:extLst>
          </p:cNvPr>
          <p:cNvSpPr txBox="1"/>
          <p:nvPr/>
        </p:nvSpPr>
        <p:spPr>
          <a:xfrm>
            <a:off x="183937" y="141878"/>
            <a:ext cx="9705130" cy="400110"/>
          </a:xfrm>
          <a:prstGeom prst="rect">
            <a:avLst/>
          </a:prstGeom>
          <a:noFill/>
        </p:spPr>
        <p:txBody>
          <a:bodyPr wrap="square" rtlCol="0">
            <a:spAutoFit/>
          </a:bodyPr>
          <a:lstStyle/>
          <a:p>
            <a:r>
              <a:rPr lang="en-US" sz="2000" b="1" dirty="0">
                <a:solidFill>
                  <a:schemeClr val="accent1">
                    <a:lumMod val="60000"/>
                    <a:lumOff val="40000"/>
                  </a:schemeClr>
                </a:solidFill>
                <a:latin typeface="Castellar" panose="020A0402060406010301" pitchFamily="18" charset="0"/>
              </a:rPr>
              <a:t>KPI-11:-SUM OF EXPECTED AMOUNT BY OPPORTUNITY TYPE </a:t>
            </a:r>
          </a:p>
        </p:txBody>
      </p:sp>
      <p:sp>
        <p:nvSpPr>
          <p:cNvPr id="3" name="TextBox 2">
            <a:extLst>
              <a:ext uri="{FF2B5EF4-FFF2-40B4-BE49-F238E27FC236}">
                <a16:creationId xmlns:a16="http://schemas.microsoft.com/office/drawing/2014/main" id="{2AD285AF-E3F4-35C8-4F0E-C4A9EA2E6E91}"/>
              </a:ext>
            </a:extLst>
          </p:cNvPr>
          <p:cNvSpPr txBox="1"/>
          <p:nvPr/>
        </p:nvSpPr>
        <p:spPr>
          <a:xfrm>
            <a:off x="183937" y="688945"/>
            <a:ext cx="11658730" cy="677108"/>
          </a:xfrm>
          <a:prstGeom prst="rect">
            <a:avLst/>
          </a:prstGeom>
          <a:noFill/>
        </p:spPr>
        <p:txBody>
          <a:bodyPr wrap="square">
            <a:spAutoFit/>
          </a:bodyPr>
          <a:lstStyle/>
          <a:p>
            <a:pPr>
              <a:buClr>
                <a:srgbClr val="92D050"/>
              </a:buClr>
            </a:pPr>
            <a:r>
              <a:rPr lang="en-US" sz="2000" b="1" dirty="0">
                <a:solidFill>
                  <a:schemeClr val="accent5"/>
                </a:solidFill>
                <a:latin typeface="Castellar" panose="020A0402060406010301" pitchFamily="18" charset="0"/>
              </a:rPr>
              <a:t>About</a:t>
            </a:r>
            <a:r>
              <a:rPr lang="en-US" b="1" dirty="0">
                <a:solidFill>
                  <a:schemeClr val="accent1">
                    <a:lumMod val="60000"/>
                    <a:lumOff val="40000"/>
                  </a:schemeClr>
                </a:solidFill>
                <a:latin typeface="Castellar" panose="020A0402060406010301" pitchFamily="18" charset="0"/>
              </a:rPr>
              <a:t> </a:t>
            </a:r>
            <a:r>
              <a:rPr lang="en-US" sz="2000" b="1" dirty="0">
                <a:solidFill>
                  <a:schemeClr val="accent5"/>
                </a:solidFill>
                <a:latin typeface="Castellar" panose="020A0402060406010301" pitchFamily="18" charset="0"/>
              </a:rPr>
              <a:t>Chart</a:t>
            </a:r>
            <a:r>
              <a:rPr lang="en-US" b="1" dirty="0">
                <a:solidFill>
                  <a:schemeClr val="accent1">
                    <a:lumMod val="60000"/>
                    <a:lumOff val="40000"/>
                  </a:schemeClr>
                </a:solidFill>
                <a:latin typeface="Castellar" panose="020A0402060406010301" pitchFamily="18" charset="0"/>
              </a:rPr>
              <a:t>: </a:t>
            </a:r>
            <a:r>
              <a:rPr lang="en-US" b="1" dirty="0">
                <a:latin typeface="Aptos Display" panose="020B0004020202020204" pitchFamily="34" charset="0"/>
              </a:rPr>
              <a:t>This pie chart breaks down the expected financial value of the pipeline based on the underlying category or classification of the opportunity.</a:t>
            </a:r>
            <a:endParaRPr lang="en-US" dirty="0">
              <a:latin typeface="Aptos Display" panose="020B0004020202020204" pitchFamily="34" charset="0"/>
            </a:endParaRPr>
          </a:p>
        </p:txBody>
      </p:sp>
      <p:sp>
        <p:nvSpPr>
          <p:cNvPr id="4" name="TextBox 3">
            <a:extLst>
              <a:ext uri="{FF2B5EF4-FFF2-40B4-BE49-F238E27FC236}">
                <a16:creationId xmlns:a16="http://schemas.microsoft.com/office/drawing/2014/main" id="{0DCED3B6-D942-6194-F496-0D32EBA5FA3A}"/>
              </a:ext>
            </a:extLst>
          </p:cNvPr>
          <p:cNvSpPr txBox="1"/>
          <p:nvPr/>
        </p:nvSpPr>
        <p:spPr>
          <a:xfrm>
            <a:off x="6013302" y="2097786"/>
            <a:ext cx="6096000" cy="4339650"/>
          </a:xfrm>
          <a:prstGeom prst="rect">
            <a:avLst/>
          </a:prstGeom>
          <a:noFill/>
        </p:spPr>
        <p:txBody>
          <a:bodyPr wrap="square">
            <a:spAutoFit/>
          </a:bodyPr>
          <a:lstStyle/>
          <a:p>
            <a:pPr>
              <a:buClr>
                <a:srgbClr val="92D050"/>
              </a:buClr>
            </a:pPr>
            <a:r>
              <a:rPr lang="en-IN" sz="2000" b="1" dirty="0">
                <a:solidFill>
                  <a:schemeClr val="accent5"/>
                </a:solidFill>
                <a:latin typeface="Castellar" panose="020A0402060406010301" pitchFamily="18" charset="0"/>
              </a:rPr>
              <a:t>Observation</a:t>
            </a:r>
            <a:r>
              <a:rPr lang="en-IN" dirty="0"/>
              <a:t>:</a:t>
            </a:r>
            <a:r>
              <a:rPr lang="en-US" b="1" dirty="0">
                <a:latin typeface="Aptos Display" panose="020B0004020202020204" pitchFamily="34" charset="0"/>
              </a:rPr>
              <a:t>The chart is overwhelmingly dominated by a single category, which commands a massive 88.63% (totaling 31.45M) of the pipeline, leaving the secondary category at just 11.37% (4.04M).</a:t>
            </a:r>
            <a:endPar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Aptos Display" panose="020B0004020202020204" pitchFamily="34" charset="0"/>
            </a:endParaRPr>
          </a:p>
          <a:p>
            <a:pPr>
              <a:buClr>
                <a:srgbClr val="92D050"/>
              </a:buClr>
            </a:pPr>
            <a:endParaRPr lang="en-US" dirty="0"/>
          </a:p>
          <a:p>
            <a:pPr>
              <a:buClr>
                <a:srgbClr val="92D050"/>
              </a:buClr>
            </a:pPr>
            <a:r>
              <a:rPr lang="en-IN" sz="2000" b="1" dirty="0">
                <a:solidFill>
                  <a:schemeClr val="accent5"/>
                </a:solidFill>
                <a:latin typeface="Castellar" panose="020A0402060406010301" pitchFamily="18" charset="0"/>
              </a:rPr>
              <a:t>Suggestion</a:t>
            </a:r>
            <a:r>
              <a:rPr lang="en-IN" b="1" dirty="0">
                <a:latin typeface="Aptos Display" panose="020B0004020202020204" pitchFamily="34" charset="0"/>
              </a:rPr>
              <a:t>:</a:t>
            </a:r>
            <a:r>
              <a:rPr lang="en-US" b="1" dirty="0">
                <a:latin typeface="Aptos Display" panose="020B0004020202020204" pitchFamily="34" charset="0"/>
              </a:rPr>
              <a:t>Mitigate systemic risk by diversifying your revenue streams. Incentivize the sales team to cross-sell, upsell, or pursue the minority opportunity category to decrease reliance on a single sector.</a:t>
            </a:r>
          </a:p>
          <a:p>
            <a:pPr>
              <a:buClr>
                <a:srgbClr val="92D050"/>
              </a:buClr>
            </a:pPr>
            <a:endParaRPr lang="en-US" b="1" dirty="0">
              <a:latin typeface="Aptos Display" panose="020B0004020202020204" pitchFamily="34" charset="0"/>
            </a:endParaRPr>
          </a:p>
          <a:p>
            <a:pPr>
              <a:buClr>
                <a:srgbClr val="92D050"/>
              </a:buClr>
            </a:pPr>
            <a:r>
              <a:rPr lang="en-IN" sz="2000" b="1" dirty="0">
                <a:solidFill>
                  <a:schemeClr val="accent5"/>
                </a:solidFill>
                <a:latin typeface="Castellar" panose="020A0402060406010301" pitchFamily="18" charset="0"/>
              </a:rPr>
              <a:t>Conclusion</a:t>
            </a:r>
            <a:r>
              <a:rPr lang="en-IN" dirty="0"/>
              <a:t>:</a:t>
            </a:r>
            <a:r>
              <a:rPr lang="en-US" b="1" dirty="0">
                <a:latin typeface="Aptos Display" panose="020B0004020202020204" pitchFamily="34" charset="0"/>
              </a:rPr>
              <a:t>While having a dominant 31.45M revenue driver shows fantastic specific strength, it leaves the company vulnerable to market shifts. Expanding the minor category will build a much safer, more resilient business foundation.</a:t>
            </a:r>
            <a:endPar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Aptos Display" panose="020B0004020202020204" pitchFamily="34" charset="0"/>
            </a:endParaRPr>
          </a:p>
        </p:txBody>
      </p:sp>
      <p:pic>
        <p:nvPicPr>
          <p:cNvPr id="6" name="Picture 5">
            <a:extLst>
              <a:ext uri="{FF2B5EF4-FFF2-40B4-BE49-F238E27FC236}">
                <a16:creationId xmlns:a16="http://schemas.microsoft.com/office/drawing/2014/main" id="{42697D1D-2F95-1982-DB12-484BCA48BAE0}"/>
              </a:ext>
            </a:extLst>
          </p:cNvPr>
          <p:cNvPicPr>
            <a:picLocks noChangeAspect="1"/>
          </p:cNvPicPr>
          <p:nvPr/>
        </p:nvPicPr>
        <p:blipFill>
          <a:blip r:embed="rId2"/>
          <a:stretch>
            <a:fillRect/>
          </a:stretch>
        </p:blipFill>
        <p:spPr>
          <a:xfrm>
            <a:off x="304692" y="1895522"/>
            <a:ext cx="5564264" cy="4541914"/>
          </a:xfrm>
          <a:prstGeom prst="rect">
            <a:avLst/>
          </a:prstGeom>
        </p:spPr>
      </p:pic>
    </p:spTree>
    <p:extLst>
      <p:ext uri="{BB962C8B-B14F-4D97-AF65-F5344CB8AC3E}">
        <p14:creationId xmlns:p14="http://schemas.microsoft.com/office/powerpoint/2010/main" val="4292161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61502-09CE-13B5-D51A-2DE2245068D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5C2A519-10C2-FCE2-457A-77EDA85793EC}"/>
              </a:ext>
            </a:extLst>
          </p:cNvPr>
          <p:cNvSpPr>
            <a:spLocks noGrp="1"/>
          </p:cNvSpPr>
          <p:nvPr>
            <p:ph type="title"/>
          </p:nvPr>
        </p:nvSpPr>
        <p:spPr>
          <a:xfrm>
            <a:off x="829732" y="36035"/>
            <a:ext cx="9804877" cy="492062"/>
          </a:xfrm>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fontScale="90000"/>
          </a:bodyPr>
          <a:lstStyle/>
          <a:p>
            <a:pPr algn="ctr"/>
            <a:r>
              <a:rPr lang="en-IN" sz="4000" dirty="0">
                <a:ln w="13462">
                  <a:solidFill>
                    <a:schemeClr val="bg1"/>
                  </a:solidFill>
                  <a:prstDash val="solid"/>
                </a:ln>
                <a:solidFill>
                  <a:schemeClr val="tx2">
                    <a:lumMod val="90000"/>
                  </a:schemeClr>
                </a:solidFill>
                <a:effectLst>
                  <a:outerShdw blurRad="38100" dist="38100" dir="2700000" algn="tl">
                    <a:srgbClr val="000000">
                      <a:alpha val="43137"/>
                    </a:srgbClr>
                  </a:outerShdw>
                </a:effectLst>
                <a:latin typeface="Eras Demi ITC" panose="020B0805030504020804" pitchFamily="34" charset="0"/>
                <a:ea typeface="Calibri" panose="020F0502020204030204"/>
                <a:cs typeface="Calibri" panose="020F0502020204030204"/>
              </a:rPr>
              <a:t>Leads KPI Insights</a:t>
            </a:r>
          </a:p>
        </p:txBody>
      </p:sp>
      <p:sp>
        <p:nvSpPr>
          <p:cNvPr id="5" name="TextBox 4">
            <a:extLst>
              <a:ext uri="{FF2B5EF4-FFF2-40B4-BE49-F238E27FC236}">
                <a16:creationId xmlns:a16="http://schemas.microsoft.com/office/drawing/2014/main" id="{27979A13-956A-C747-6EE1-74274A5E3242}"/>
              </a:ext>
            </a:extLst>
          </p:cNvPr>
          <p:cNvSpPr txBox="1"/>
          <p:nvPr/>
        </p:nvSpPr>
        <p:spPr>
          <a:xfrm>
            <a:off x="-1" y="528097"/>
            <a:ext cx="12231329" cy="1231106"/>
          </a:xfrm>
          <a:prstGeom prst="rect">
            <a:avLst/>
          </a:prstGeom>
          <a:noFill/>
        </p:spPr>
        <p:txBody>
          <a:bodyPr wrap="square">
            <a:spAutoFit/>
          </a:bodyPr>
          <a:lstStyle/>
          <a:p>
            <a:pPr>
              <a:buClr>
                <a:srgbClr val="92D050"/>
              </a:buClr>
            </a:pPr>
            <a:r>
              <a:rPr lang="en-US" sz="2000" b="1" dirty="0">
                <a:solidFill>
                  <a:schemeClr val="accent1">
                    <a:lumMod val="60000"/>
                    <a:lumOff val="40000"/>
                  </a:schemeClr>
                </a:solidFill>
                <a:latin typeface="Castellar" panose="020A0402060406010301" pitchFamily="18" charset="0"/>
              </a:rPr>
              <a:t>About Chart: </a:t>
            </a:r>
            <a:r>
              <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Calibri" panose="020F0502020204030204" pitchFamily="34" charset="0"/>
                <a:ea typeface="Calibri" panose="020F0502020204030204" pitchFamily="34" charset="0"/>
                <a:cs typeface="Calibri" panose="020F0502020204030204" pitchFamily="34" charset="0"/>
              </a:rPr>
              <a:t>1st</a:t>
            </a:r>
            <a:r>
              <a:rPr lang="en-US" dirty="0"/>
              <a:t> KPI: Represents the overall pool of prospects generated. </a:t>
            </a:r>
            <a:r>
              <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Calibri" panose="020F0502020204030204" pitchFamily="34" charset="0"/>
                <a:ea typeface="Calibri" panose="020F0502020204030204" pitchFamily="34" charset="0"/>
                <a:cs typeface="Calibri" panose="020F0502020204030204" pitchFamily="34" charset="0"/>
              </a:rPr>
              <a:t>2nd </a:t>
            </a:r>
            <a:r>
              <a:rPr lang="en-US" dirty="0"/>
              <a:t>KPI: Shows the potential revenue value from successfully converted leads. </a:t>
            </a:r>
            <a:r>
              <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Calibri" panose="020F0502020204030204" pitchFamily="34" charset="0"/>
                <a:ea typeface="Calibri" panose="020F0502020204030204" pitchFamily="34" charset="0"/>
                <a:cs typeface="Calibri" panose="020F0502020204030204" pitchFamily="34" charset="0"/>
              </a:rPr>
              <a:t>3rd</a:t>
            </a:r>
            <a:r>
              <a:rPr lang="en-US" dirty="0"/>
              <a:t> KPI: Indicates the efficiency of turning leads into closed deals. </a:t>
            </a:r>
            <a:r>
              <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Calibri" panose="020F0502020204030204" pitchFamily="34" charset="0"/>
                <a:ea typeface="Calibri" panose="020F0502020204030204" pitchFamily="34" charset="0"/>
                <a:cs typeface="Calibri" panose="020F0502020204030204" pitchFamily="34" charset="0"/>
              </a:rPr>
              <a:t>4th</a:t>
            </a:r>
            <a:r>
              <a:rPr lang="en-US" dirty="0"/>
              <a:t> KPI: Reflects the number of accounts that have been successfully converted into customers. </a:t>
            </a:r>
            <a:r>
              <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Calibri" panose="020F0502020204030204" pitchFamily="34" charset="0"/>
                <a:ea typeface="Calibri" panose="020F0502020204030204" pitchFamily="34" charset="0"/>
                <a:cs typeface="Calibri" panose="020F0502020204030204" pitchFamily="34" charset="0"/>
              </a:rPr>
              <a:t>5th</a:t>
            </a:r>
            <a:r>
              <a:rPr lang="en-US" dirty="0"/>
              <a:t> KPI: Highlights the total opportunities that resulted in successful conversions.</a:t>
            </a:r>
            <a:endParaRPr lang="en-US"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endParaRPr>
          </a:p>
        </p:txBody>
      </p:sp>
      <p:sp>
        <p:nvSpPr>
          <p:cNvPr id="6" name="TextBox 5">
            <a:extLst>
              <a:ext uri="{FF2B5EF4-FFF2-40B4-BE49-F238E27FC236}">
                <a16:creationId xmlns:a16="http://schemas.microsoft.com/office/drawing/2014/main" id="{85B12F67-8341-5BC0-1DCF-851A547588BE}"/>
              </a:ext>
            </a:extLst>
          </p:cNvPr>
          <p:cNvSpPr txBox="1"/>
          <p:nvPr/>
        </p:nvSpPr>
        <p:spPr>
          <a:xfrm>
            <a:off x="211392" y="2795349"/>
            <a:ext cx="11808542" cy="4062651"/>
          </a:xfrm>
          <a:prstGeom prst="rect">
            <a:avLst/>
          </a:prstGeom>
          <a:noFill/>
        </p:spPr>
        <p:txBody>
          <a:bodyPr wrap="square">
            <a:spAutoFit/>
          </a:bodyPr>
          <a:lstStyle/>
          <a:p>
            <a:pPr>
              <a:buClr>
                <a:srgbClr val="92D050"/>
              </a:buClr>
            </a:pPr>
            <a:r>
              <a:rPr lang="en-IN" sz="2000" b="1" dirty="0">
                <a:solidFill>
                  <a:schemeClr val="accent5">
                    <a:lumMod val="75000"/>
                  </a:schemeClr>
                </a:solidFill>
                <a:latin typeface="Castellar" panose="020A0402060406010301" pitchFamily="18" charset="0"/>
              </a:rPr>
              <a:t>Observation</a:t>
            </a:r>
            <a:r>
              <a:rPr lang="en-IN" dirty="0"/>
              <a:t>: </a:t>
            </a:r>
            <a:r>
              <a:rPr lang="en-US" dirty="0"/>
              <a:t>A large pool of leads indicates strong market reach but also requires careful qualification. High potential revenue reflects strong deal values among converted leads. Moderate conversion rate suggests room for improvement in lead nurturing. Nearly </a:t>
            </a:r>
            <a:r>
              <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Calibri" panose="020F0502020204030204" pitchFamily="34" charset="0"/>
                <a:ea typeface="Calibri" panose="020F0502020204030204" pitchFamily="34" charset="0"/>
                <a:cs typeface="Calibri" panose="020F0502020204030204" pitchFamily="34" charset="0"/>
              </a:rPr>
              <a:t>500</a:t>
            </a:r>
            <a:r>
              <a:rPr lang="en-US" dirty="0"/>
              <a:t> accounts converted shows meaningful customer acquisition. Strong opportunity conversion reflects effective deal closure practices.</a:t>
            </a:r>
            <a:endPar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endParaRPr>
          </a:p>
          <a:p>
            <a:pPr>
              <a:buClr>
                <a:srgbClr val="92D050"/>
              </a:buClr>
            </a:pPr>
            <a:endParaRPr lang="en-US" dirty="0"/>
          </a:p>
          <a:p>
            <a:pPr>
              <a:buClr>
                <a:srgbClr val="92D050"/>
              </a:buClr>
            </a:pPr>
            <a:r>
              <a:rPr lang="en-IN" sz="2000" b="1" dirty="0">
                <a:solidFill>
                  <a:schemeClr val="accent5">
                    <a:lumMod val="75000"/>
                  </a:schemeClr>
                </a:solidFill>
                <a:latin typeface="Castellar" panose="020A0402060406010301" pitchFamily="18" charset="0"/>
              </a:rPr>
              <a:t>Suggestion</a:t>
            </a:r>
            <a:r>
              <a:rPr lang="en-IN" dirty="0"/>
              <a:t>: </a:t>
            </a:r>
            <a:r>
              <a:rPr lang="en-US" dirty="0"/>
              <a:t>Implement lead scoring to filter high‑quality prospects and reduce wasted effort. Prioritize nurturing high‑value accounts to ensure revenue realization. Strengthen sales funnel touchpoints and personalize engagement strategies. Build long‑term relationships with these accounts to maximize lifetime value. Analyze successful opportunity patterns and replicate across other segments.</a:t>
            </a:r>
            <a:endPar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endParaRPr>
          </a:p>
          <a:p>
            <a:pPr>
              <a:buClr>
                <a:srgbClr val="92D050"/>
              </a:buClr>
            </a:pPr>
            <a:endParaRPr lang="en-US" dirty="0"/>
          </a:p>
          <a:p>
            <a:pPr>
              <a:buClr>
                <a:srgbClr val="92D050"/>
              </a:buClr>
            </a:pPr>
            <a:r>
              <a:rPr lang="en-IN" sz="2000" b="1" dirty="0">
                <a:solidFill>
                  <a:schemeClr val="accent5">
                    <a:lumMod val="75000"/>
                  </a:schemeClr>
                </a:solidFill>
                <a:latin typeface="Castellar" panose="020A0402060406010301" pitchFamily="18" charset="0"/>
              </a:rPr>
              <a:t>Conclusion</a:t>
            </a:r>
            <a:r>
              <a:rPr lang="en-IN" dirty="0"/>
              <a:t>: </a:t>
            </a:r>
            <a:r>
              <a:rPr lang="en-US" dirty="0"/>
              <a:t>Lead volume is strong; quality focus will drive better conversions. Revenue potential is robust; execution is key to capturing it. Conversion is decent but can be lifted with targeted process improvements. Account conversion is healthy; retention strategies will amplify impact. Opportunity conversion is promising; scaling best practices can boost growth.</a:t>
            </a:r>
            <a:endPar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endParaRPr>
          </a:p>
        </p:txBody>
      </p:sp>
      <p:pic>
        <p:nvPicPr>
          <p:cNvPr id="3" name="Picture 2">
            <a:extLst>
              <a:ext uri="{FF2B5EF4-FFF2-40B4-BE49-F238E27FC236}">
                <a16:creationId xmlns:a16="http://schemas.microsoft.com/office/drawing/2014/main" id="{4BDBCFBC-5C20-381D-1B1E-4C204A0DE65E}"/>
              </a:ext>
            </a:extLst>
          </p:cNvPr>
          <p:cNvPicPr>
            <a:picLocks noChangeAspect="1"/>
          </p:cNvPicPr>
          <p:nvPr/>
        </p:nvPicPr>
        <p:blipFill>
          <a:blip r:embed="rId2"/>
          <a:stretch>
            <a:fillRect/>
          </a:stretch>
        </p:blipFill>
        <p:spPr>
          <a:xfrm>
            <a:off x="211392" y="1729165"/>
            <a:ext cx="11585497" cy="1000265"/>
          </a:xfrm>
          <a:prstGeom prst="rect">
            <a:avLst/>
          </a:prstGeom>
        </p:spPr>
      </p:pic>
    </p:spTree>
    <p:extLst>
      <p:ext uri="{BB962C8B-B14F-4D97-AF65-F5344CB8AC3E}">
        <p14:creationId xmlns:p14="http://schemas.microsoft.com/office/powerpoint/2010/main" val="1150302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02267" y="116974"/>
            <a:ext cx="9465733" cy="483578"/>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fontScale="85000" lnSpcReduction="20000"/>
          </a:bodyPr>
          <a:lstStyle>
            <a:lvl1pPr algn="ctr" defTabSz="914400">
              <a:lnSpc>
                <a:spcPct val="90000"/>
              </a:lnSpc>
              <a:spcBef>
                <a:spcPct val="0"/>
              </a:spcBef>
              <a:buNone/>
              <a:defRPr sz="4000" b="0">
                <a:ln w="13462">
                  <a:solidFill>
                    <a:schemeClr val="bg1"/>
                  </a:solidFill>
                  <a:prstDash val="solid"/>
                </a:ln>
                <a:solidFill>
                  <a:schemeClr val="tx2">
                    <a:lumMod val="90000"/>
                  </a:schemeClr>
                </a:solidFill>
                <a:effectLst>
                  <a:outerShdw blurRad="38100" dist="38100" dir="2700000" algn="tl">
                    <a:srgbClr val="000000">
                      <a:alpha val="43137"/>
                    </a:srgbClr>
                  </a:outerShdw>
                </a:effectLst>
                <a:latin typeface="Eras Demi ITC" panose="020B0805030504020804" pitchFamily="34" charset="0"/>
                <a:ea typeface="Calibri" panose="020F0502020204030204"/>
                <a:cs typeface="Calibri" panose="020F0502020204030204"/>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t>K</a:t>
            </a:r>
            <a:r>
              <a:rPr lang="en-IN"/>
              <a:t>PI </a:t>
            </a:r>
            <a:r>
              <a:rPr lang="en-IN" dirty="0"/>
              <a:t>Insights(Leads</a:t>
            </a:r>
            <a:r>
              <a:rPr lang="en-IN"/>
              <a:t>) </a:t>
            </a:r>
            <a:endParaRPr lang="en-IN" dirty="0"/>
          </a:p>
        </p:txBody>
      </p:sp>
      <p:sp>
        <p:nvSpPr>
          <p:cNvPr id="4" name="TextBox 3">
            <a:extLst>
              <a:ext uri="{FF2B5EF4-FFF2-40B4-BE49-F238E27FC236}">
                <a16:creationId xmlns:a16="http://schemas.microsoft.com/office/drawing/2014/main" id="{1642DF69-475D-98DB-43BE-A831628D9B33}"/>
              </a:ext>
            </a:extLst>
          </p:cNvPr>
          <p:cNvSpPr txBox="1"/>
          <p:nvPr/>
        </p:nvSpPr>
        <p:spPr>
          <a:xfrm>
            <a:off x="216366" y="684361"/>
            <a:ext cx="9684795" cy="400110"/>
          </a:xfrm>
          <a:prstGeom prst="rect">
            <a:avLst/>
          </a:prstGeom>
          <a:noFill/>
        </p:spPr>
        <p:txBody>
          <a:bodyPr wrap="square" rtlCol="0">
            <a:spAutoFit/>
          </a:bodyPr>
          <a:lstStyle/>
          <a:p>
            <a:r>
              <a:rPr lang="en-US" sz="2000" b="1" dirty="0">
                <a:solidFill>
                  <a:schemeClr val="accent1">
                    <a:lumMod val="60000"/>
                    <a:lumOff val="40000"/>
                  </a:schemeClr>
                </a:solidFill>
                <a:latin typeface="Castellar" panose="020A0402060406010301" pitchFamily="18" charset="0"/>
              </a:rPr>
              <a:t>KPI 6 </a:t>
            </a:r>
            <a:r>
              <a:rPr lang="en-US" sz="2000" b="1" dirty="0">
                <a:solidFill>
                  <a:schemeClr val="accent1">
                    <a:lumMod val="60000"/>
                    <a:lumOff val="40000"/>
                  </a:schemeClr>
                </a:solidFill>
                <a:latin typeface="Calibri" panose="020F0502020204030204" pitchFamily="34" charset="0"/>
                <a:ea typeface="Calibri" panose="020F0502020204030204" pitchFamily="34" charset="0"/>
                <a:cs typeface="Calibri" panose="020F0502020204030204" pitchFamily="34" charset="0"/>
              </a:rPr>
              <a:t>:-</a:t>
            </a:r>
            <a:r>
              <a:rPr lang="en-US" sz="2000" b="1" dirty="0">
                <a:solidFill>
                  <a:schemeClr val="accent1">
                    <a:lumMod val="60000"/>
                    <a:lumOff val="40000"/>
                  </a:schemeClr>
                </a:solidFill>
                <a:latin typeface="Castellar" panose="020A0402060406010301" pitchFamily="18" charset="0"/>
                <a:ea typeface="Calibri" panose="020F0502020204030204" pitchFamily="34" charset="0"/>
                <a:cs typeface="Calibri" panose="020F0502020204030204" pitchFamily="34" charset="0"/>
              </a:rPr>
              <a:t>TOTAL LEADS BY LEAD SOURCE </a:t>
            </a:r>
            <a:endParaRPr lang="en-IN" sz="2000" b="1" dirty="0">
              <a:solidFill>
                <a:schemeClr val="accent1">
                  <a:lumMod val="60000"/>
                  <a:lumOff val="40000"/>
                </a:schemeClr>
              </a:solidFill>
              <a:latin typeface="Castellar" panose="020A0402060406010301" pitchFamily="18" charset="0"/>
            </a:endParaRPr>
          </a:p>
        </p:txBody>
      </p:sp>
      <p:sp>
        <p:nvSpPr>
          <p:cNvPr id="6" name="TextBox 5">
            <a:extLst>
              <a:ext uri="{FF2B5EF4-FFF2-40B4-BE49-F238E27FC236}">
                <a16:creationId xmlns:a16="http://schemas.microsoft.com/office/drawing/2014/main" id="{2DE852D7-1E0F-0BD0-86C4-C00685B9D955}"/>
              </a:ext>
            </a:extLst>
          </p:cNvPr>
          <p:cNvSpPr txBox="1"/>
          <p:nvPr/>
        </p:nvSpPr>
        <p:spPr>
          <a:xfrm>
            <a:off x="6299200" y="1735667"/>
            <a:ext cx="5832432" cy="5122333"/>
          </a:xfrm>
          <a:prstGeom prst="rect">
            <a:avLst/>
          </a:prstGeom>
          <a:noFill/>
        </p:spPr>
        <p:txBody>
          <a:bodyPr wrap="square">
            <a:spAutoFit/>
          </a:bodyPr>
          <a:lstStyle/>
          <a:p>
            <a:pPr>
              <a:buClr>
                <a:srgbClr val="92D050"/>
              </a:buClr>
            </a:pPr>
            <a:r>
              <a:rPr lang="en-IN" sz="2000" b="1" dirty="0">
                <a:solidFill>
                  <a:schemeClr val="accent5"/>
                </a:solidFill>
                <a:latin typeface="Castellar" panose="020A0402060406010301" pitchFamily="18" charset="0"/>
              </a:rPr>
              <a:t>Observation</a:t>
            </a:r>
            <a:r>
              <a:rPr lang="en-IN" dirty="0"/>
              <a:t>:</a:t>
            </a:r>
            <a:r>
              <a:rPr lang="en-IN" b="1" dirty="0">
                <a:latin typeface="Aptos Display" panose="020B0004020202020204" pitchFamily="34" charset="0"/>
              </a:rPr>
              <a:t>I</a:t>
            </a:r>
            <a:r>
              <a:rPr lang="en-US" b="1" dirty="0" err="1">
                <a:latin typeface="Aptos Display" panose="020B0004020202020204" pitchFamily="34" charset="0"/>
              </a:rPr>
              <a:t>nside</a:t>
            </a:r>
            <a:r>
              <a:rPr lang="en-US" b="1" dirty="0">
                <a:latin typeface="Aptos Display" panose="020B0004020202020204" pitchFamily="34" charset="0"/>
              </a:rPr>
              <a:t> Sales is the top-performing channel with 2,786 leads, closely followed by the Website at 2,195 leads. Outbound and digital channels are generating the highest volume, while event-based channels like Sales Seminars (207) and Eblasts (298) contribute the least.</a:t>
            </a:r>
            <a:r>
              <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Aptos Display" panose="020B0004020202020204" pitchFamily="34" charset="0"/>
              </a:rPr>
              <a:t>.</a:t>
            </a:r>
          </a:p>
          <a:p>
            <a:pPr>
              <a:buClr>
                <a:srgbClr val="92D050"/>
              </a:buClr>
            </a:pPr>
            <a:endParaRPr lang="en-US" dirty="0"/>
          </a:p>
          <a:p>
            <a:pPr>
              <a:buClr>
                <a:srgbClr val="92D050"/>
              </a:buClr>
            </a:pPr>
            <a:r>
              <a:rPr lang="en-IN" sz="2000" b="1" dirty="0">
                <a:solidFill>
                  <a:schemeClr val="accent5"/>
                </a:solidFill>
                <a:latin typeface="Castellar" panose="020A0402060406010301" pitchFamily="18" charset="0"/>
              </a:rPr>
              <a:t>Suggestion</a:t>
            </a:r>
            <a:r>
              <a:rPr lang="en-IN" dirty="0"/>
              <a:t>:</a:t>
            </a:r>
            <a:r>
              <a:rPr lang="en-US" b="1" dirty="0">
                <a:latin typeface="Aptos Display" panose="020B0004020202020204" pitchFamily="34" charset="0"/>
              </a:rPr>
              <a:t>Double down on financing and resources for Inside Sales and Website optimization to scale lead volume further. Concurrently, re-evaluate the ROI of lower-performing channels like Sales Seminars to see if that budget can be reallocated to digital avenues.</a:t>
            </a:r>
          </a:p>
          <a:p>
            <a:pPr>
              <a:buClr>
                <a:srgbClr val="92D050"/>
              </a:buClr>
            </a:pPr>
            <a:endParaRPr lang="en-US" b="1" dirty="0">
              <a:latin typeface="Aptos Display" panose="020B0004020202020204" pitchFamily="34" charset="0"/>
            </a:endParaRPr>
          </a:p>
          <a:p>
            <a:pPr>
              <a:buClr>
                <a:srgbClr val="92D050"/>
              </a:buClr>
            </a:pPr>
            <a:r>
              <a:rPr lang="en-IN" sz="2000" b="1" dirty="0">
                <a:solidFill>
                  <a:schemeClr val="accent5"/>
                </a:solidFill>
                <a:latin typeface="Castellar" panose="020A0402060406010301" pitchFamily="18" charset="0"/>
              </a:rPr>
              <a:t>Conclusion</a:t>
            </a:r>
            <a:r>
              <a:rPr lang="en-IN" dirty="0"/>
              <a:t>:</a:t>
            </a:r>
            <a:r>
              <a:rPr lang="en-US" b="1" dirty="0">
                <a:latin typeface="Aptos Display" panose="020B0004020202020204" pitchFamily="34" charset="0"/>
              </a:rPr>
              <a:t>Inbound web traffic and proactive internal sales development are the primary engines powering your pipeline. Maximizing these two dominant channels ensures a highly predictable flow of raw leads into the top of your funnel.</a:t>
            </a:r>
            <a:endPar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Aptos Display" panose="020B0004020202020204" pitchFamily="34" charset="0"/>
            </a:endParaRPr>
          </a:p>
        </p:txBody>
      </p:sp>
      <p:sp>
        <p:nvSpPr>
          <p:cNvPr id="7" name="TextBox 6">
            <a:extLst>
              <a:ext uri="{FF2B5EF4-FFF2-40B4-BE49-F238E27FC236}">
                <a16:creationId xmlns:a16="http://schemas.microsoft.com/office/drawing/2014/main" id="{A61E086E-4BB5-AAE0-8787-EA4E7173AAAE}"/>
              </a:ext>
            </a:extLst>
          </p:cNvPr>
          <p:cNvSpPr txBox="1"/>
          <p:nvPr/>
        </p:nvSpPr>
        <p:spPr>
          <a:xfrm>
            <a:off x="216366" y="1084471"/>
            <a:ext cx="11638974" cy="707886"/>
          </a:xfrm>
          <a:prstGeom prst="rect">
            <a:avLst/>
          </a:prstGeom>
          <a:noFill/>
        </p:spPr>
        <p:txBody>
          <a:bodyPr wrap="square">
            <a:spAutoFit/>
          </a:bodyPr>
          <a:lstStyle/>
          <a:p>
            <a:pPr>
              <a:buClr>
                <a:srgbClr val="92D050"/>
              </a:buClr>
            </a:pPr>
            <a:r>
              <a:rPr lang="en-US" sz="2000" b="1" dirty="0">
                <a:solidFill>
                  <a:schemeClr val="accent5"/>
                </a:solidFill>
                <a:latin typeface="Castellar" panose="020A0402060406010301" pitchFamily="18" charset="0"/>
              </a:rPr>
              <a:t>About Chart</a:t>
            </a:r>
            <a:r>
              <a:rPr lang="en-US" sz="2000" b="1" dirty="0">
                <a:solidFill>
                  <a:schemeClr val="accent1">
                    <a:lumMod val="60000"/>
                    <a:lumOff val="40000"/>
                  </a:schemeClr>
                </a:solidFill>
                <a:latin typeface="Castellar" panose="020A0402060406010301" pitchFamily="18" charset="0"/>
              </a:rPr>
              <a:t>: </a:t>
            </a:r>
            <a:r>
              <a:rPr lang="en-US" sz="2000" b="1" dirty="0">
                <a:latin typeface="Aptos Display" panose="020B0004020202020204" pitchFamily="34" charset="0"/>
              </a:rPr>
              <a:t>This chart breaks down the total volume of generated leads across various marketing and sales channels, such as Inside Sales, Website, Trade Shows, Webinars, and Advertisements.</a:t>
            </a:r>
            <a:endParaRPr lang="en-US" b="1" dirty="0">
              <a:latin typeface="Aptos Display" panose="020B0004020202020204" pitchFamily="34" charset="0"/>
            </a:endParaRPr>
          </a:p>
        </p:txBody>
      </p:sp>
      <p:pic>
        <p:nvPicPr>
          <p:cNvPr id="9" name="Picture 8">
            <a:extLst>
              <a:ext uri="{FF2B5EF4-FFF2-40B4-BE49-F238E27FC236}">
                <a16:creationId xmlns:a16="http://schemas.microsoft.com/office/drawing/2014/main" id="{08A11252-4937-8790-27FC-C3D9030EACA5}"/>
              </a:ext>
            </a:extLst>
          </p:cNvPr>
          <p:cNvPicPr>
            <a:picLocks noChangeAspect="1"/>
          </p:cNvPicPr>
          <p:nvPr/>
        </p:nvPicPr>
        <p:blipFill>
          <a:blip r:embed="rId2"/>
          <a:stretch>
            <a:fillRect/>
          </a:stretch>
        </p:blipFill>
        <p:spPr>
          <a:xfrm>
            <a:off x="60368" y="2336800"/>
            <a:ext cx="6268441" cy="425081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p:bldP spid="6"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86AF8F7-A952-2640-CCBD-0D3A11CCC2C9}"/>
              </a:ext>
            </a:extLst>
          </p:cNvPr>
          <p:cNvSpPr txBox="1"/>
          <p:nvPr/>
        </p:nvSpPr>
        <p:spPr>
          <a:xfrm>
            <a:off x="199434" y="228686"/>
            <a:ext cx="9684795" cy="400110"/>
          </a:xfrm>
          <a:prstGeom prst="rect">
            <a:avLst/>
          </a:prstGeom>
          <a:noFill/>
        </p:spPr>
        <p:txBody>
          <a:bodyPr wrap="square" rtlCol="0">
            <a:spAutoFit/>
          </a:bodyPr>
          <a:lstStyle/>
          <a:p>
            <a:r>
              <a:rPr lang="en-US" sz="2000" b="1" dirty="0">
                <a:solidFill>
                  <a:schemeClr val="accent1">
                    <a:lumMod val="60000"/>
                    <a:lumOff val="40000"/>
                  </a:schemeClr>
                </a:solidFill>
                <a:latin typeface="Castellar" panose="020A0402060406010301" pitchFamily="18" charset="0"/>
              </a:rPr>
              <a:t>KPI 7</a:t>
            </a:r>
            <a:r>
              <a:rPr lang="en-US" sz="2000" b="1" dirty="0">
                <a:solidFill>
                  <a:schemeClr val="accent1">
                    <a:lumMod val="60000"/>
                    <a:lumOff val="40000"/>
                  </a:schemeClr>
                </a:solidFill>
                <a:latin typeface="Calibri" panose="020F0502020204030204" pitchFamily="34" charset="0"/>
                <a:ea typeface="Calibri" panose="020F0502020204030204" pitchFamily="34" charset="0"/>
                <a:cs typeface="Calibri" panose="020F0502020204030204" pitchFamily="34" charset="0"/>
              </a:rPr>
              <a:t>:-</a:t>
            </a:r>
            <a:r>
              <a:rPr lang="en-US" sz="2000" b="1" dirty="0">
                <a:solidFill>
                  <a:schemeClr val="accent1">
                    <a:lumMod val="60000"/>
                    <a:lumOff val="40000"/>
                  </a:schemeClr>
                </a:solidFill>
                <a:latin typeface="Castellar" panose="020A0402060406010301" pitchFamily="18" charset="0"/>
                <a:ea typeface="Calibri" panose="020F0502020204030204" pitchFamily="34" charset="0"/>
                <a:cs typeface="Calibri" panose="020F0502020204030204" pitchFamily="34" charset="0"/>
              </a:rPr>
              <a:t>LEADS BY INDUSTRY</a:t>
            </a:r>
            <a:endParaRPr lang="en-IN" sz="2000" b="1" dirty="0">
              <a:solidFill>
                <a:schemeClr val="accent1">
                  <a:lumMod val="60000"/>
                  <a:lumOff val="40000"/>
                </a:schemeClr>
              </a:solidFill>
              <a:latin typeface="Castellar" panose="020A0402060406010301" pitchFamily="18" charset="0"/>
            </a:endParaRPr>
          </a:p>
        </p:txBody>
      </p:sp>
      <p:sp>
        <p:nvSpPr>
          <p:cNvPr id="9" name="TextBox 8">
            <a:extLst>
              <a:ext uri="{FF2B5EF4-FFF2-40B4-BE49-F238E27FC236}">
                <a16:creationId xmlns:a16="http://schemas.microsoft.com/office/drawing/2014/main" id="{87762DC2-70E5-DBC0-41EE-54C2AD5F3AA8}"/>
              </a:ext>
            </a:extLst>
          </p:cNvPr>
          <p:cNvSpPr txBox="1"/>
          <p:nvPr/>
        </p:nvSpPr>
        <p:spPr>
          <a:xfrm>
            <a:off x="6299200" y="1735667"/>
            <a:ext cx="5334000" cy="5170646"/>
          </a:xfrm>
          <a:prstGeom prst="rect">
            <a:avLst/>
          </a:prstGeom>
          <a:noFill/>
        </p:spPr>
        <p:txBody>
          <a:bodyPr wrap="square">
            <a:spAutoFit/>
          </a:bodyPr>
          <a:lstStyle/>
          <a:p>
            <a:pPr>
              <a:buClr>
                <a:srgbClr val="92D050"/>
              </a:buClr>
            </a:pPr>
            <a:r>
              <a:rPr lang="en-IN" sz="2000" b="1" dirty="0">
                <a:solidFill>
                  <a:schemeClr val="accent5"/>
                </a:solidFill>
                <a:latin typeface="Castellar" panose="020A0402060406010301" pitchFamily="18" charset="0"/>
              </a:rPr>
              <a:t>Observation</a:t>
            </a:r>
            <a:r>
              <a:rPr lang="en-IN" dirty="0"/>
              <a:t>:</a:t>
            </a:r>
            <a:r>
              <a:rPr lang="en-US" b="1" dirty="0">
                <a:latin typeface="Aptos Display" panose="020B0004020202020204" pitchFamily="34" charset="0"/>
              </a:rPr>
              <a:t>The pipeline is heavily consolidated between two massive industry sectors: Safety and Security and Life Sciences, which together make up nearly the entire chart, while fields like Distributor represent a tiny fragment.</a:t>
            </a:r>
            <a:r>
              <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Aptos Display" panose="020B0004020202020204" pitchFamily="34" charset="0"/>
              </a:rPr>
              <a:t>.</a:t>
            </a:r>
          </a:p>
          <a:p>
            <a:pPr>
              <a:buClr>
                <a:srgbClr val="92D050"/>
              </a:buClr>
            </a:pPr>
            <a:endParaRPr lang="en-US" dirty="0"/>
          </a:p>
          <a:p>
            <a:pPr>
              <a:buClr>
                <a:srgbClr val="92D050"/>
              </a:buClr>
            </a:pPr>
            <a:r>
              <a:rPr lang="en-IN" sz="2000" b="1" dirty="0">
                <a:solidFill>
                  <a:schemeClr val="accent5"/>
                </a:solidFill>
                <a:latin typeface="Castellar" panose="020A0402060406010301" pitchFamily="18" charset="0"/>
              </a:rPr>
              <a:t>Suggestion</a:t>
            </a:r>
            <a:r>
              <a:rPr lang="en-IN" dirty="0"/>
              <a:t>:</a:t>
            </a:r>
            <a:r>
              <a:rPr lang="en-US" b="1" dirty="0">
                <a:latin typeface="Aptos Display" panose="020B0004020202020204" pitchFamily="34" charset="0"/>
              </a:rPr>
              <a:t>Equip sales teams with specialized, industry-specific case studies and messaging tailored strictly to Safety, Security, and Life Sciences buyers. To build a more resilient pipeline, launch exploratory campaigns to see if other industries can be successfully penetrated.</a:t>
            </a:r>
          </a:p>
          <a:p>
            <a:pPr>
              <a:buClr>
                <a:srgbClr val="92D050"/>
              </a:buClr>
            </a:pPr>
            <a:endParaRPr lang="en-US" b="1" dirty="0">
              <a:latin typeface="Aptos Display" panose="020B0004020202020204" pitchFamily="34" charset="0"/>
            </a:endParaRPr>
          </a:p>
          <a:p>
            <a:pPr>
              <a:buClr>
                <a:srgbClr val="92D050"/>
              </a:buClr>
            </a:pPr>
            <a:r>
              <a:rPr lang="en-IN" sz="2000" b="1" dirty="0">
                <a:solidFill>
                  <a:schemeClr val="accent5"/>
                </a:solidFill>
                <a:latin typeface="Castellar" panose="020A0402060406010301" pitchFamily="18" charset="0"/>
              </a:rPr>
              <a:t>Conclusion</a:t>
            </a:r>
            <a:r>
              <a:rPr lang="en-IN" dirty="0"/>
              <a:t>:</a:t>
            </a:r>
            <a:r>
              <a:rPr lang="en-US" b="1" dirty="0">
                <a:latin typeface="Aptos Display" panose="020B0004020202020204" pitchFamily="34" charset="0"/>
              </a:rPr>
              <a:t>Product-market fit is highly concentrated in two major verticals. This clear positioning allows marketing teams to run highly hyper-targeted campaigns that speak directly to the core pain points of those two primary sectors.</a:t>
            </a:r>
            <a:endPar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Aptos Display" panose="020B0004020202020204" pitchFamily="34" charset="0"/>
            </a:endParaRPr>
          </a:p>
        </p:txBody>
      </p:sp>
      <p:sp>
        <p:nvSpPr>
          <p:cNvPr id="10" name="TextBox 9">
            <a:extLst>
              <a:ext uri="{FF2B5EF4-FFF2-40B4-BE49-F238E27FC236}">
                <a16:creationId xmlns:a16="http://schemas.microsoft.com/office/drawing/2014/main" id="{616193A6-E84A-8A5B-5935-67A7102FF364}"/>
              </a:ext>
            </a:extLst>
          </p:cNvPr>
          <p:cNvSpPr txBox="1"/>
          <p:nvPr/>
        </p:nvSpPr>
        <p:spPr>
          <a:xfrm>
            <a:off x="199434" y="1084471"/>
            <a:ext cx="11793132" cy="707886"/>
          </a:xfrm>
          <a:prstGeom prst="rect">
            <a:avLst/>
          </a:prstGeom>
          <a:noFill/>
        </p:spPr>
        <p:txBody>
          <a:bodyPr wrap="square">
            <a:spAutoFit/>
          </a:bodyPr>
          <a:lstStyle/>
          <a:p>
            <a:pPr>
              <a:buClr>
                <a:srgbClr val="92D050"/>
              </a:buClr>
            </a:pPr>
            <a:r>
              <a:rPr lang="en-US" sz="2000" b="1" dirty="0">
                <a:solidFill>
                  <a:schemeClr val="accent5"/>
                </a:solidFill>
                <a:latin typeface="Castellar" panose="020A0402060406010301" pitchFamily="18" charset="0"/>
              </a:rPr>
              <a:t>About </a:t>
            </a:r>
            <a:r>
              <a:rPr lang="en-US" sz="2000" b="1" dirty="0" err="1">
                <a:solidFill>
                  <a:schemeClr val="accent5"/>
                </a:solidFill>
                <a:latin typeface="Castellar" panose="020A0402060406010301" pitchFamily="18" charset="0"/>
              </a:rPr>
              <a:t>Chart</a:t>
            </a:r>
            <a:r>
              <a:rPr lang="en-US" sz="2000" b="1" dirty="0" err="1">
                <a:solidFill>
                  <a:schemeClr val="accent1">
                    <a:lumMod val="60000"/>
                    <a:lumOff val="40000"/>
                  </a:schemeClr>
                </a:solidFill>
                <a:latin typeface="Castellar" panose="020A0402060406010301" pitchFamily="18" charset="0"/>
              </a:rPr>
              <a:t>:</a:t>
            </a:r>
            <a:r>
              <a:rPr lang="en-US" sz="2000" b="1" dirty="0" err="1">
                <a:latin typeface="Aptos Display" panose="020B0004020202020204" pitchFamily="34" charset="0"/>
              </a:rPr>
              <a:t>This</a:t>
            </a:r>
            <a:r>
              <a:rPr lang="en-US" sz="2000" b="1" dirty="0">
                <a:latin typeface="Aptos Display" panose="020B0004020202020204" pitchFamily="34" charset="0"/>
              </a:rPr>
              <a:t> donut chart visualizes the industry sector distribution of your incoming leads, identifying which corporate verticals are most engaged with your offerings.</a:t>
            </a:r>
            <a:endParaRPr lang="en-US" b="1" dirty="0">
              <a:latin typeface="Aptos Display" panose="020B0004020202020204" pitchFamily="34" charset="0"/>
            </a:endParaRPr>
          </a:p>
        </p:txBody>
      </p:sp>
      <p:pic>
        <p:nvPicPr>
          <p:cNvPr id="13" name="Picture 12">
            <a:extLst>
              <a:ext uri="{FF2B5EF4-FFF2-40B4-BE49-F238E27FC236}">
                <a16:creationId xmlns:a16="http://schemas.microsoft.com/office/drawing/2014/main" id="{5C435FC1-1DC2-3B4F-D0AD-69ED6B155F40}"/>
              </a:ext>
            </a:extLst>
          </p:cNvPr>
          <p:cNvPicPr>
            <a:picLocks noChangeAspect="1"/>
          </p:cNvPicPr>
          <p:nvPr/>
        </p:nvPicPr>
        <p:blipFill>
          <a:blip r:embed="rId2"/>
          <a:stretch>
            <a:fillRect/>
          </a:stretch>
        </p:blipFill>
        <p:spPr>
          <a:xfrm>
            <a:off x="199434" y="2345266"/>
            <a:ext cx="6121051" cy="3530600"/>
          </a:xfrm>
          <a:prstGeom prst="rect">
            <a:avLst/>
          </a:prstGeom>
        </p:spPr>
      </p:pic>
    </p:spTree>
    <p:extLst>
      <p:ext uri="{BB962C8B-B14F-4D97-AF65-F5344CB8AC3E}">
        <p14:creationId xmlns:p14="http://schemas.microsoft.com/office/powerpoint/2010/main" val="864098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2F3D-1A07-F982-2B3B-CB749EB77D8D}"/>
              </a:ext>
            </a:extLst>
          </p:cNvPr>
          <p:cNvSpPr txBox="1"/>
          <p:nvPr/>
        </p:nvSpPr>
        <p:spPr>
          <a:xfrm>
            <a:off x="199434" y="358763"/>
            <a:ext cx="9684795" cy="400110"/>
          </a:xfrm>
          <a:prstGeom prst="rect">
            <a:avLst/>
          </a:prstGeom>
          <a:noFill/>
        </p:spPr>
        <p:txBody>
          <a:bodyPr wrap="square" rtlCol="0">
            <a:spAutoFit/>
          </a:bodyPr>
          <a:lstStyle/>
          <a:p>
            <a:r>
              <a:rPr lang="en-US" sz="2000" b="1" dirty="0">
                <a:solidFill>
                  <a:schemeClr val="accent1">
                    <a:lumMod val="60000"/>
                    <a:lumOff val="40000"/>
                  </a:schemeClr>
                </a:solidFill>
                <a:latin typeface="Castellar" panose="020A0402060406010301" pitchFamily="18" charset="0"/>
              </a:rPr>
              <a:t>KPI 8</a:t>
            </a:r>
            <a:r>
              <a:rPr lang="en-US" sz="2000" b="1" dirty="0">
                <a:solidFill>
                  <a:schemeClr val="accent1">
                    <a:lumMod val="60000"/>
                    <a:lumOff val="40000"/>
                  </a:schemeClr>
                </a:solidFill>
                <a:latin typeface="Calibri" panose="020F0502020204030204" pitchFamily="34" charset="0"/>
                <a:ea typeface="Calibri" panose="020F0502020204030204" pitchFamily="34" charset="0"/>
                <a:cs typeface="Calibri" panose="020F0502020204030204" pitchFamily="34" charset="0"/>
              </a:rPr>
              <a:t>:-TOTAL LEADS BY STAGE</a:t>
            </a:r>
            <a:endParaRPr lang="en-IN" sz="2000" b="1" dirty="0">
              <a:solidFill>
                <a:schemeClr val="accent1">
                  <a:lumMod val="60000"/>
                  <a:lumOff val="40000"/>
                </a:schemeClr>
              </a:solidFill>
              <a:latin typeface="Castellar" panose="020A0402060406010301" pitchFamily="18" charset="0"/>
            </a:endParaRPr>
          </a:p>
        </p:txBody>
      </p:sp>
      <p:sp>
        <p:nvSpPr>
          <p:cNvPr id="3" name="TextBox 2">
            <a:extLst>
              <a:ext uri="{FF2B5EF4-FFF2-40B4-BE49-F238E27FC236}">
                <a16:creationId xmlns:a16="http://schemas.microsoft.com/office/drawing/2014/main" id="{8BECE328-7096-9DCA-E481-61F83EC6AA2A}"/>
              </a:ext>
            </a:extLst>
          </p:cNvPr>
          <p:cNvSpPr txBox="1"/>
          <p:nvPr/>
        </p:nvSpPr>
        <p:spPr>
          <a:xfrm>
            <a:off x="6214533" y="1540935"/>
            <a:ext cx="5842000" cy="5201424"/>
          </a:xfrm>
          <a:prstGeom prst="rect">
            <a:avLst/>
          </a:prstGeom>
          <a:noFill/>
        </p:spPr>
        <p:txBody>
          <a:bodyPr wrap="square">
            <a:spAutoFit/>
          </a:bodyPr>
          <a:lstStyle/>
          <a:p>
            <a:pPr>
              <a:buClr>
                <a:srgbClr val="92D050"/>
              </a:buClr>
            </a:pPr>
            <a:r>
              <a:rPr lang="en-IN" sz="2000" b="1" dirty="0">
                <a:solidFill>
                  <a:schemeClr val="accent5"/>
                </a:solidFill>
                <a:latin typeface="Castellar" panose="020A0402060406010301" pitchFamily="18" charset="0"/>
              </a:rPr>
              <a:t>Observation</a:t>
            </a:r>
            <a:r>
              <a:rPr lang="en-IN" dirty="0"/>
              <a:t>:</a:t>
            </a:r>
            <a:r>
              <a:rPr lang="en-US" b="1" dirty="0">
                <a:latin typeface="Aptos Display" panose="020B0004020202020204" pitchFamily="34" charset="0"/>
              </a:rPr>
              <a:t>A large portion of data is unclassified, sitting in a "(Blank)" category at the top. Additionally, the remaining milestones show a static value of 10.0K across every single stage (Funnel, Closed Lost, Closed Won, etc.), indicating that the data model is currently displaying aggregate lead volume instead of filtered drop-offs.</a:t>
            </a:r>
          </a:p>
          <a:p>
            <a:pPr>
              <a:buClr>
                <a:srgbClr val="92D050"/>
              </a:buClr>
            </a:pPr>
            <a:endParaRPr lang="en-US" sz="2000" b="1" dirty="0">
              <a:solidFill>
                <a:schemeClr val="accent5"/>
              </a:solidFill>
              <a:latin typeface="Castellar" panose="020A0402060406010301" pitchFamily="18" charset="0"/>
            </a:endParaRPr>
          </a:p>
          <a:p>
            <a:pPr>
              <a:buClr>
                <a:srgbClr val="92D050"/>
              </a:buClr>
            </a:pPr>
            <a:r>
              <a:rPr lang="en-IN" sz="2000" b="1" dirty="0">
                <a:solidFill>
                  <a:schemeClr val="accent5"/>
                </a:solidFill>
                <a:latin typeface="Castellar" panose="020A0402060406010301" pitchFamily="18" charset="0"/>
              </a:rPr>
              <a:t>Suggestion</a:t>
            </a:r>
            <a:r>
              <a:rPr lang="en-IN" dirty="0"/>
              <a:t>:</a:t>
            </a:r>
            <a:r>
              <a:rPr lang="en-US" b="1" dirty="0">
                <a:latin typeface="Aptos Display" panose="020B0004020202020204" pitchFamily="34" charset="0"/>
              </a:rPr>
              <a:t>Audit the underlying relationships and data mapping in Power BI. Connect the Lead Table fields properly to individual stage progression metrics so the visual shows a tapering, step-down funnel effect instead of duplicating the flat 10K total across all labels.</a:t>
            </a:r>
          </a:p>
          <a:p>
            <a:pPr>
              <a:buClr>
                <a:srgbClr val="92D050"/>
              </a:buClr>
            </a:pPr>
            <a:endParaRPr lang="en-US" b="1" dirty="0">
              <a:latin typeface="Aptos Display" panose="020B0004020202020204" pitchFamily="34" charset="0"/>
            </a:endParaRPr>
          </a:p>
          <a:p>
            <a:pPr>
              <a:buClr>
                <a:srgbClr val="92D050"/>
              </a:buClr>
            </a:pPr>
            <a:r>
              <a:rPr lang="en-IN" sz="2000" b="1" dirty="0">
                <a:solidFill>
                  <a:schemeClr val="accent5"/>
                </a:solidFill>
                <a:latin typeface="Castellar" panose="020A0402060406010301" pitchFamily="18" charset="0"/>
              </a:rPr>
              <a:t>Conclusion</a:t>
            </a:r>
            <a:r>
              <a:rPr lang="en-IN" dirty="0"/>
              <a:t>:</a:t>
            </a:r>
            <a:r>
              <a:rPr lang="en-US" b="1" dirty="0">
                <a:latin typeface="Aptos Display" panose="020B0004020202020204" pitchFamily="34" charset="0"/>
              </a:rPr>
              <a:t>While the visual confirms an overall capacity of 10K total leads in the system, correcting the relationship mapping in the data model is necessary to unlock true visibility into stage-by-stage progression and conversion drop-offs.</a:t>
            </a:r>
            <a:endParaRPr lang="en-US" b="1"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Aptos Display" panose="020B0004020202020204" pitchFamily="34" charset="0"/>
            </a:endParaRPr>
          </a:p>
        </p:txBody>
      </p:sp>
      <p:sp>
        <p:nvSpPr>
          <p:cNvPr id="4" name="TextBox 3">
            <a:extLst>
              <a:ext uri="{FF2B5EF4-FFF2-40B4-BE49-F238E27FC236}">
                <a16:creationId xmlns:a16="http://schemas.microsoft.com/office/drawing/2014/main" id="{8A10B6EC-DBF7-071A-19A7-38DD9B46F9C9}"/>
              </a:ext>
            </a:extLst>
          </p:cNvPr>
          <p:cNvSpPr txBox="1"/>
          <p:nvPr/>
        </p:nvSpPr>
        <p:spPr>
          <a:xfrm>
            <a:off x="199434" y="758873"/>
            <a:ext cx="11793132" cy="1015663"/>
          </a:xfrm>
          <a:prstGeom prst="rect">
            <a:avLst/>
          </a:prstGeom>
          <a:noFill/>
        </p:spPr>
        <p:txBody>
          <a:bodyPr wrap="square">
            <a:spAutoFit/>
          </a:bodyPr>
          <a:lstStyle/>
          <a:p>
            <a:pPr>
              <a:buClr>
                <a:srgbClr val="92D050"/>
              </a:buClr>
            </a:pPr>
            <a:r>
              <a:rPr lang="en-US" sz="2000" b="1" dirty="0">
                <a:solidFill>
                  <a:schemeClr val="accent5"/>
                </a:solidFill>
                <a:latin typeface="Castellar" panose="020A0402060406010301" pitchFamily="18" charset="0"/>
              </a:rPr>
              <a:t>About Chart</a:t>
            </a:r>
            <a:r>
              <a:rPr lang="en-US" sz="2000" b="1" dirty="0">
                <a:solidFill>
                  <a:schemeClr val="accent1">
                    <a:lumMod val="60000"/>
                    <a:lumOff val="40000"/>
                  </a:schemeClr>
                </a:solidFill>
                <a:latin typeface="Castellar" panose="020A0402060406010301" pitchFamily="18" charset="0"/>
              </a:rPr>
              <a:t>: </a:t>
            </a:r>
            <a:r>
              <a:rPr lang="en-US" sz="2000" b="1" dirty="0">
                <a:latin typeface="Aptos Display" panose="020B0004020202020204" pitchFamily="34" charset="0"/>
              </a:rPr>
              <a:t>This tracking chart attempts to map how your 10K total leads are progressing through various qualification and deal milestones, such as Funnel, Closed Lost, Closed Won, Quoted Funnel, and Commit.</a:t>
            </a:r>
            <a:endParaRPr lang="en-US" b="1" dirty="0">
              <a:latin typeface="Aptos Display" panose="020B0004020202020204" pitchFamily="34" charset="0"/>
            </a:endParaRPr>
          </a:p>
        </p:txBody>
      </p:sp>
      <p:pic>
        <p:nvPicPr>
          <p:cNvPr id="7" name="Picture 6">
            <a:extLst>
              <a:ext uri="{FF2B5EF4-FFF2-40B4-BE49-F238E27FC236}">
                <a16:creationId xmlns:a16="http://schemas.microsoft.com/office/drawing/2014/main" id="{698E467D-94A6-9C58-50AB-45C2EDABD489}"/>
              </a:ext>
            </a:extLst>
          </p:cNvPr>
          <p:cNvPicPr>
            <a:picLocks noChangeAspect="1"/>
          </p:cNvPicPr>
          <p:nvPr/>
        </p:nvPicPr>
        <p:blipFill>
          <a:blip r:embed="rId2"/>
          <a:stretch>
            <a:fillRect/>
          </a:stretch>
        </p:blipFill>
        <p:spPr>
          <a:xfrm>
            <a:off x="1540932" y="1502781"/>
            <a:ext cx="4436535" cy="5107927"/>
          </a:xfrm>
          <a:prstGeom prst="rect">
            <a:avLst/>
          </a:prstGeom>
        </p:spPr>
      </p:pic>
    </p:spTree>
    <p:extLst>
      <p:ext uri="{BB962C8B-B14F-4D97-AF65-F5344CB8AC3E}">
        <p14:creationId xmlns:p14="http://schemas.microsoft.com/office/powerpoint/2010/main" val="3704531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366" y="158450"/>
            <a:ext cx="10219267" cy="582613"/>
          </a:xfrm>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fontScale="90000"/>
          </a:bodyPr>
          <a:lstStyle/>
          <a:p>
            <a:pPr algn="ctr"/>
            <a:r>
              <a:rPr lang="en-IN" sz="4000" dirty="0">
                <a:ln w="13462">
                  <a:solidFill>
                    <a:schemeClr val="bg1"/>
                  </a:solidFill>
                  <a:prstDash val="solid"/>
                </a:ln>
                <a:solidFill>
                  <a:schemeClr val="tx2">
                    <a:lumMod val="90000"/>
                  </a:schemeClr>
                </a:solidFill>
                <a:effectLst>
                  <a:outerShdw blurRad="38100" dist="38100" dir="2700000" algn="tl">
                    <a:srgbClr val="000000">
                      <a:alpha val="43137"/>
                    </a:srgbClr>
                  </a:outerShdw>
                </a:effectLst>
                <a:latin typeface="Eras Demi ITC" panose="020B0805030504020804" pitchFamily="34" charset="0"/>
                <a:ea typeface="Calibri" panose="020F0502020204030204"/>
                <a:cs typeface="Calibri" panose="020F0502020204030204"/>
              </a:rPr>
              <a:t>Conclusion &amp; Recommendations</a:t>
            </a:r>
          </a:p>
        </p:txBody>
      </p:sp>
      <p:graphicFrame>
        <p:nvGraphicFramePr>
          <p:cNvPr id="4" name="Content Placeholder 3">
            <a:extLst>
              <a:ext uri="{FF2B5EF4-FFF2-40B4-BE49-F238E27FC236}">
                <a16:creationId xmlns:a16="http://schemas.microsoft.com/office/drawing/2014/main" id="{8F9DEECA-48A1-58C3-E836-60A2768FF0B6}"/>
              </a:ext>
            </a:extLst>
          </p:cNvPr>
          <p:cNvGraphicFramePr>
            <a:graphicFrameLocks noGrp="1"/>
          </p:cNvGraphicFramePr>
          <p:nvPr>
            <p:ph idx="1"/>
            <p:extLst>
              <p:ext uri="{D42A27DB-BD31-4B8C-83A1-F6EECF244321}">
                <p14:modId xmlns:p14="http://schemas.microsoft.com/office/powerpoint/2010/main" val="3443947425"/>
              </p:ext>
            </p:extLst>
          </p:nvPr>
        </p:nvGraphicFramePr>
        <p:xfrm>
          <a:off x="738716" y="1072445"/>
          <a:ext cx="10714566" cy="53368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Graphic spid="4"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313A1-CCCF-36FD-8203-8A28A6CE4CEE}"/>
              </a:ext>
            </a:extLst>
          </p:cNvPr>
          <p:cNvSpPr>
            <a:spLocks noGrp="1"/>
          </p:cNvSpPr>
          <p:nvPr>
            <p:ph type="title"/>
          </p:nvPr>
        </p:nvSpPr>
        <p:spPr>
          <a:xfrm>
            <a:off x="838200" y="266803"/>
            <a:ext cx="10515600" cy="500114"/>
          </a:xfrm>
        </p:spPr>
        <p:txBody>
          <a:bodyPr>
            <a:normAutofit/>
          </a:bodyPr>
          <a:lstStyle/>
          <a:p>
            <a:pPr algn="ctr"/>
            <a:r>
              <a:rPr lang="en-US" sz="2800" b="1" dirty="0">
                <a:solidFill>
                  <a:srgbClr val="FFFF00"/>
                </a:solidFill>
                <a:latin typeface="Times New Roman" panose="02020603050405020304" pitchFamily="18" charset="0"/>
                <a:cs typeface="Times New Roman" panose="02020603050405020304" pitchFamily="18" charset="0"/>
              </a:rPr>
              <a:t>EXCEL DASHBOARD</a:t>
            </a:r>
            <a:endParaRPr lang="en-US" sz="2800" dirty="0"/>
          </a:p>
        </p:txBody>
      </p:sp>
      <p:pic>
        <p:nvPicPr>
          <p:cNvPr id="4" name="Content Placeholder 8">
            <a:extLst>
              <a:ext uri="{FF2B5EF4-FFF2-40B4-BE49-F238E27FC236}">
                <a16:creationId xmlns:a16="http://schemas.microsoft.com/office/drawing/2014/main" id="{6C12DBFD-815A-AD7F-85D1-FA5EAA34840E}"/>
              </a:ext>
            </a:extLst>
          </p:cNvPr>
          <p:cNvPicPr>
            <a:picLocks noGrp="1" noChangeAspect="1"/>
          </p:cNvPicPr>
          <p:nvPr>
            <p:ph idx="1"/>
          </p:nvPr>
        </p:nvPicPr>
        <p:blipFill>
          <a:blip r:embed="rId2"/>
          <a:stretch>
            <a:fillRect/>
          </a:stretch>
        </p:blipFill>
        <p:spPr>
          <a:xfrm>
            <a:off x="196646" y="1012723"/>
            <a:ext cx="11779044" cy="5663380"/>
          </a:xfrm>
        </p:spPr>
      </p:pic>
    </p:spTree>
    <p:extLst>
      <p:ext uri="{BB962C8B-B14F-4D97-AF65-F5344CB8AC3E}">
        <p14:creationId xmlns:p14="http://schemas.microsoft.com/office/powerpoint/2010/main" val="19059890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98F86-294E-FBC9-DDD6-D107667377CA}"/>
              </a:ext>
            </a:extLst>
          </p:cNvPr>
          <p:cNvSpPr>
            <a:spLocks noGrp="1"/>
          </p:cNvSpPr>
          <p:nvPr>
            <p:ph type="title"/>
          </p:nvPr>
        </p:nvSpPr>
        <p:spPr>
          <a:xfrm>
            <a:off x="838200" y="365125"/>
            <a:ext cx="10515600" cy="450951"/>
          </a:xfrm>
        </p:spPr>
        <p:txBody>
          <a:bodyPr>
            <a:noAutofit/>
          </a:bodyPr>
          <a:lstStyle/>
          <a:p>
            <a:pPr algn="ctr"/>
            <a:r>
              <a:rPr lang="en-US" sz="2800" b="1" dirty="0">
                <a:solidFill>
                  <a:srgbClr val="FFFF00"/>
                </a:solidFill>
                <a:latin typeface="Times New Roman" panose="02020603050405020304" pitchFamily="18" charset="0"/>
                <a:cs typeface="Times New Roman" panose="02020603050405020304" pitchFamily="18" charset="0"/>
              </a:rPr>
              <a:t>POWER BI DASHBOARD</a:t>
            </a:r>
            <a:endParaRPr lang="en-US" sz="2800" dirty="0"/>
          </a:p>
        </p:txBody>
      </p:sp>
      <p:pic>
        <p:nvPicPr>
          <p:cNvPr id="4" name="Content Placeholder 4">
            <a:extLst>
              <a:ext uri="{FF2B5EF4-FFF2-40B4-BE49-F238E27FC236}">
                <a16:creationId xmlns:a16="http://schemas.microsoft.com/office/drawing/2014/main" id="{0AD6C88B-3AA6-D241-B092-E49DBBDA8944}"/>
              </a:ext>
            </a:extLst>
          </p:cNvPr>
          <p:cNvPicPr>
            <a:picLocks noGrp="1" noChangeAspect="1"/>
          </p:cNvPicPr>
          <p:nvPr>
            <p:ph idx="1"/>
          </p:nvPr>
        </p:nvPicPr>
        <p:blipFill>
          <a:blip r:embed="rId2"/>
          <a:stretch>
            <a:fillRect/>
          </a:stretch>
        </p:blipFill>
        <p:spPr>
          <a:xfrm>
            <a:off x="206477" y="1050424"/>
            <a:ext cx="11700387" cy="5655175"/>
          </a:xfrm>
        </p:spPr>
      </p:pic>
    </p:spTree>
    <p:extLst>
      <p:ext uri="{BB962C8B-B14F-4D97-AF65-F5344CB8AC3E}">
        <p14:creationId xmlns:p14="http://schemas.microsoft.com/office/powerpoint/2010/main" val="2690177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3012E-F8CC-F9FE-14CE-57CB417FE413}"/>
              </a:ext>
            </a:extLst>
          </p:cNvPr>
          <p:cNvSpPr>
            <a:spLocks noGrp="1"/>
          </p:cNvSpPr>
          <p:nvPr>
            <p:ph type="title"/>
          </p:nvPr>
        </p:nvSpPr>
        <p:spPr>
          <a:xfrm>
            <a:off x="838200" y="365126"/>
            <a:ext cx="10515600" cy="500114"/>
          </a:xfrm>
        </p:spPr>
        <p:txBody>
          <a:bodyPr>
            <a:normAutofit/>
          </a:bodyPr>
          <a:lstStyle/>
          <a:p>
            <a:pPr algn="ctr"/>
            <a:r>
              <a:rPr lang="en-US" sz="2800" b="1" dirty="0">
                <a:solidFill>
                  <a:srgbClr val="FFFF00"/>
                </a:solidFill>
                <a:latin typeface="Times New Roman" panose="02020603050405020304" pitchFamily="18" charset="0"/>
                <a:cs typeface="Times New Roman" panose="02020603050405020304" pitchFamily="18" charset="0"/>
              </a:rPr>
              <a:t>TABLEAU DASHBOARD</a:t>
            </a:r>
            <a:endParaRPr lang="en-US" sz="2800" dirty="0"/>
          </a:p>
        </p:txBody>
      </p:sp>
      <p:pic>
        <p:nvPicPr>
          <p:cNvPr id="4" name="Content Placeholder 4">
            <a:extLst>
              <a:ext uri="{FF2B5EF4-FFF2-40B4-BE49-F238E27FC236}">
                <a16:creationId xmlns:a16="http://schemas.microsoft.com/office/drawing/2014/main" id="{60CCB11C-02A7-E002-5113-0DA09E368205}"/>
              </a:ext>
            </a:extLst>
          </p:cNvPr>
          <p:cNvPicPr>
            <a:picLocks noGrp="1" noChangeAspect="1"/>
          </p:cNvPicPr>
          <p:nvPr>
            <p:ph idx="1"/>
          </p:nvPr>
        </p:nvPicPr>
        <p:blipFill>
          <a:blip r:embed="rId2"/>
          <a:stretch>
            <a:fillRect/>
          </a:stretch>
        </p:blipFill>
        <p:spPr>
          <a:xfrm>
            <a:off x="235974" y="1111250"/>
            <a:ext cx="11710219" cy="5575300"/>
          </a:xfrm>
        </p:spPr>
      </p:pic>
    </p:spTree>
    <p:extLst>
      <p:ext uri="{BB962C8B-B14F-4D97-AF65-F5344CB8AC3E}">
        <p14:creationId xmlns:p14="http://schemas.microsoft.com/office/powerpoint/2010/main" val="15054201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419406" y="2397945"/>
            <a:ext cx="10800000" cy="792000"/>
          </a:xfrm>
        </p:spPr>
        <p:txBody>
          <a:bodyPr>
            <a:normAutofit fontScale="90000"/>
          </a:bodyPr>
          <a:lstStyle/>
          <a:p>
            <a:pPr algn="ctr"/>
            <a:r>
              <a:rPr lang="en-IN" dirty="0">
                <a:solidFill>
                  <a:srgbClr val="FF99CC"/>
                </a:solidFill>
                <a:latin typeface="Algerian" panose="04020705040A02060702" pitchFamily="82" charset="0"/>
              </a:rPr>
              <a:t>  </a:t>
            </a:r>
            <a:r>
              <a:rPr lang="en-IN" i="1" dirty="0">
                <a:solidFill>
                  <a:srgbClr val="FF99CC"/>
                </a:solidFill>
                <a:latin typeface="Algerian" panose="04020705040A02060702" pitchFamily="82" charset="0"/>
                <a:cs typeface="Brush Script MT" panose="03060802040406070304" charset="0"/>
              </a:rPr>
              <a:t>    </a:t>
            </a:r>
            <a:r>
              <a:rPr lang="en-IN" sz="10665" i="1" dirty="0">
                <a:solidFill>
                  <a:srgbClr val="FF99CC"/>
                </a:solidFill>
                <a:latin typeface="Algerian" panose="04020705040A02060702" pitchFamily="82" charset="0"/>
                <a:cs typeface="Brush Script MT" panose="03060802040406070304" charset="0"/>
              </a:rPr>
              <a:t>       </a:t>
            </a:r>
            <a:r>
              <a:rPr lang="en-IN" sz="10665" i="1" dirty="0">
                <a:solidFill>
                  <a:schemeClr val="accent2"/>
                </a:solidFill>
                <a:latin typeface="Algerian" panose="04020705040A02060702" pitchFamily="82" charset="0"/>
                <a:cs typeface="Brush Script MT" panose="03060802040406070304" charset="0"/>
              </a:rPr>
              <a:t>Thank you</a:t>
            </a:r>
          </a:p>
        </p:txBody>
      </p:sp>
      <p:pic>
        <p:nvPicPr>
          <p:cNvPr id="4" name="Picture 3">
            <a:extLst>
              <a:ext uri="{FF2B5EF4-FFF2-40B4-BE49-F238E27FC236}">
                <a16:creationId xmlns:a16="http://schemas.microsoft.com/office/drawing/2014/main" id="{F126AFA6-9C17-D420-87F8-6F43726AF8BE}"/>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0" y="0"/>
            <a:ext cx="1219200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6197</TotalTime>
  <Words>2412</Words>
  <Application>Microsoft Office PowerPoint</Application>
  <PresentationFormat>Widescreen</PresentationFormat>
  <Paragraphs>110</Paragraphs>
  <Slides>19</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19</vt:i4>
      </vt:variant>
    </vt:vector>
  </HeadingPairs>
  <TitlesOfParts>
    <vt:vector size="31" baseType="lpstr">
      <vt:lpstr>Algerian</vt:lpstr>
      <vt:lpstr>Aptos Display</vt:lpstr>
      <vt:lpstr>Arial</vt:lpstr>
      <vt:lpstr>Arial Black</vt:lpstr>
      <vt:lpstr>Calibri</vt:lpstr>
      <vt:lpstr>Castellar</vt:lpstr>
      <vt:lpstr>Century</vt:lpstr>
      <vt:lpstr>Corbel</vt:lpstr>
      <vt:lpstr>Eras Demi ITC</vt:lpstr>
      <vt:lpstr>Tahoma</vt:lpstr>
      <vt:lpstr>Times New Roman</vt:lpstr>
      <vt:lpstr>Depth</vt:lpstr>
      <vt:lpstr>CRM DATA ANALYTICS</vt:lpstr>
      <vt:lpstr>Agenda</vt:lpstr>
      <vt:lpstr>PowerPoint Presentation</vt:lpstr>
      <vt:lpstr>Opportunity KPI Insights</vt:lpstr>
      <vt:lpstr>KPI Insights(Opportunity)</vt:lpstr>
      <vt:lpstr>PowerPoint Presentation</vt:lpstr>
      <vt:lpstr>PowerPoint Presentation</vt:lpstr>
      <vt:lpstr>PowerPoint Presentation</vt:lpstr>
      <vt:lpstr>PowerPoint Presentation</vt:lpstr>
      <vt:lpstr>PowerPoint Presentation</vt:lpstr>
      <vt:lpstr>Leads KPI Insights</vt:lpstr>
      <vt:lpstr>PowerPoint Presentation</vt:lpstr>
      <vt:lpstr>PowerPoint Presentation</vt:lpstr>
      <vt:lpstr>PowerPoint Presentation</vt:lpstr>
      <vt:lpstr>Conclusion &amp; Recommendations</vt:lpstr>
      <vt:lpstr>EXCEL DASHBOARD</vt:lpstr>
      <vt:lpstr>POWER BI DASHBOARD</vt:lpstr>
      <vt:lpstr>TABLEAU DASHBOARD</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Olist Store Analysis</dc:title>
  <dc:creator>Sanket Bhosale</dc:creator>
  <cp:lastModifiedBy>Guttana Goud</cp:lastModifiedBy>
  <cp:revision>65</cp:revision>
  <dcterms:created xsi:type="dcterms:W3CDTF">2026-01-10T15:18:00Z</dcterms:created>
  <dcterms:modified xsi:type="dcterms:W3CDTF">2026-05-31T11:35:04Z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59E95E9D3CDE4C989BC804B5B8B4DBFF_12</vt:lpwstr>
  </property>
  <property fmtid="{D5CDD505-2E9C-101B-9397-08002B2CF9AE}" pid="3" name="KSOProductBuildVer">
    <vt:lpwstr>2057-12.2.0.23197</vt:lpwstr>
  </property>
</Properties>
</file>