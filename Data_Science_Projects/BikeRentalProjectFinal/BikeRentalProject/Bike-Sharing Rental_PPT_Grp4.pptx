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1/19/2026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2471861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accent5">
                    <a:lumMod val="75000"/>
                  </a:schemeClr>
                </a:solidFill>
              </a:rPr>
              <a:t>Bike-Sharing Rental Demand Prediction</a:t>
            </a:r>
            <a:endParaRPr lang="en-US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030681"/>
            <a:ext cx="8933796" cy="1074716"/>
          </a:xfrm>
        </p:spPr>
        <p:txBody>
          <a:bodyPr>
            <a:normAutofit fontScale="90000"/>
          </a:bodyPr>
          <a:lstStyle/>
          <a:p>
            <a:r>
              <a:rPr lang="en-GB" sz="4800" u="sng" dirty="0" smtClean="0"/>
              <a:t>Group 4</a:t>
            </a:r>
            <a:r>
              <a:rPr lang="en-GB" sz="4800" dirty="0" smtClean="0"/>
              <a:t/>
            </a:r>
            <a:br>
              <a:rPr lang="en-GB" sz="4800" dirty="0" smtClean="0"/>
            </a:b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2660074"/>
            <a:ext cx="8936846" cy="2630384"/>
          </a:xfrm>
        </p:spPr>
        <p:txBody>
          <a:bodyPr>
            <a:normAutofit lnSpcReduction="10000"/>
          </a:bodyPr>
          <a:lstStyle/>
          <a:p>
            <a:pPr algn="l"/>
            <a:r>
              <a:rPr lang="en-GB" u="sng" dirty="0"/>
              <a:t>Mentor</a:t>
            </a:r>
            <a:r>
              <a:rPr lang="en-GB" dirty="0"/>
              <a:t> – Karthik </a:t>
            </a:r>
            <a:r>
              <a:rPr lang="en-GB" dirty="0" smtClean="0"/>
              <a:t>muskula</a:t>
            </a:r>
          </a:p>
          <a:p>
            <a:pPr algn="l"/>
            <a:r>
              <a:rPr lang="en-GB" u="sng" dirty="0" smtClean="0"/>
              <a:t>Group Members </a:t>
            </a:r>
            <a:r>
              <a:rPr lang="en-GB" dirty="0" smtClean="0"/>
              <a:t>-</a:t>
            </a:r>
          </a:p>
          <a:p>
            <a:pPr marL="342900" indent="-342900" algn="l">
              <a:buAutoNum type="arabicParenR"/>
            </a:pPr>
            <a:r>
              <a:rPr lang="en-GB" dirty="0" smtClean="0"/>
              <a:t>Bhakti </a:t>
            </a:r>
            <a:r>
              <a:rPr lang="en-GB" dirty="0" err="1" smtClean="0"/>
              <a:t>Muley</a:t>
            </a:r>
            <a:endParaRPr lang="en-GB" dirty="0" smtClean="0"/>
          </a:p>
          <a:p>
            <a:pPr marL="342900" indent="-342900" algn="l">
              <a:buAutoNum type="arabicParenR"/>
            </a:pPr>
            <a:r>
              <a:rPr lang="en-GB" dirty="0" err="1" smtClean="0"/>
              <a:t>Pratap</a:t>
            </a:r>
            <a:r>
              <a:rPr lang="en-GB" dirty="0" smtClean="0"/>
              <a:t> S</a:t>
            </a:r>
          </a:p>
          <a:p>
            <a:pPr marL="342900" indent="-342900" algn="l">
              <a:buAutoNum type="arabicParenR"/>
            </a:pPr>
            <a:r>
              <a:rPr lang="en-GB" dirty="0" err="1" smtClean="0"/>
              <a:t>Nehal</a:t>
            </a:r>
            <a:r>
              <a:rPr lang="en-GB" dirty="0" smtClean="0"/>
              <a:t> </a:t>
            </a:r>
            <a:r>
              <a:rPr lang="en-GB" dirty="0" err="1" smtClean="0"/>
              <a:t>Kakade</a:t>
            </a:r>
            <a:endParaRPr lang="en-GB" dirty="0" smtClean="0"/>
          </a:p>
          <a:p>
            <a:pPr marL="342900" indent="-342900" algn="l">
              <a:buAutoNum type="arabicParenR"/>
            </a:pPr>
            <a:r>
              <a:rPr lang="en-GB" dirty="0" err="1" smtClean="0"/>
              <a:t>Shruti</a:t>
            </a:r>
            <a:r>
              <a:rPr lang="en-GB" dirty="0" smtClean="0"/>
              <a:t> </a:t>
            </a:r>
            <a:r>
              <a:rPr lang="en-GB" dirty="0" err="1" smtClean="0"/>
              <a:t>Bhosale</a:t>
            </a:r>
            <a:endParaRPr lang="en-GB" dirty="0" smtClean="0"/>
          </a:p>
          <a:p>
            <a:pPr marL="342900" indent="-342900" algn="l">
              <a:buAutoNum type="arabicParenR"/>
            </a:pPr>
            <a:r>
              <a:rPr lang="en-GB" dirty="0" err="1" smtClean="0"/>
              <a:t>Supriya</a:t>
            </a:r>
            <a:r>
              <a:rPr lang="en-GB" dirty="0" smtClean="0"/>
              <a:t> </a:t>
            </a:r>
            <a:r>
              <a:rPr lang="en-GB" dirty="0" err="1" smtClean="0"/>
              <a:t>Dandolu</a:t>
            </a:r>
            <a:endParaRPr lang="en-GB" dirty="0" smtClean="0"/>
          </a:p>
          <a:p>
            <a:pPr marL="342900" indent="-342900" algn="l">
              <a:buAutoNum type="arabicParenR"/>
            </a:pPr>
            <a:r>
              <a:rPr lang="en-GB" dirty="0" smtClean="0"/>
              <a:t>Suresh </a:t>
            </a:r>
            <a:r>
              <a:rPr lang="en-GB" dirty="0" err="1" smtClean="0"/>
              <a:t>Bellapukonda</a:t>
            </a:r>
            <a:endParaRPr lang="en-GB" dirty="0" smtClean="0"/>
          </a:p>
          <a:p>
            <a:pPr marL="342900" indent="-342900" algn="l">
              <a:buAutoNum type="arabicParenR"/>
            </a:pPr>
            <a:r>
              <a:rPr lang="en-GB" dirty="0" err="1" smtClean="0"/>
              <a:t>Moulika</a:t>
            </a:r>
            <a:r>
              <a:rPr lang="en-GB" dirty="0" smtClean="0"/>
              <a:t> </a:t>
            </a:r>
            <a:r>
              <a:rPr lang="en-GB" dirty="0" err="1" smtClean="0"/>
              <a:t>Uppala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23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Objective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To predict bike rent demands with accuracy.</a:t>
            </a:r>
          </a:p>
          <a:p>
            <a:endParaRPr lang="en-GB" sz="2000" dirty="0" smtClean="0"/>
          </a:p>
          <a:p>
            <a:r>
              <a:rPr lang="en-GB" sz="2000" dirty="0" smtClean="0"/>
              <a:t>To plan the renting facilities appropriately according to conditions affecting the bike demands.</a:t>
            </a:r>
          </a:p>
          <a:p>
            <a:endParaRPr lang="en-GB" sz="2000" dirty="0" smtClean="0"/>
          </a:p>
          <a:p>
            <a:r>
              <a:rPr lang="en-GB" sz="2000" dirty="0" smtClean="0"/>
              <a:t>To help in business decision-making using predicted data.</a:t>
            </a:r>
          </a:p>
        </p:txBody>
      </p:sp>
    </p:spTree>
    <p:extLst>
      <p:ext uri="{BB962C8B-B14F-4D97-AF65-F5344CB8AC3E}">
        <p14:creationId xmlns:p14="http://schemas.microsoft.com/office/powerpoint/2010/main" val="91350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Dataset Details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dirty="0" smtClean="0"/>
              <a:t>Total records in dataset are 17,379</a:t>
            </a:r>
          </a:p>
          <a:p>
            <a:r>
              <a:rPr lang="en-GB" sz="1600" dirty="0" smtClean="0"/>
              <a:t>Target variable as cnt that is Total bike rents</a:t>
            </a:r>
          </a:p>
          <a:p>
            <a:r>
              <a:rPr lang="en-GB" sz="1600" dirty="0" smtClean="0"/>
              <a:t>Features included in dataset are –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smtClean="0"/>
              <a:t>Season like spring, winter, fall, summer.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smtClean="0"/>
              <a:t>Weather conditions temperature, humidity , wind speed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smtClean="0"/>
              <a:t>Days like working day or non-working day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smtClean="0"/>
              <a:t>Day of the week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smtClean="0"/>
              <a:t>Date along with year, month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smtClean="0"/>
              <a:t>Hour of the day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smtClean="0"/>
              <a:t>Types of customers as casual or registered</a:t>
            </a:r>
          </a:p>
          <a:p>
            <a:pPr marL="274320" lvl="1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94654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Exploratory Data Analysis(EDA)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To understand the relationship between target variable and other features in dataset.</a:t>
            </a:r>
          </a:p>
          <a:p>
            <a:r>
              <a:rPr lang="en-GB" sz="2000" dirty="0" smtClean="0"/>
              <a:t>The graphs plotted are :-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smtClean="0"/>
              <a:t>Distribution plot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smtClean="0"/>
              <a:t>Weather Focused Distribution plot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smtClean="0"/>
              <a:t>Season Focused plot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smtClean="0"/>
              <a:t>Hourly Bike Demand plot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smtClean="0"/>
              <a:t>Correlation Map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7789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Distribution Plot</a:t>
            </a:r>
            <a:endParaRPr lang="en-IN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340" y="2174690"/>
            <a:ext cx="5735248" cy="3849687"/>
          </a:xfrm>
        </p:spPr>
      </p:pic>
      <p:sp>
        <p:nvSpPr>
          <p:cNvPr id="5" name="TextBox 4"/>
          <p:cNvSpPr txBox="1"/>
          <p:nvPr/>
        </p:nvSpPr>
        <p:spPr>
          <a:xfrm>
            <a:off x="914400" y="2174690"/>
            <a:ext cx="283226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Bike demand graph is right </a:t>
            </a:r>
            <a:r>
              <a:rPr lang="en-GB" dirty="0" smtClean="0"/>
              <a:t>skewed.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It </a:t>
            </a:r>
            <a:r>
              <a:rPr lang="en-GB" dirty="0" smtClean="0"/>
              <a:t> indicates </a:t>
            </a:r>
            <a:r>
              <a:rPr lang="en-GB" dirty="0" smtClean="0"/>
              <a:t>majority rentals occur at lower counts</a:t>
            </a:r>
            <a:r>
              <a:rPr lang="en-GB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Majority of rents lie between 50 to 300 bikes.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08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Hourly Bike Demand Plot</a:t>
            </a:r>
            <a:endParaRPr lang="en-IN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878774" y="2139064"/>
            <a:ext cx="33072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graph shows high demand of bikes at peak </a:t>
            </a:r>
            <a:r>
              <a:rPr lang="en-GB" dirty="0" smtClean="0"/>
              <a:t>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/>
              <a:t>T</a:t>
            </a:r>
            <a:r>
              <a:rPr lang="en-GB" dirty="0" smtClean="0"/>
              <a:t>hus </a:t>
            </a:r>
            <a:r>
              <a:rPr lang="en-GB" dirty="0" smtClean="0"/>
              <a:t>helping in understanding customer pattern</a:t>
            </a:r>
            <a:r>
              <a:rPr lang="en-GB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Peak hours are 7-9 am and 5-7 pm where demand raises 2.5 times higher than usual.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58" y="2139064"/>
            <a:ext cx="6897355" cy="3849687"/>
          </a:xfrm>
        </p:spPr>
      </p:pic>
    </p:spTree>
    <p:extLst>
      <p:ext uri="{BB962C8B-B14F-4D97-AF65-F5344CB8AC3E}">
        <p14:creationId xmlns:p14="http://schemas.microsoft.com/office/powerpoint/2010/main" val="171750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Season Focused Plot</a:t>
            </a:r>
            <a:endParaRPr lang="en-IN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783771" y="2014194"/>
            <a:ext cx="41623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graph shows high demand of bikes in fall and summer </a:t>
            </a:r>
            <a:r>
              <a:rPr lang="en-GB" dirty="0" smtClean="0"/>
              <a:t>season.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/>
              <a:t>T</a:t>
            </a:r>
            <a:r>
              <a:rPr lang="en-GB" dirty="0" smtClean="0"/>
              <a:t>hus </a:t>
            </a:r>
            <a:r>
              <a:rPr lang="en-GB" dirty="0" smtClean="0"/>
              <a:t>indicating season </a:t>
            </a:r>
            <a:r>
              <a:rPr lang="en-GB" dirty="0" smtClean="0"/>
              <a:t>plays important role </a:t>
            </a:r>
            <a:r>
              <a:rPr lang="en-GB" dirty="0" smtClean="0"/>
              <a:t>in bike demand</a:t>
            </a:r>
            <a:r>
              <a:rPr lang="en-GB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Fall and summer seasons contribute 55-60% of total rents.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269" y="2014194"/>
            <a:ext cx="4546932" cy="3849687"/>
          </a:xfrm>
        </p:spPr>
      </p:pic>
    </p:spTree>
    <p:extLst>
      <p:ext uri="{BB962C8B-B14F-4D97-AF65-F5344CB8AC3E}">
        <p14:creationId xmlns:p14="http://schemas.microsoft.com/office/powerpoint/2010/main" val="399316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Weather Focused Distribution Plot</a:t>
            </a:r>
            <a:endParaRPr lang="en-IN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870868" y="2014194"/>
            <a:ext cx="41623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graph shows high demand of bikes in clear </a:t>
            </a:r>
            <a:r>
              <a:rPr lang="en-GB" dirty="0" smtClean="0"/>
              <a:t>weather.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</a:t>
            </a:r>
            <a:r>
              <a:rPr lang="en-GB" dirty="0" smtClean="0"/>
              <a:t>hile </a:t>
            </a:r>
            <a:r>
              <a:rPr lang="en-GB" dirty="0" smtClean="0"/>
              <a:t>low demands in heavy </a:t>
            </a:r>
            <a:r>
              <a:rPr lang="en-GB" dirty="0" smtClean="0"/>
              <a:t>rain.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High humidity reduces rents by 25-30%. 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616" y="2014194"/>
            <a:ext cx="5949516" cy="3849687"/>
          </a:xfrm>
        </p:spPr>
      </p:pic>
    </p:spTree>
    <p:extLst>
      <p:ext uri="{BB962C8B-B14F-4D97-AF65-F5344CB8AC3E}">
        <p14:creationId xmlns:p14="http://schemas.microsoft.com/office/powerpoint/2010/main" val="225711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Correlation Map</a:t>
            </a:r>
            <a:endParaRPr lang="en-IN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843148" y="2014194"/>
            <a:ext cx="36813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This map shows high correlation of types of customer and the total bike </a:t>
            </a:r>
            <a:r>
              <a:rPr lang="en-GB" dirty="0" smtClean="0"/>
              <a:t>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/>
              <a:t>W</a:t>
            </a:r>
            <a:r>
              <a:rPr lang="en-GB" dirty="0" smtClean="0"/>
              <a:t>hile </a:t>
            </a:r>
            <a:r>
              <a:rPr lang="en-GB" dirty="0" smtClean="0"/>
              <a:t>other factors also influence the target variable. </a:t>
            </a: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highest correlation exists between temp and </a:t>
            </a:r>
            <a:r>
              <a:rPr lang="en-GB" dirty="0" err="1" smtClean="0"/>
              <a:t>atemp</a:t>
            </a:r>
            <a:r>
              <a:rPr lang="en-GB" dirty="0" smtClean="0"/>
              <a:t> as 0.99 and registered and </a:t>
            </a:r>
            <a:r>
              <a:rPr lang="en-GB" dirty="0" err="1" smtClean="0"/>
              <a:t>cnt</a:t>
            </a:r>
            <a:r>
              <a:rPr lang="en-GB" dirty="0" smtClean="0"/>
              <a:t> as 0.97.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49" y="1917865"/>
            <a:ext cx="5973288" cy="4316679"/>
          </a:xfrm>
        </p:spPr>
      </p:pic>
    </p:spTree>
    <p:extLst>
      <p:ext uri="{BB962C8B-B14F-4D97-AF65-F5344CB8AC3E}">
        <p14:creationId xmlns:p14="http://schemas.microsoft.com/office/powerpoint/2010/main" val="189960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Outlier Analysis</a:t>
            </a:r>
            <a:endParaRPr lang="en-IN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53" y="2079687"/>
            <a:ext cx="6970017" cy="3849687"/>
          </a:xfrm>
        </p:spPr>
      </p:pic>
      <p:sp>
        <p:nvSpPr>
          <p:cNvPr id="5" name="TextBox 4"/>
          <p:cNvSpPr txBox="1"/>
          <p:nvPr/>
        </p:nvSpPr>
        <p:spPr>
          <a:xfrm>
            <a:off x="670956" y="2079687"/>
            <a:ext cx="33369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graph shows presence of outliers in few features of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These outliers actually indicate the peak hour rush and hence high values for the 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Hence the outliers were retained for real world case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79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Feature Engineering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New features were created to improve model interpretability and performance.</a:t>
            </a:r>
          </a:p>
          <a:p>
            <a:endParaRPr lang="en-GB" sz="2000" dirty="0" smtClean="0"/>
          </a:p>
          <a:p>
            <a:r>
              <a:rPr lang="en-GB" sz="2000" dirty="0" smtClean="0"/>
              <a:t>The new features are –</a:t>
            </a:r>
          </a:p>
          <a:p>
            <a:pPr lvl="1"/>
            <a:r>
              <a:rPr lang="en-GB" sz="2000" dirty="0" err="1" smtClean="0"/>
              <a:t>Is_weekend</a:t>
            </a:r>
            <a:r>
              <a:rPr lang="en-GB" sz="2000" dirty="0" smtClean="0"/>
              <a:t> – To know day of week as weekend or not.</a:t>
            </a:r>
          </a:p>
          <a:p>
            <a:pPr lvl="1"/>
            <a:r>
              <a:rPr lang="en-GB" sz="2000" dirty="0" err="1" smtClean="0"/>
              <a:t>Hour_category</a:t>
            </a:r>
            <a:r>
              <a:rPr lang="en-GB" sz="2000" dirty="0" smtClean="0"/>
              <a:t> – To know whether it was morning, afternoon, evening, night.</a:t>
            </a:r>
          </a:p>
          <a:p>
            <a:pPr lvl="1"/>
            <a:r>
              <a:rPr lang="en-GB" sz="2000" dirty="0" err="1" smtClean="0"/>
              <a:t>Is_peak_hour</a:t>
            </a:r>
            <a:r>
              <a:rPr lang="en-GB" sz="2000" dirty="0" smtClean="0"/>
              <a:t> – To know peak hour demand like 7,8,9 am and 5,6,7 pm.</a:t>
            </a:r>
          </a:p>
          <a:p>
            <a:pPr lvl="1"/>
            <a:r>
              <a:rPr lang="en-GB" sz="2000" dirty="0" err="1" smtClean="0"/>
              <a:t>Comfort_index</a:t>
            </a:r>
            <a:r>
              <a:rPr lang="en-GB" sz="2000" dirty="0" smtClean="0"/>
              <a:t> – comfort condition based on humidity and temperature.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5675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269333"/>
          </a:xfrm>
        </p:spPr>
        <p:txBody>
          <a:bodyPr/>
          <a:lstStyle/>
          <a:p>
            <a:pPr algn="ctr"/>
            <a:r>
              <a:rPr lang="en-GB" u="sng" dirty="0" smtClean="0"/>
              <a:t>Categorical Feature Handling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To maintain model consistency the categorical features are encoded.</a:t>
            </a:r>
          </a:p>
          <a:p>
            <a:endParaRPr lang="en-GB" sz="2800" dirty="0" smtClean="0"/>
          </a:p>
          <a:p>
            <a:r>
              <a:rPr lang="en-GB" sz="2800" dirty="0" smtClean="0"/>
              <a:t>The encoding technique used id One-Hot Encoding.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00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Models Implemented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1) Linear Regression</a:t>
            </a:r>
          </a:p>
          <a:p>
            <a:r>
              <a:rPr lang="en-GB" sz="2000" dirty="0" smtClean="0"/>
              <a:t>2) Decision Tree </a:t>
            </a:r>
          </a:p>
          <a:p>
            <a:r>
              <a:rPr lang="en-GB" sz="2000" dirty="0" smtClean="0"/>
              <a:t>3) Random Forest</a:t>
            </a:r>
          </a:p>
          <a:p>
            <a:r>
              <a:rPr lang="en-GB" sz="2000" dirty="0" smtClean="0"/>
              <a:t>4) Gradient Boosting</a:t>
            </a:r>
          </a:p>
          <a:p>
            <a:r>
              <a:rPr lang="en-GB" sz="2000" dirty="0" smtClean="0"/>
              <a:t>5) </a:t>
            </a:r>
            <a:r>
              <a:rPr lang="en-GB" sz="2000" dirty="0" err="1" smtClean="0"/>
              <a:t>XgBoost</a:t>
            </a:r>
            <a:r>
              <a:rPr lang="en-GB" sz="2000" dirty="0" smtClean="0"/>
              <a:t>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0737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Model Evaluation Metrics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/>
              <a:t>Mean Absolute Error(MAE)</a:t>
            </a:r>
          </a:p>
          <a:p>
            <a:r>
              <a:rPr lang="en-GB" sz="2400" dirty="0" smtClean="0"/>
              <a:t>Root Mean Squared Error(RMSE)</a:t>
            </a:r>
          </a:p>
          <a:p>
            <a:r>
              <a:rPr lang="en-GB" sz="2400" dirty="0" smtClean="0"/>
              <a:t>R-Squared(R2)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19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Initial Model Performance</a:t>
            </a:r>
            <a:endParaRPr lang="en-IN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2280062"/>
            <a:ext cx="5684322" cy="329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553" y="2429551"/>
            <a:ext cx="4605647" cy="3383419"/>
          </a:xfrm>
        </p:spPr>
      </p:pic>
      <p:sp>
        <p:nvSpPr>
          <p:cNvPr id="8" name="TextBox 7"/>
          <p:cNvSpPr txBox="1"/>
          <p:nvPr/>
        </p:nvSpPr>
        <p:spPr>
          <a:xfrm>
            <a:off x="700644" y="2429551"/>
            <a:ext cx="47085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Tree based models performed better than linear model initially.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Random Forest and </a:t>
            </a:r>
            <a:r>
              <a:rPr lang="en-GB" dirty="0" err="1" smtClean="0"/>
              <a:t>XgBoost</a:t>
            </a:r>
            <a:r>
              <a:rPr lang="en-GB" dirty="0" smtClean="0"/>
              <a:t> show overall good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87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Model Performance After </a:t>
            </a:r>
            <a:br>
              <a:rPr lang="en-GB" u="sng" dirty="0" smtClean="0"/>
            </a:br>
            <a:r>
              <a:rPr lang="en-GB" u="sng" dirty="0" smtClean="0"/>
              <a:t>Hyper Parameter Tuning</a:t>
            </a:r>
            <a:endParaRPr lang="en-IN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195" y="2131621"/>
            <a:ext cx="4289770" cy="3800104"/>
          </a:xfrm>
        </p:spPr>
      </p:pic>
      <p:sp>
        <p:nvSpPr>
          <p:cNvPr id="5" name="TextBox 4"/>
          <p:cNvSpPr txBox="1"/>
          <p:nvPr/>
        </p:nvSpPr>
        <p:spPr>
          <a:xfrm>
            <a:off x="617517" y="2873829"/>
            <a:ext cx="5260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After tuning the hyper parameters, model becomes balanced in terms of bias and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model that performs well after tuning is </a:t>
            </a:r>
            <a:r>
              <a:rPr lang="en-GB" dirty="0" err="1" smtClean="0"/>
              <a:t>Xgboost</a:t>
            </a:r>
            <a:r>
              <a:rPr lang="en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736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227770"/>
          </a:xfrm>
        </p:spPr>
        <p:txBody>
          <a:bodyPr/>
          <a:lstStyle/>
          <a:p>
            <a:pPr algn="ctr"/>
            <a:r>
              <a:rPr lang="en-GB" u="sng" dirty="0" smtClean="0"/>
              <a:t>Final Model Selection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err="1" smtClean="0"/>
              <a:t>XgBoost</a:t>
            </a:r>
            <a:r>
              <a:rPr lang="en-GB" sz="2000" dirty="0" smtClean="0"/>
              <a:t> model is selected as final model to be deployed.</a:t>
            </a:r>
          </a:p>
          <a:p>
            <a:endParaRPr lang="en-GB" sz="2000" dirty="0" smtClean="0"/>
          </a:p>
          <a:p>
            <a:r>
              <a:rPr lang="en-GB" sz="2000" dirty="0" smtClean="0"/>
              <a:t>The reasons for selecting are –</a:t>
            </a:r>
          </a:p>
          <a:p>
            <a:pPr lvl="1"/>
            <a:r>
              <a:rPr lang="en-GB" sz="2000" dirty="0" smtClean="0"/>
              <a:t>Highest R2 score</a:t>
            </a:r>
          </a:p>
          <a:p>
            <a:pPr lvl="1"/>
            <a:r>
              <a:rPr lang="en-GB" sz="2000" dirty="0" smtClean="0"/>
              <a:t>Handles non-linear relationships</a:t>
            </a:r>
          </a:p>
          <a:p>
            <a:pPr lvl="1"/>
            <a:r>
              <a:rPr lang="en-GB" sz="2000" dirty="0" smtClean="0"/>
              <a:t>Robust to outliers</a:t>
            </a:r>
          </a:p>
          <a:p>
            <a:pPr lvl="1"/>
            <a:r>
              <a:rPr lang="en-GB" sz="2000" dirty="0" smtClean="0"/>
              <a:t>Fast and scalable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9942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Feature Importance</a:t>
            </a:r>
            <a:endParaRPr lang="en-IN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709" y="2091562"/>
            <a:ext cx="5763491" cy="4178609"/>
          </a:xfrm>
        </p:spPr>
      </p:pic>
      <p:sp>
        <p:nvSpPr>
          <p:cNvPr id="5" name="TextBox 4"/>
          <p:cNvSpPr txBox="1"/>
          <p:nvPr/>
        </p:nvSpPr>
        <p:spPr>
          <a:xfrm>
            <a:off x="742207" y="2637827"/>
            <a:ext cx="4310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important features are 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 smtClean="0"/>
              <a:t>Hour_category</a:t>
            </a: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Working 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 smtClean="0"/>
              <a:t>Is_peak_hour</a:t>
            </a: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 smtClean="0"/>
              <a:t>Is_Weekend</a:t>
            </a:r>
            <a:endParaRPr lang="en-GB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season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533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Actual vs Predicted Analysis</a:t>
            </a:r>
            <a:endParaRPr lang="en-IN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95" y="2121251"/>
            <a:ext cx="5907695" cy="3849687"/>
          </a:xfrm>
        </p:spPr>
      </p:pic>
      <p:sp>
        <p:nvSpPr>
          <p:cNvPr id="5" name="TextBox 4"/>
          <p:cNvSpPr txBox="1"/>
          <p:nvPr/>
        </p:nvSpPr>
        <p:spPr>
          <a:xfrm>
            <a:off x="837211" y="1877807"/>
            <a:ext cx="39188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graph shows the predictions closely follow the actual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This observation indicates high accuracy of model</a:t>
            </a:r>
            <a:r>
              <a:rPr lang="en-GB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During normal hours, predictions lie close to each other indicating the middle area of the plot.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During peak hours, deviation was observed indicating spread out points in the plot.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00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200"/>
            <a:ext cx="10058400" cy="659081"/>
          </a:xfrm>
        </p:spPr>
        <p:txBody>
          <a:bodyPr>
            <a:normAutofit/>
          </a:bodyPr>
          <a:lstStyle/>
          <a:p>
            <a:pPr algn="ctr"/>
            <a:r>
              <a:rPr lang="en-GB" u="sng" dirty="0" smtClean="0"/>
              <a:t>Application Page</a:t>
            </a:r>
            <a:endParaRPr lang="en-IN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158" y="1264722"/>
            <a:ext cx="9902042" cy="5219205"/>
          </a:xfrm>
        </p:spPr>
      </p:pic>
      <p:cxnSp>
        <p:nvCxnSpPr>
          <p:cNvPr id="7" name="Straight Arrow Connector 6"/>
          <p:cNvCxnSpPr/>
          <p:nvPr/>
        </p:nvCxnSpPr>
        <p:spPr>
          <a:xfrm>
            <a:off x="2250374" y="2190997"/>
            <a:ext cx="1151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580410" y="2084118"/>
            <a:ext cx="1015341" cy="516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User Input</a:t>
            </a:r>
            <a:endParaRPr lang="en-IN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8383979" y="3230088"/>
            <a:ext cx="849086" cy="5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607138" y="2725387"/>
            <a:ext cx="1264722" cy="860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Display of user inputs</a:t>
            </a:r>
            <a:endParaRPr lang="en-IN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6192982" y="3859481"/>
            <a:ext cx="878774" cy="5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226135" y="3800104"/>
            <a:ext cx="1389413" cy="546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Button for prediction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4595751" y="4174177"/>
            <a:ext cx="1116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31029" y="3420091"/>
            <a:ext cx="1003465" cy="1074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Area to display result</a:t>
            </a:r>
            <a:endParaRPr lang="en-IN" dirty="0"/>
          </a:p>
        </p:txBody>
      </p:sp>
      <p:sp>
        <p:nvSpPr>
          <p:cNvPr id="18" name="Left Brace 17"/>
          <p:cNvSpPr/>
          <p:nvPr/>
        </p:nvSpPr>
        <p:spPr>
          <a:xfrm>
            <a:off x="4981699" y="4613564"/>
            <a:ext cx="195943" cy="12409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010395" y="4957951"/>
            <a:ext cx="1745673" cy="789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EDA Transparency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99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Features of Application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User-friendly interface</a:t>
            </a:r>
          </a:p>
          <a:p>
            <a:endParaRPr lang="en-GB" sz="2000" dirty="0" smtClean="0"/>
          </a:p>
          <a:p>
            <a:r>
              <a:rPr lang="en-GB" sz="2000" dirty="0" smtClean="0"/>
              <a:t>Real time prediction</a:t>
            </a:r>
          </a:p>
          <a:p>
            <a:endParaRPr lang="en-GB" sz="2000" dirty="0" smtClean="0"/>
          </a:p>
          <a:p>
            <a:r>
              <a:rPr lang="en-GB" sz="2000" dirty="0" smtClean="0"/>
              <a:t>EDA access transparency</a:t>
            </a:r>
          </a:p>
          <a:p>
            <a:endParaRPr lang="en-GB" sz="2000" dirty="0" smtClean="0"/>
          </a:p>
          <a:p>
            <a:r>
              <a:rPr lang="en-GB" sz="2000" dirty="0" smtClean="0"/>
              <a:t>Input based demand forecasting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1397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Challenges Faced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19053"/>
            <a:ext cx="10058400" cy="3849624"/>
          </a:xfrm>
        </p:spPr>
        <p:txBody>
          <a:bodyPr>
            <a:normAutofit fontScale="85000" lnSpcReduction="20000"/>
          </a:bodyPr>
          <a:lstStyle/>
          <a:p>
            <a:r>
              <a:rPr lang="en-GB" sz="2000" dirty="0" smtClean="0"/>
              <a:t>Handling missing </a:t>
            </a:r>
            <a:r>
              <a:rPr lang="en-GB" sz="2000" dirty="0" smtClean="0"/>
              <a:t>data – Replacing wrong words correctly, replacing null values with median was done to overcome this challenge.</a:t>
            </a:r>
            <a:endParaRPr lang="en-GB" sz="2000" dirty="0" smtClean="0"/>
          </a:p>
          <a:p>
            <a:endParaRPr lang="en-GB" sz="2000" dirty="0" smtClean="0"/>
          </a:p>
          <a:p>
            <a:r>
              <a:rPr lang="en-GB" sz="2000" dirty="0" smtClean="0"/>
              <a:t>Retaining outliers and training model with </a:t>
            </a:r>
            <a:r>
              <a:rPr lang="en-GB" sz="2000" dirty="0" smtClean="0"/>
              <a:t>them. – The right measures like use of models that are robust to outliers needed to be used so that the model doesn’t show skewed predictions.</a:t>
            </a:r>
            <a:endParaRPr lang="en-GB" sz="2000" dirty="0" smtClean="0"/>
          </a:p>
          <a:p>
            <a:endParaRPr lang="en-GB" sz="2000" dirty="0" smtClean="0"/>
          </a:p>
          <a:p>
            <a:r>
              <a:rPr lang="en-GB" sz="2000" dirty="0" smtClean="0"/>
              <a:t>Model tuning without causing </a:t>
            </a:r>
            <a:r>
              <a:rPr lang="en-GB" sz="2000" dirty="0" smtClean="0"/>
              <a:t>overfitting – The parameters like number </a:t>
            </a:r>
            <a:r>
              <a:rPr lang="en-GB" sz="2000" dirty="0" smtClean="0"/>
              <a:t>of estimators and maximum depth needed to be checked carefully so that model won’t </a:t>
            </a:r>
            <a:r>
              <a:rPr lang="en-GB" sz="2000" dirty="0" err="1" smtClean="0"/>
              <a:t>overfit</a:t>
            </a:r>
            <a:r>
              <a:rPr lang="en-GB" sz="2000" dirty="0" smtClean="0"/>
              <a:t>.</a:t>
            </a:r>
            <a:endParaRPr lang="en-GB" sz="2000" dirty="0" smtClean="0"/>
          </a:p>
          <a:p>
            <a:endParaRPr lang="en-GB" sz="2000" dirty="0" smtClean="0"/>
          </a:p>
          <a:p>
            <a:r>
              <a:rPr lang="en-GB" sz="2000" dirty="0" smtClean="0"/>
              <a:t>Deployment and UI </a:t>
            </a:r>
            <a:r>
              <a:rPr lang="en-GB" sz="2000" dirty="0" smtClean="0"/>
              <a:t>handling – Importing necessary libraries like </a:t>
            </a:r>
            <a:r>
              <a:rPr lang="en-GB" sz="2000" dirty="0" err="1" smtClean="0"/>
              <a:t>joblib</a:t>
            </a:r>
            <a:r>
              <a:rPr lang="en-GB" sz="2000" dirty="0" smtClean="0"/>
              <a:t> and using </a:t>
            </a:r>
            <a:r>
              <a:rPr lang="en-GB" sz="2000" dirty="0" err="1" smtClean="0"/>
              <a:t>pkl</a:t>
            </a:r>
            <a:r>
              <a:rPr lang="en-GB" sz="2000" dirty="0" smtClean="0"/>
              <a:t> extension to save model that is finalized. Using CSS to make web page look good and user-friendly.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982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Conclusion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 smtClean="0"/>
              <a:t>Accurate prediction of bike demands is achieved.</a:t>
            </a:r>
          </a:p>
          <a:p>
            <a:endParaRPr lang="en-GB" sz="1800" dirty="0"/>
          </a:p>
          <a:p>
            <a:r>
              <a:rPr lang="en-GB" sz="1800" dirty="0" err="1" smtClean="0"/>
              <a:t>XgBoost</a:t>
            </a:r>
            <a:r>
              <a:rPr lang="en-GB" sz="1800" dirty="0" smtClean="0"/>
              <a:t> performed the best among other models and was chosen to be deployed.</a:t>
            </a:r>
          </a:p>
          <a:p>
            <a:endParaRPr lang="en-GB" sz="1800" dirty="0"/>
          </a:p>
          <a:p>
            <a:r>
              <a:rPr lang="en-GB" sz="1800" dirty="0" smtClean="0"/>
              <a:t>The model helps in achieving proper plan and availability of bikes.</a:t>
            </a:r>
          </a:p>
          <a:p>
            <a:endParaRPr lang="en-GB" sz="1800" dirty="0"/>
          </a:p>
          <a:p>
            <a:r>
              <a:rPr lang="en-GB" sz="1800" dirty="0" smtClean="0"/>
              <a:t>It improves overall customer satisfaction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1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 smtClean="0"/>
              <a:t>Future Scope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The application and can be integrated with real-time weather API.</a:t>
            </a:r>
          </a:p>
          <a:p>
            <a:endParaRPr lang="en-GB" sz="2000" dirty="0"/>
          </a:p>
          <a:p>
            <a:r>
              <a:rPr lang="en-GB" sz="2000" dirty="0" smtClean="0"/>
              <a:t>The model can be scaled so that the whole city area can be taken into consideration.</a:t>
            </a:r>
          </a:p>
          <a:p>
            <a:endParaRPr lang="en-GB" sz="2000" dirty="0"/>
          </a:p>
          <a:p>
            <a:r>
              <a:rPr lang="en-GB" sz="2000" dirty="0" smtClean="0"/>
              <a:t>Improving UI with dashboards and dynamic features.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6576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19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891</Words>
  <Application>Microsoft Office PowerPoint</Application>
  <PresentationFormat>Widescreen</PresentationFormat>
  <Paragraphs>165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Century Gothic</vt:lpstr>
      <vt:lpstr>Garamond</vt:lpstr>
      <vt:lpstr>Wingdings</vt:lpstr>
      <vt:lpstr>SavonVTI</vt:lpstr>
      <vt:lpstr>Bike-Sharing Rental Demand Prediction</vt:lpstr>
      <vt:lpstr>Group 4 </vt:lpstr>
      <vt:lpstr>Objective</vt:lpstr>
      <vt:lpstr>Dataset Details</vt:lpstr>
      <vt:lpstr>Exploratory Data Analysis(EDA)</vt:lpstr>
      <vt:lpstr>Distribution Plot</vt:lpstr>
      <vt:lpstr>Hourly Bike Demand Plot</vt:lpstr>
      <vt:lpstr>Season Focused Plot</vt:lpstr>
      <vt:lpstr>Weather Focused Distribution Plot</vt:lpstr>
      <vt:lpstr>Correlation Map</vt:lpstr>
      <vt:lpstr>Outlier Analysis</vt:lpstr>
      <vt:lpstr>Feature Engineering</vt:lpstr>
      <vt:lpstr>Categorical Feature Handling</vt:lpstr>
      <vt:lpstr>Models Implemented</vt:lpstr>
      <vt:lpstr>Model Evaluation Metrics</vt:lpstr>
      <vt:lpstr>Initial Model Performance</vt:lpstr>
      <vt:lpstr>Model Performance After  Hyper Parameter Tuning</vt:lpstr>
      <vt:lpstr>Final Model Selection</vt:lpstr>
      <vt:lpstr>Feature Importance</vt:lpstr>
      <vt:lpstr>Actual vs Predicted Analysis</vt:lpstr>
      <vt:lpstr>Application Page</vt:lpstr>
      <vt:lpstr>Features of Application</vt:lpstr>
      <vt:lpstr>Challenges Faced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2026-01-14T12:53:17Z</dcterms:created>
  <dcterms:modified xsi:type="dcterms:W3CDTF">2026-01-19T13:13:08Z</dcterms:modified>
</cp:coreProperties>
</file>