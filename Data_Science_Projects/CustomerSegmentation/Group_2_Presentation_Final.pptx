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7" r:id="rId19"/>
    <p:sldId id="278" r:id="rId20"/>
    <p:sldId id="279" r:id="rId21"/>
  </p:sldIdLst>
  <p:sldSz cx="18288000" cy="10287000"/>
  <p:notesSz cx="6858000" cy="9144000"/>
  <p:embeddedFontLst>
    <p:embeddedFont>
      <p:font typeface="Agrandir" pitchFamily="2" charset="0"/>
      <p:regular r:id="rId22"/>
    </p:embeddedFont>
    <p:embeddedFont>
      <p:font typeface="Agrandir Bold" pitchFamily="2" charset="0"/>
      <p:regular r:id="rId23"/>
    </p:embeddedFont>
    <p:embeddedFont>
      <p:font typeface="Canva Sans" panose="020B0503030501040103" pitchFamily="34" charset="0"/>
      <p:regular r:id="rId24"/>
    </p:embeddedFont>
    <p:embeddedFont>
      <p:font typeface="Canva Sans Bold" panose="020B0803030501040103" pitchFamily="34" charset="0"/>
      <p:regular r:id="rId25"/>
    </p:embeddedFont>
    <p:embeddedFont>
      <p:font typeface="Maragsa" pitchFamily="2" charset="0"/>
      <p:regular r:id="rId26"/>
    </p:embeddedFont>
    <p:embeddedFont>
      <p:font typeface="Segoe UI Symbol" panose="020B0502040204020203" pitchFamily="3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6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font" Target="fonts/font5.fntdata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font" Target="fonts/font4.fntdata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3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2.fntdata" /><Relationship Id="rId28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1.fntdata" /><Relationship Id="rId27" Type="http://schemas.openxmlformats.org/officeDocument/2006/relationships/font" Target="fonts/font6.fntdata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7" Type="http://schemas.openxmlformats.org/officeDocument/2006/relationships/image" Target="../media/image6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sv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7" Type="http://schemas.openxmlformats.org/officeDocument/2006/relationships/image" Target="../media/image15.jpe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4.jpeg" /><Relationship Id="rId5" Type="http://schemas.openxmlformats.org/officeDocument/2006/relationships/image" Target="../media/image13.svg" /><Relationship Id="rId4" Type="http://schemas.openxmlformats.org/officeDocument/2006/relationships/image" Target="../media/image12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7.png" /><Relationship Id="rId4" Type="http://schemas.openxmlformats.org/officeDocument/2006/relationships/image" Target="../media/image16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9.png" /><Relationship Id="rId4" Type="http://schemas.openxmlformats.org/officeDocument/2006/relationships/image" Target="../media/image18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0.pn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 /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4.svg" /><Relationship Id="rId4" Type="http://schemas.openxmlformats.org/officeDocument/2006/relationships/image" Target="../media/image23.pn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 /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 /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 /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46289" y="-282768"/>
            <a:ext cx="13195423" cy="6742888"/>
            <a:chOff x="0" y="0"/>
            <a:chExt cx="3475338" cy="17759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75338" cy="1775905"/>
            </a:xfrm>
            <a:custGeom>
              <a:avLst/>
              <a:gdLst/>
              <a:ahLst/>
              <a:cxnLst/>
              <a:rect l="l" t="t" r="r" b="b"/>
              <a:pathLst>
                <a:path w="3475338" h="1775905">
                  <a:moveTo>
                    <a:pt x="29922" y="0"/>
                  </a:moveTo>
                  <a:lnTo>
                    <a:pt x="3445416" y="0"/>
                  </a:lnTo>
                  <a:cubicBezTo>
                    <a:pt x="3461941" y="0"/>
                    <a:pt x="3475338" y="13397"/>
                    <a:pt x="3475338" y="29922"/>
                  </a:cubicBezTo>
                  <a:lnTo>
                    <a:pt x="3475338" y="1745982"/>
                  </a:lnTo>
                  <a:cubicBezTo>
                    <a:pt x="3475338" y="1753918"/>
                    <a:pt x="3472185" y="1761529"/>
                    <a:pt x="3466574" y="1767141"/>
                  </a:cubicBezTo>
                  <a:cubicBezTo>
                    <a:pt x="3460962" y="1772752"/>
                    <a:pt x="3453352" y="1775905"/>
                    <a:pt x="3445416" y="1775905"/>
                  </a:cubicBezTo>
                  <a:lnTo>
                    <a:pt x="29922" y="1775905"/>
                  </a:lnTo>
                  <a:cubicBezTo>
                    <a:pt x="21986" y="1775905"/>
                    <a:pt x="14376" y="1772752"/>
                    <a:pt x="8764" y="1767141"/>
                  </a:cubicBezTo>
                  <a:cubicBezTo>
                    <a:pt x="3153" y="1761529"/>
                    <a:pt x="0" y="1753918"/>
                    <a:pt x="0" y="1745982"/>
                  </a:cubicBezTo>
                  <a:lnTo>
                    <a:pt x="0" y="29922"/>
                  </a:lnTo>
                  <a:cubicBezTo>
                    <a:pt x="0" y="21986"/>
                    <a:pt x="3153" y="14376"/>
                    <a:pt x="8764" y="8764"/>
                  </a:cubicBezTo>
                  <a:cubicBezTo>
                    <a:pt x="14376" y="3153"/>
                    <a:pt x="21986" y="0"/>
                    <a:pt x="29922" y="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3475338" cy="18902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1660303" y="6474701"/>
            <a:ext cx="21608606" cy="340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dirty="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DATA SCIENCE PROJECT</a:t>
            </a:r>
          </a:p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dirty="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Group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5213" y="1258833"/>
            <a:ext cx="16954680" cy="5148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47"/>
              </a:lnSpc>
              <a:spcBef>
                <a:spcPct val="0"/>
              </a:spcBef>
            </a:pPr>
            <a:r>
              <a:rPr lang="en-US" sz="14748" dirty="0">
                <a:solidFill>
                  <a:srgbClr val="F8F4EB"/>
                </a:solidFill>
                <a:latin typeface="Maragsa"/>
                <a:ea typeface="Maragsa"/>
                <a:cs typeface="Maragsa"/>
                <a:sym typeface="Maragsa"/>
              </a:rPr>
              <a:t>CUSTOMER SEGMENTATION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-1032959" y="-2455521"/>
            <a:ext cx="5049982" cy="6172200"/>
          </a:xfrm>
          <a:custGeom>
            <a:avLst/>
            <a:gdLst/>
            <a:ahLst/>
            <a:cxnLst/>
            <a:rect l="l" t="t" r="r" b="b"/>
            <a:pathLst>
              <a:path w="5049982" h="6172200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030195" y="70903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>
            <a:off x="-174586" y="8477446"/>
            <a:ext cx="3777058" cy="3619109"/>
          </a:xfrm>
          <a:custGeom>
            <a:avLst/>
            <a:gdLst/>
            <a:ahLst/>
            <a:cxnLst/>
            <a:rect l="l" t="t" r="r" b="b"/>
            <a:pathLst>
              <a:path w="3777058" h="3619109">
                <a:moveTo>
                  <a:pt x="0" y="0"/>
                </a:moveTo>
                <a:lnTo>
                  <a:pt x="3777058" y="0"/>
                </a:lnTo>
                <a:lnTo>
                  <a:pt x="3777058" y="3619108"/>
                </a:lnTo>
                <a:lnTo>
                  <a:pt x="0" y="3619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99779" y="764931"/>
            <a:ext cx="5491388" cy="8229600"/>
          </a:xfrm>
          <a:custGeom>
            <a:avLst/>
            <a:gdLst/>
            <a:ahLst/>
            <a:cxnLst/>
            <a:rect l="l" t="t" r="r" b="b"/>
            <a:pathLst>
              <a:path w="5491388" h="8229600">
                <a:moveTo>
                  <a:pt x="0" y="0"/>
                </a:moveTo>
                <a:lnTo>
                  <a:pt x="5491387" y="0"/>
                </a:lnTo>
                <a:lnTo>
                  <a:pt x="549138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96833" y="417681"/>
            <a:ext cx="4877720" cy="123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sz="7199" dirty="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OUR TEAM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436353" y="5294051"/>
            <a:ext cx="9525" cy="48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04800" y="1784039"/>
            <a:ext cx="11139886" cy="920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Mentor : </a:t>
            </a:r>
            <a:r>
              <a:rPr lang="en-US" sz="5399" dirty="0" err="1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Saigeethika</a:t>
            </a:r>
            <a:r>
              <a:rPr lang="en-US" sz="5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  Ma’am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4600" y="2964180"/>
            <a:ext cx="795721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Members’ Names :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601" y="3955653"/>
            <a:ext cx="7957210" cy="4447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39"/>
              </a:lnSpc>
            </a:pPr>
            <a:r>
              <a:rPr lang="en-US" sz="2800" dirty="0" err="1">
                <a:solidFill>
                  <a:srgbClr val="424242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Sharmila</a:t>
            </a:r>
            <a:r>
              <a:rPr lang="en-US" sz="2800" dirty="0">
                <a:solidFill>
                  <a:srgbClr val="424242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 M</a:t>
            </a:r>
          </a:p>
          <a:p>
            <a:pPr>
              <a:lnSpc>
                <a:spcPts val="5039"/>
              </a:lnSpc>
            </a:pPr>
            <a:r>
              <a:rPr lang="en-US" sz="2800" dirty="0" err="1">
                <a:solidFill>
                  <a:srgbClr val="424242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Nehal</a:t>
            </a:r>
            <a:r>
              <a:rPr lang="en-US" sz="2800" dirty="0">
                <a:solidFill>
                  <a:srgbClr val="424242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 </a:t>
            </a:r>
            <a:r>
              <a:rPr lang="en-US" sz="2800" dirty="0" err="1">
                <a:solidFill>
                  <a:srgbClr val="424242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Kakade</a:t>
            </a:r>
            <a:endParaRPr lang="en-US" sz="2800" dirty="0">
              <a:solidFill>
                <a:srgbClr val="424242"/>
              </a:solidFill>
              <a:latin typeface="Arial" panose="020B0604020202020204" pitchFamily="34" charset="0"/>
              <a:ea typeface="Canva Sans"/>
              <a:cs typeface="Arial" panose="020B0604020202020204" pitchFamily="34" charset="0"/>
              <a:sym typeface="Canva Sans"/>
            </a:endParaRPr>
          </a:p>
          <a:p>
            <a:pPr>
              <a:lnSpc>
                <a:spcPts val="5039"/>
              </a:lnSpc>
            </a:pPr>
            <a:r>
              <a:rPr lang="en-US" sz="2800" dirty="0" err="1">
                <a:solidFill>
                  <a:srgbClr val="424242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Rhucha</a:t>
            </a:r>
            <a:r>
              <a:rPr lang="en-US" sz="2800" dirty="0">
                <a:solidFill>
                  <a:srgbClr val="424242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 </a:t>
            </a:r>
            <a:r>
              <a:rPr lang="en-US" sz="2800" dirty="0" err="1">
                <a:solidFill>
                  <a:srgbClr val="424242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Dhawale</a:t>
            </a:r>
            <a:endParaRPr lang="en-US" sz="2800" dirty="0">
              <a:solidFill>
                <a:srgbClr val="424242"/>
              </a:solidFill>
              <a:latin typeface="Arial" panose="020B0604020202020204" pitchFamily="34" charset="0"/>
              <a:ea typeface="Canva Sans"/>
              <a:cs typeface="Arial" panose="020B0604020202020204" pitchFamily="34" charset="0"/>
              <a:sym typeface="Canva Sans"/>
            </a:endParaRPr>
          </a:p>
          <a:p>
            <a:pPr>
              <a:lnSpc>
                <a:spcPts val="5039"/>
              </a:lnSpc>
            </a:pPr>
            <a:r>
              <a:rPr lang="en-US" sz="2800" dirty="0">
                <a:solidFill>
                  <a:srgbClr val="424242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Santhosh </a:t>
            </a:r>
            <a:r>
              <a:rPr lang="en-US" sz="2800" dirty="0" err="1">
                <a:solidFill>
                  <a:srgbClr val="424242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Chinnandi</a:t>
            </a:r>
            <a:endParaRPr lang="en-US" sz="2800" dirty="0">
              <a:solidFill>
                <a:srgbClr val="424242"/>
              </a:solidFill>
              <a:latin typeface="Arial" panose="020B0604020202020204" pitchFamily="34" charset="0"/>
              <a:ea typeface="Canva Sans"/>
              <a:cs typeface="Arial" panose="020B0604020202020204" pitchFamily="34" charset="0"/>
              <a:sym typeface="Canva Sans"/>
            </a:endParaRPr>
          </a:p>
          <a:p>
            <a:pPr>
              <a:lnSpc>
                <a:spcPts val="5039"/>
              </a:lnSpc>
            </a:pPr>
            <a:r>
              <a:rPr lang="en-US" sz="2800" dirty="0" err="1">
                <a:solidFill>
                  <a:srgbClr val="424242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Kaveeshvar</a:t>
            </a:r>
            <a:r>
              <a:rPr lang="en-US" sz="2800" dirty="0">
                <a:solidFill>
                  <a:srgbClr val="424242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 S</a:t>
            </a:r>
          </a:p>
          <a:p>
            <a:pPr>
              <a:lnSpc>
                <a:spcPts val="5039"/>
              </a:lnSpc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Shridhar</a:t>
            </a:r>
          </a:p>
          <a:p>
            <a:pPr>
              <a:lnSpc>
                <a:spcPts val="5039"/>
              </a:lnSpc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Muhammed </a:t>
            </a:r>
            <a:r>
              <a:rPr lang="en-IN" sz="2800" dirty="0" err="1">
                <a:latin typeface="Arial" panose="020B0604020202020204" pitchFamily="34" charset="0"/>
                <a:cs typeface="Arial" panose="020B0604020202020204" pitchFamily="34" charset="0"/>
              </a:rPr>
              <a:t>Afnas</a:t>
            </a:r>
            <a:endParaRPr lang="en-US" sz="2800" dirty="0">
              <a:solidFill>
                <a:srgbClr val="424242"/>
              </a:solidFill>
              <a:latin typeface="Arial" panose="020B0604020202020204" pitchFamily="34" charset="0"/>
              <a:ea typeface="Canva Sans"/>
              <a:cs typeface="Arial" panose="020B0604020202020204" pitchFamily="34" charset="0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174586" y="8477446"/>
            <a:ext cx="3777058" cy="3619109"/>
          </a:xfrm>
          <a:custGeom>
            <a:avLst/>
            <a:gdLst/>
            <a:ahLst/>
            <a:cxnLst/>
            <a:rect l="l" t="t" r="r" b="b"/>
            <a:pathLst>
              <a:path w="3777058" h="3619109">
                <a:moveTo>
                  <a:pt x="0" y="0"/>
                </a:moveTo>
                <a:lnTo>
                  <a:pt x="3777058" y="0"/>
                </a:lnTo>
                <a:lnTo>
                  <a:pt x="3777058" y="3619108"/>
                </a:lnTo>
                <a:lnTo>
                  <a:pt x="0" y="3619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10942" y="68326"/>
            <a:ext cx="3777058" cy="3619109"/>
          </a:xfrm>
          <a:custGeom>
            <a:avLst/>
            <a:gdLst/>
            <a:ahLst/>
            <a:cxnLst/>
            <a:rect l="l" t="t" r="r" b="b"/>
            <a:pathLst>
              <a:path w="3777058" h="3619109">
                <a:moveTo>
                  <a:pt x="0" y="0"/>
                </a:moveTo>
                <a:lnTo>
                  <a:pt x="3777058" y="0"/>
                </a:lnTo>
                <a:lnTo>
                  <a:pt x="3777058" y="3619109"/>
                </a:lnTo>
                <a:lnTo>
                  <a:pt x="0" y="3619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37891" y="800100"/>
            <a:ext cx="8612218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PROJECT OBJECTIVE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87756" y="2903909"/>
            <a:ext cx="14112488" cy="5398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1214" lvl="1" indent="-410607" algn="l">
              <a:lnSpc>
                <a:spcPts val="5325"/>
              </a:lnSpc>
              <a:buFont typeface="Arial"/>
              <a:buChar char="•"/>
            </a:pPr>
            <a:r>
              <a:rPr lang="en-US" sz="3803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Perform </a:t>
            </a:r>
            <a:r>
              <a:rPr lang="en-US" sz="3803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customer segmentation </a:t>
            </a:r>
            <a:r>
              <a:rPr lang="en-US" sz="3803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Identify </a:t>
            </a:r>
            <a:r>
              <a:rPr lang="en-US" sz="3803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different customer groups based on behavior</a:t>
            </a:r>
          </a:p>
          <a:p>
            <a:pPr marL="410607" lvl="1" algn="l">
              <a:lnSpc>
                <a:spcPts val="5325"/>
              </a:lnSpc>
            </a:pPr>
            <a:endParaRPr lang="en-US" sz="3803" b="1" dirty="0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821214" lvl="1" indent="-410607" algn="l">
              <a:lnSpc>
                <a:spcPts val="5325"/>
              </a:lnSpc>
              <a:buFont typeface="Arial"/>
              <a:buChar char="•"/>
            </a:pPr>
            <a:r>
              <a:rPr lang="en-US" sz="3803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Help business:</a:t>
            </a:r>
          </a:p>
          <a:p>
            <a:pPr algn="just">
              <a:lnSpc>
                <a:spcPts val="5325"/>
              </a:lnSpc>
            </a:pPr>
            <a:endParaRPr lang="en-US" sz="3803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1642428" lvl="2" indent="-547476" algn="l">
              <a:lnSpc>
                <a:spcPts val="5325"/>
              </a:lnSpc>
              <a:buFont typeface="Arial"/>
              <a:buChar char="⚬"/>
            </a:pPr>
            <a:r>
              <a:rPr lang="en-US" sz="3803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Target the right customers</a:t>
            </a:r>
          </a:p>
          <a:p>
            <a:pPr marL="1642428" lvl="2" indent="-547476" algn="l">
              <a:lnSpc>
                <a:spcPts val="5325"/>
              </a:lnSpc>
              <a:buFont typeface="Arial"/>
              <a:buChar char="⚬"/>
            </a:pPr>
            <a:r>
              <a:rPr lang="en-US" sz="3803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Improve marketing strategies</a:t>
            </a:r>
          </a:p>
          <a:p>
            <a:pPr marL="1642428" lvl="2" indent="-547476" algn="l">
              <a:lnSpc>
                <a:spcPts val="5325"/>
              </a:lnSpc>
              <a:buFont typeface="Arial"/>
              <a:buChar char="⚬"/>
            </a:pPr>
            <a:r>
              <a:rPr lang="en-US" sz="3803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Increase sales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40575" y="3291286"/>
            <a:ext cx="13889595" cy="534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4931" lvl="1" indent="-402465" algn="l">
              <a:lnSpc>
                <a:spcPts val="5219"/>
              </a:lnSpc>
              <a:buFont typeface="Arial"/>
              <a:buChar char="•"/>
            </a:pPr>
            <a:r>
              <a:rPr lang="en-US" sz="3728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Dataset: Marketing Campaign Dataset</a:t>
            </a:r>
          </a:p>
          <a:p>
            <a:pPr marL="804931" lvl="1" indent="-402465" algn="l">
              <a:lnSpc>
                <a:spcPts val="5219"/>
              </a:lnSpc>
              <a:buFont typeface="Arial"/>
              <a:buChar char="•"/>
            </a:pPr>
            <a:r>
              <a:rPr lang="en-US" sz="3728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Contains customer information such as:</a:t>
            </a:r>
          </a:p>
          <a:p>
            <a:pPr marL="1609862" lvl="2" indent="-536621" algn="l">
              <a:lnSpc>
                <a:spcPts val="5219"/>
              </a:lnSpc>
              <a:buFont typeface="Arial"/>
              <a:buChar char="⚬"/>
            </a:pPr>
            <a:r>
              <a:rPr lang="en-US" sz="3728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Demographics (Age, Income, Education)</a:t>
            </a:r>
          </a:p>
          <a:p>
            <a:pPr marL="1609862" lvl="2" indent="-536621" algn="l">
              <a:lnSpc>
                <a:spcPts val="5219"/>
              </a:lnSpc>
              <a:buFont typeface="Arial"/>
              <a:buChar char="⚬"/>
            </a:pPr>
            <a:r>
              <a:rPr lang="en-US" sz="3728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Spending behavior (Wine, Fruits, Meat, etc.)</a:t>
            </a:r>
          </a:p>
          <a:p>
            <a:pPr marL="1609862" lvl="2" indent="-536621" algn="l">
              <a:lnSpc>
                <a:spcPts val="5219"/>
              </a:lnSpc>
              <a:buFont typeface="Arial"/>
              <a:buChar char="⚬"/>
            </a:pPr>
            <a:r>
              <a:rPr lang="en-US" sz="3728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Purchase channels (Web, Store, Catalog)</a:t>
            </a:r>
          </a:p>
          <a:p>
            <a:pPr marL="1609862" lvl="2" indent="-536621" algn="l">
              <a:lnSpc>
                <a:spcPts val="5219"/>
              </a:lnSpc>
              <a:buFont typeface="Arial"/>
              <a:buChar char="⚬"/>
            </a:pPr>
            <a:r>
              <a:rPr lang="en-US" sz="3728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Campaign responses</a:t>
            </a:r>
          </a:p>
          <a:p>
            <a:pPr marL="804931" lvl="1" indent="-402465" algn="l">
              <a:lnSpc>
                <a:spcPts val="5219"/>
              </a:lnSpc>
              <a:buFont typeface="Arial"/>
              <a:buChar char="•"/>
            </a:pPr>
            <a:r>
              <a:rPr lang="en-US" sz="3728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Target:</a:t>
            </a:r>
          </a:p>
          <a:p>
            <a:pPr marL="1609862" lvl="2" indent="-536621" algn="l">
              <a:lnSpc>
                <a:spcPts val="5219"/>
              </a:lnSpc>
              <a:buFont typeface="Arial"/>
              <a:buChar char="⚬"/>
            </a:pPr>
            <a:r>
              <a:rPr lang="en-US" sz="3728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Perform clustering to identify customer segments</a:t>
            </a:r>
          </a:p>
        </p:txBody>
      </p:sp>
      <p:sp>
        <p:nvSpPr>
          <p:cNvPr id="3" name="Freeform 3"/>
          <p:cNvSpPr/>
          <p:nvPr/>
        </p:nvSpPr>
        <p:spPr>
          <a:xfrm>
            <a:off x="14246740" y="3076607"/>
            <a:ext cx="3672994" cy="4655005"/>
          </a:xfrm>
          <a:custGeom>
            <a:avLst/>
            <a:gdLst/>
            <a:ahLst/>
            <a:cxnLst/>
            <a:rect l="l" t="t" r="r" b="b"/>
            <a:pathLst>
              <a:path w="3672994" h="4655005">
                <a:moveTo>
                  <a:pt x="0" y="0"/>
                </a:moveTo>
                <a:lnTo>
                  <a:pt x="3672994" y="0"/>
                </a:lnTo>
                <a:lnTo>
                  <a:pt x="3672994" y="4655005"/>
                </a:lnTo>
                <a:lnTo>
                  <a:pt x="0" y="46550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88656" y="1092288"/>
            <a:ext cx="11710689" cy="1984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03"/>
              </a:lnSpc>
              <a:spcBef>
                <a:spcPct val="0"/>
              </a:spcBef>
            </a:pPr>
            <a:r>
              <a:rPr lang="en-US" sz="11502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DATASET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5838" y="3086794"/>
            <a:ext cx="2141991" cy="2418398"/>
            <a:chOff x="0" y="0"/>
            <a:chExt cx="812800" cy="9176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917685"/>
            </a:xfrm>
            <a:custGeom>
              <a:avLst/>
              <a:gdLst/>
              <a:ahLst/>
              <a:cxnLst/>
              <a:rect l="l" t="t" r="r" b="b"/>
              <a:pathLst>
                <a:path w="812800" h="917685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2"/>
              <a:stretch>
                <a:fillRect l="-34601" r="-3460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859285" y="3086794"/>
            <a:ext cx="2141991" cy="2418398"/>
            <a:chOff x="0" y="0"/>
            <a:chExt cx="812800" cy="9176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917685"/>
            </a:xfrm>
            <a:custGeom>
              <a:avLst/>
              <a:gdLst/>
              <a:ahLst/>
              <a:cxnLst/>
              <a:rect l="l" t="t" r="r" b="b"/>
              <a:pathLst>
                <a:path w="812800" h="917685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3"/>
              <a:stretch>
                <a:fillRect l="-47541" r="-47541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-2864399" y="5949127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45838" y="6392498"/>
            <a:ext cx="2141991" cy="2418398"/>
            <a:chOff x="0" y="0"/>
            <a:chExt cx="812800" cy="9176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917685"/>
            </a:xfrm>
            <a:custGeom>
              <a:avLst/>
              <a:gdLst/>
              <a:ahLst/>
              <a:cxnLst/>
              <a:rect l="l" t="t" r="r" b="b"/>
              <a:pathLst>
                <a:path w="812800" h="917685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6"/>
              <a:stretch>
                <a:fillRect l="-34731" r="-3473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859285" y="6392498"/>
            <a:ext cx="2141991" cy="2418398"/>
            <a:chOff x="0" y="0"/>
            <a:chExt cx="812800" cy="9176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917685"/>
            </a:xfrm>
            <a:custGeom>
              <a:avLst/>
              <a:gdLst/>
              <a:ahLst/>
              <a:cxnLst/>
              <a:rect l="l" t="t" r="r" b="b"/>
              <a:pathLst>
                <a:path w="812800" h="917685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7"/>
              <a:stretch>
                <a:fillRect l="-50359" r="-50359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921383" y="904875"/>
            <a:ext cx="6445235" cy="1094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FEATURES USED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26926" y="3701792"/>
            <a:ext cx="4631429" cy="180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Age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Income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Education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Marital Status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26926" y="2972494"/>
            <a:ext cx="4631429" cy="48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P</a:t>
            </a:r>
            <a:r>
              <a:rPr lang="en-US" sz="2499" b="1" u="none" strike="noStrik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eople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26926" y="7007495"/>
            <a:ext cx="4384408" cy="48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Campaign responses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26926" y="6278198"/>
            <a:ext cx="4384408" cy="48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Pr</a:t>
            </a:r>
            <a:r>
              <a:rPr lang="en-US" sz="2499" b="1" u="none" strike="noStrik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omotion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57753" y="2972494"/>
            <a:ext cx="4384408" cy="48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P</a:t>
            </a:r>
            <a:r>
              <a:rPr lang="en-US" sz="2499" b="1" u="none" strike="noStrik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roducts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57753" y="7007495"/>
            <a:ext cx="4384408" cy="48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Purchase channels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57753" y="6278198"/>
            <a:ext cx="4384408" cy="48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P</a:t>
            </a:r>
            <a:r>
              <a:rPr lang="en-US" sz="2499" b="1" u="none" strike="noStrik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lace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66617" y="3701792"/>
            <a:ext cx="4631429" cy="48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Spending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921383" y="904875"/>
            <a:ext cx="8329301" cy="1094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DATA  PREPROCESSING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08473" y="2168755"/>
            <a:ext cx="12337785" cy="683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74" lvl="1" indent="-464187" algn="l">
              <a:lnSpc>
                <a:spcPts val="6020"/>
              </a:lnSpc>
              <a:buFont typeface="Arial"/>
              <a:buChar char="•"/>
            </a:pPr>
            <a:r>
              <a:rPr lang="en-US" sz="4300" b="1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Handled missing values (Income → median)</a:t>
            </a:r>
          </a:p>
          <a:p>
            <a:pPr marL="928374" lvl="1" indent="-464187" algn="l">
              <a:lnSpc>
                <a:spcPts val="6020"/>
              </a:lnSpc>
              <a:buFont typeface="Arial"/>
              <a:buChar char="•"/>
            </a:pPr>
            <a:r>
              <a:rPr lang="en-US" sz="4300" b="1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Removed unnecessary columns</a:t>
            </a:r>
          </a:p>
          <a:p>
            <a:pPr marL="928374" lvl="1" indent="-464187" algn="l">
              <a:lnSpc>
                <a:spcPts val="6020"/>
              </a:lnSpc>
              <a:buFont typeface="Arial"/>
              <a:buChar char="•"/>
            </a:pPr>
            <a:r>
              <a:rPr lang="en-US" sz="4300" b="1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Converted datatypes</a:t>
            </a:r>
          </a:p>
          <a:p>
            <a:pPr marL="928374" lvl="1" indent="-464187" algn="l">
              <a:lnSpc>
                <a:spcPts val="6020"/>
              </a:lnSpc>
              <a:buFont typeface="Arial"/>
              <a:buChar char="•"/>
            </a:pPr>
            <a:r>
              <a:rPr lang="en-US" sz="4300" b="1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engineering:</a:t>
            </a:r>
          </a:p>
          <a:p>
            <a:pPr marL="1856749" lvl="2" indent="-618916" algn="l">
              <a:lnSpc>
                <a:spcPts val="6020"/>
              </a:lnSpc>
              <a:buFont typeface="Arial"/>
              <a:buChar char="⚬"/>
            </a:pPr>
            <a:r>
              <a:rPr lang="en-US" sz="430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Age</a:t>
            </a:r>
          </a:p>
          <a:p>
            <a:pPr marL="1856749" lvl="2" indent="-618916" algn="l">
              <a:lnSpc>
                <a:spcPts val="6020"/>
              </a:lnSpc>
              <a:buFont typeface="Arial"/>
              <a:buChar char="⚬"/>
            </a:pPr>
            <a:r>
              <a:rPr lang="en-US" sz="430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Customer Tenure</a:t>
            </a:r>
          </a:p>
          <a:p>
            <a:pPr marL="1856749" lvl="2" indent="-618916" algn="l">
              <a:lnSpc>
                <a:spcPts val="6020"/>
              </a:lnSpc>
              <a:buFont typeface="Arial"/>
              <a:buChar char="⚬"/>
            </a:pPr>
            <a:r>
              <a:rPr lang="en-US" sz="430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Total Spending</a:t>
            </a:r>
          </a:p>
          <a:p>
            <a:pPr marL="1856749" lvl="2" indent="-618916" algn="l">
              <a:lnSpc>
                <a:spcPts val="6020"/>
              </a:lnSpc>
              <a:buFont typeface="Arial"/>
              <a:buChar char="⚬"/>
            </a:pPr>
            <a:r>
              <a:rPr lang="en-US" sz="430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Children count</a:t>
            </a:r>
          </a:p>
          <a:p>
            <a:pPr algn="l">
              <a:lnSpc>
                <a:spcPts val="6020"/>
              </a:lnSpc>
            </a:pPr>
            <a:endParaRPr lang="en-US" sz="430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921383" y="904875"/>
            <a:ext cx="8329301" cy="1094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FEATURE ENGINEERING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08473" y="2168755"/>
            <a:ext cx="9764183" cy="493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4732" lvl="1" indent="-507366" algn="l">
              <a:lnSpc>
                <a:spcPts val="6580"/>
              </a:lnSpc>
              <a:buFont typeface="Arial"/>
              <a:buChar char="•"/>
            </a:pPr>
            <a:r>
              <a:rPr lang="en-US" sz="4700" b="1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Created:</a:t>
            </a:r>
          </a:p>
          <a:p>
            <a:pPr marL="2029464" lvl="2" indent="-676488" algn="l">
              <a:lnSpc>
                <a:spcPts val="6580"/>
              </a:lnSpc>
              <a:buFont typeface="Arial"/>
              <a:buChar char="⚬"/>
            </a:pPr>
            <a:r>
              <a:rPr lang="en-US" sz="470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Total_Spending</a:t>
            </a:r>
          </a:p>
          <a:p>
            <a:pPr marL="2029464" lvl="2" indent="-676488" algn="l">
              <a:lnSpc>
                <a:spcPts val="6580"/>
              </a:lnSpc>
              <a:buFont typeface="Arial"/>
              <a:buChar char="⚬"/>
            </a:pPr>
            <a:r>
              <a:rPr lang="en-US" sz="470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Customer_Tenure</a:t>
            </a:r>
          </a:p>
          <a:p>
            <a:pPr marL="2029464" lvl="2" indent="-676488" algn="l">
              <a:lnSpc>
                <a:spcPts val="6580"/>
              </a:lnSpc>
              <a:buFont typeface="Arial"/>
              <a:buChar char="⚬"/>
            </a:pPr>
            <a:r>
              <a:rPr lang="en-US" sz="470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Age</a:t>
            </a:r>
          </a:p>
          <a:p>
            <a:pPr marL="1014732" lvl="1" indent="-507366" algn="l">
              <a:lnSpc>
                <a:spcPts val="6580"/>
              </a:lnSpc>
              <a:buFont typeface="Arial"/>
              <a:buChar char="•"/>
            </a:pPr>
            <a:r>
              <a:rPr lang="en-US" sz="4700" b="1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Encoded categorical variables</a:t>
            </a:r>
          </a:p>
          <a:p>
            <a:pPr marL="1014732" lvl="1" indent="-507366" algn="l">
              <a:lnSpc>
                <a:spcPts val="6580"/>
              </a:lnSpc>
              <a:buFont typeface="Arial"/>
              <a:buChar char="•"/>
            </a:pPr>
            <a:r>
              <a:rPr lang="en-US" sz="4700" b="1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Dropped irrelevant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2864399" y="5949127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21383" y="904875"/>
            <a:ext cx="6445235" cy="1094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EDA SECTION</a:t>
            </a:r>
          </a:p>
        </p:txBody>
      </p:sp>
      <p:sp>
        <p:nvSpPr>
          <p:cNvPr id="5" name="Freeform 5"/>
          <p:cNvSpPr/>
          <p:nvPr/>
        </p:nvSpPr>
        <p:spPr>
          <a:xfrm rot="-5400000">
            <a:off x="3599621" y="6136452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31266" y="2693293"/>
            <a:ext cx="6200252" cy="254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Right-skewed distribution</a:t>
            </a:r>
          </a:p>
          <a:p>
            <a:pPr marL="755644" lvl="1" indent="-377822" algn="just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Presence of high-income outliers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endParaRPr lang="en-US" sz="3499">
              <a:solidFill>
                <a:srgbClr val="424242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67497" y="2183304"/>
            <a:ext cx="4631429" cy="69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Incom</a:t>
            </a:r>
            <a:r>
              <a:rPr lang="en-US" sz="3499" b="1" u="none" strike="noStrik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e Distribution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31266" y="5425782"/>
            <a:ext cx="6464021" cy="254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Most customers fall in mid-age group</a:t>
            </a:r>
          </a:p>
          <a:p>
            <a:pPr marL="755644" lvl="1" indent="-377822" algn="just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Wide age spread observed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endParaRPr lang="en-US" sz="3499">
              <a:solidFill>
                <a:srgbClr val="424242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967497" y="4906268"/>
            <a:ext cx="4631429" cy="69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Ag</a:t>
            </a:r>
            <a:r>
              <a:rPr lang="en-US" sz="3499" b="1" u="none" strike="noStrik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e Distribution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24580" y="2732789"/>
            <a:ext cx="8229995" cy="254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Total spending varies significantly</a:t>
            </a:r>
          </a:p>
          <a:p>
            <a:pPr marL="755644" lvl="1" indent="-377822" algn="just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Wine &amp; meat products dominate spending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endParaRPr lang="en-US" sz="3499">
              <a:solidFill>
                <a:srgbClr val="424242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060811" y="2222800"/>
            <a:ext cx="4631429" cy="69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Sp</a:t>
            </a:r>
            <a:r>
              <a:rPr lang="en-US" sz="3499" b="1" u="none" strike="noStrik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ending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24580" y="5536761"/>
            <a:ext cx="8229995" cy="3787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just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Purchases via:</a:t>
            </a:r>
          </a:p>
          <a:p>
            <a:pPr marL="755644" lvl="1" indent="-377822" algn="just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Web</a:t>
            </a:r>
          </a:p>
          <a:p>
            <a:pPr marL="755644" lvl="1" indent="-377822" algn="just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Store</a:t>
            </a:r>
          </a:p>
          <a:p>
            <a:pPr marL="755644" lvl="1" indent="-377822" algn="just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Catalog</a:t>
            </a:r>
          </a:p>
          <a:p>
            <a:pPr marL="755644" lvl="1" indent="-377822" algn="just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dirty="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Store purchases slightly higher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endParaRPr lang="en-US" sz="3499" dirty="0">
              <a:solidFill>
                <a:srgbClr val="424242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576726" y="4844610"/>
            <a:ext cx="4631429" cy="69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Purchas</a:t>
            </a:r>
            <a:r>
              <a:rPr lang="en-US" sz="3499" b="1" u="none" strike="noStrike" dirty="0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e Behavior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2864399" y="5949127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3599621" y="6136452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59778" y="2739923"/>
            <a:ext cx="8005304" cy="6257325"/>
          </a:xfrm>
          <a:custGeom>
            <a:avLst/>
            <a:gdLst/>
            <a:ahLst/>
            <a:cxnLst/>
            <a:rect l="l" t="t" r="r" b="b"/>
            <a:pathLst>
              <a:path w="8005304" h="6257325">
                <a:moveTo>
                  <a:pt x="0" y="0"/>
                </a:moveTo>
                <a:lnTo>
                  <a:pt x="8005303" y="0"/>
                </a:lnTo>
                <a:lnTo>
                  <a:pt x="8005303" y="6257325"/>
                </a:lnTo>
                <a:lnTo>
                  <a:pt x="0" y="6257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97" b="-69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66450" y="2739923"/>
            <a:ext cx="9033390" cy="6257325"/>
          </a:xfrm>
          <a:custGeom>
            <a:avLst/>
            <a:gdLst/>
            <a:ahLst/>
            <a:cxnLst/>
            <a:rect l="l" t="t" r="r" b="b"/>
            <a:pathLst>
              <a:path w="9033390" h="6257325">
                <a:moveTo>
                  <a:pt x="0" y="0"/>
                </a:moveTo>
                <a:lnTo>
                  <a:pt x="9033390" y="0"/>
                </a:lnTo>
                <a:lnTo>
                  <a:pt x="9033390" y="6257325"/>
                </a:lnTo>
                <a:lnTo>
                  <a:pt x="0" y="6257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74" r="-247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921383" y="904875"/>
            <a:ext cx="6445235" cy="1094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EDA SECTION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2864399" y="5949127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21383" y="904875"/>
            <a:ext cx="6445235" cy="1094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EDA SECTION</a:t>
            </a:r>
          </a:p>
        </p:txBody>
      </p:sp>
      <p:sp>
        <p:nvSpPr>
          <p:cNvPr id="5" name="Freeform 5"/>
          <p:cNvSpPr/>
          <p:nvPr/>
        </p:nvSpPr>
        <p:spPr>
          <a:xfrm rot="-5400000">
            <a:off x="3599621" y="6136452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67497" y="2183304"/>
            <a:ext cx="5592303" cy="69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Co</a:t>
            </a:r>
            <a:r>
              <a:rPr lang="en-US" sz="3499" b="1" u="none" strike="noStrik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rrelation Heatmap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31266" y="7064920"/>
            <a:ext cx="6464021" cy="184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just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Weak correlation</a:t>
            </a:r>
          </a:p>
          <a:p>
            <a:pPr marL="755644" lvl="1" indent="-377822" algn="just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dirty="0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Agrandir"/>
                <a:sym typeface="Agrandir"/>
              </a:rPr>
              <a:t>Justifies need for clustering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endParaRPr lang="en-US" sz="3499" dirty="0">
              <a:solidFill>
                <a:srgbClr val="424242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67497" y="6319144"/>
            <a:ext cx="4631429" cy="69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</a:t>
            </a:r>
            <a:r>
              <a:rPr lang="en-US" sz="3499" b="1" u="none" strike="noStrik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ency vs Spending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67497" y="3454617"/>
            <a:ext cx="7599508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Strong relationships between: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Income &amp; Spending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Different product purchases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734800" y="5981700"/>
            <a:ext cx="6464021" cy="193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just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Detected using boxplots</a:t>
            </a:r>
          </a:p>
          <a:p>
            <a:pPr marL="755644" lvl="1" indent="-377822" algn="just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dirty="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Handled using IQR method</a:t>
            </a:r>
          </a:p>
          <a:p>
            <a:pPr algn="just">
              <a:lnSpc>
                <a:spcPts val="4899"/>
              </a:lnSpc>
              <a:spcBef>
                <a:spcPct val="0"/>
              </a:spcBef>
            </a:pPr>
            <a:endParaRPr lang="en-US" sz="3499" dirty="0">
              <a:solidFill>
                <a:srgbClr val="424242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115800" y="4991100"/>
            <a:ext cx="4631429" cy="69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Outlier</a:t>
            </a:r>
            <a:r>
              <a:rPr lang="en-US" sz="3499" b="1" u="none" strike="noStrike" dirty="0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 Handling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2864399" y="5949127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3599621" y="6136452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485254" y="2739923"/>
            <a:ext cx="8595500" cy="6233909"/>
          </a:xfrm>
          <a:custGeom>
            <a:avLst/>
            <a:gdLst/>
            <a:ahLst/>
            <a:cxnLst/>
            <a:rect l="l" t="t" r="r" b="b"/>
            <a:pathLst>
              <a:path w="8595500" h="6233909">
                <a:moveTo>
                  <a:pt x="0" y="0"/>
                </a:moveTo>
                <a:lnTo>
                  <a:pt x="8595500" y="0"/>
                </a:lnTo>
                <a:lnTo>
                  <a:pt x="8595500" y="6233910"/>
                </a:lnTo>
                <a:lnTo>
                  <a:pt x="0" y="6233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02" r="-1302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86233" y="2739923"/>
            <a:ext cx="8964497" cy="6716205"/>
          </a:xfrm>
          <a:custGeom>
            <a:avLst/>
            <a:gdLst/>
            <a:ahLst/>
            <a:cxnLst/>
            <a:rect l="l" t="t" r="r" b="b"/>
            <a:pathLst>
              <a:path w="8964497" h="6716205">
                <a:moveTo>
                  <a:pt x="0" y="0"/>
                </a:moveTo>
                <a:lnTo>
                  <a:pt x="8964497" y="0"/>
                </a:lnTo>
                <a:lnTo>
                  <a:pt x="8964497" y="6716205"/>
                </a:lnTo>
                <a:lnTo>
                  <a:pt x="0" y="67162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0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921383" y="904875"/>
            <a:ext cx="6445235" cy="1094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EDA SECTION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58354" y="94815"/>
            <a:ext cx="10251048" cy="1094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MODEL BUILDING SECTION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7800" y="1997985"/>
            <a:ext cx="6282893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1" dirty="0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Clustering Approach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3966" y="3065892"/>
            <a:ext cx="7110560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Used multiple algorithms:</a:t>
            </a:r>
          </a:p>
          <a:p>
            <a:pPr marL="1435946" lvl="2" indent="-457200">
              <a:lnSpc>
                <a:spcPts val="4759"/>
              </a:lnSpc>
              <a:buFont typeface="Wingdings" panose="05000000000000000000" pitchFamily="2" charset="2"/>
              <a:buChar char="v"/>
            </a:pPr>
            <a:r>
              <a:rPr lang="en-US" sz="3399" dirty="0" err="1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Canva Sans"/>
                <a:sym typeface="Canva Sans"/>
              </a:rPr>
              <a:t>KMeans</a:t>
            </a:r>
            <a:endParaRPr lang="en-US" sz="3399" dirty="0">
              <a:solidFill>
                <a:srgbClr val="424242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Canva Sans"/>
              <a:sym typeface="Canva Sans"/>
            </a:endParaRPr>
          </a:p>
          <a:p>
            <a:pPr marL="1435946" lvl="2" indent="-457200">
              <a:lnSpc>
                <a:spcPts val="4759"/>
              </a:lnSpc>
              <a:buFont typeface="Wingdings" panose="05000000000000000000" pitchFamily="2" charset="2"/>
              <a:buChar char="v"/>
            </a:pPr>
            <a:r>
              <a:rPr lang="en-US" sz="3399" dirty="0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Canva Sans"/>
                <a:sym typeface="Canva Sans"/>
              </a:rPr>
              <a:t>Agglomerative</a:t>
            </a:r>
          </a:p>
          <a:p>
            <a:pPr marL="1435946" lvl="2" indent="-457200">
              <a:lnSpc>
                <a:spcPts val="4759"/>
              </a:lnSpc>
              <a:buFont typeface="Wingdings" panose="05000000000000000000" pitchFamily="2" charset="2"/>
              <a:buChar char="v"/>
            </a:pPr>
            <a:r>
              <a:rPr lang="en-US" sz="3399" dirty="0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Canva Sans"/>
                <a:sym typeface="Canva Sans"/>
              </a:rPr>
              <a:t>DBSCAN</a:t>
            </a:r>
          </a:p>
          <a:p>
            <a:pPr marL="1435946" lvl="2" indent="-457200">
              <a:lnSpc>
                <a:spcPts val="4759"/>
              </a:lnSpc>
              <a:buFont typeface="Wingdings" panose="05000000000000000000" pitchFamily="2" charset="2"/>
              <a:buChar char="v"/>
            </a:pPr>
            <a:r>
              <a:rPr lang="en-US" sz="3399" dirty="0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Canva Sans"/>
                <a:sym typeface="Canva Sans"/>
              </a:rPr>
              <a:t>Gaussian Mixture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894789" y="2168755"/>
            <a:ext cx="4507011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1" dirty="0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Elbow Method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56255" y="3319780"/>
            <a:ext cx="6745155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Canva Sans"/>
                <a:sym typeface="Canva Sans"/>
              </a:rPr>
              <a:t>Used to find optimal clusters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Optimal K ≈ 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00200" y="6557539"/>
            <a:ext cx="5430208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1" dirty="0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Silhouette Score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5262" y="7718603"/>
            <a:ext cx="7903815" cy="180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29" lvl="1" algn="ctr">
              <a:lnSpc>
                <a:spcPts val="4759"/>
              </a:lnSpc>
            </a:pPr>
            <a:r>
              <a:rPr lang="en-US" sz="3399" dirty="0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Canva Sans"/>
                <a:sym typeface="Canva Sans"/>
              </a:rPr>
              <a:t>Compared clustering performance.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Canva Sans"/>
                <a:sym typeface="Canva Sans"/>
              </a:rPr>
              <a:t>KMeans</a:t>
            </a:r>
            <a:r>
              <a:rPr lang="en-US" sz="3399" dirty="0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Canva Sans"/>
                <a:sym typeface="Canva Sans"/>
              </a:rPr>
              <a:t> showed good separation</a:t>
            </a: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954594" y="5389246"/>
            <a:ext cx="3401880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1" dirty="0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Model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44527" y="6515100"/>
            <a:ext cx="6057238" cy="2407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Selected: </a:t>
            </a:r>
            <a:r>
              <a:rPr lang="en-US" sz="3399" dirty="0" err="1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KMeans</a:t>
            </a: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 (K=4)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Reason:</a:t>
            </a:r>
          </a:p>
          <a:p>
            <a:pPr marL="1468119" lvl="2" indent="-489373" algn="just">
              <a:lnSpc>
                <a:spcPts val="4759"/>
              </a:lnSpc>
              <a:buFont typeface="Arial"/>
              <a:buChar char="⚬"/>
            </a:pPr>
            <a:r>
              <a:rPr lang="en-US" sz="3399" dirty="0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Canva Sans"/>
                <a:sym typeface="Canva Sans"/>
              </a:rPr>
              <a:t>Better interpretability</a:t>
            </a:r>
          </a:p>
          <a:p>
            <a:pPr marL="1468119" lvl="2" indent="-489373" algn="just">
              <a:lnSpc>
                <a:spcPts val="4759"/>
              </a:lnSpc>
              <a:buFont typeface="Arial"/>
              <a:buChar char="⚬"/>
            </a:pPr>
            <a:r>
              <a:rPr lang="en-US" sz="3399" dirty="0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Canva Sans"/>
                <a:sym typeface="Canva Sans"/>
              </a:rPr>
              <a:t>Good silhouette score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58354" y="94815"/>
            <a:ext cx="10251048" cy="1094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MODEL BUILDING SECTION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76400" y="1636619"/>
            <a:ext cx="4404292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804" b="1" dirty="0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Evaluation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51051" y="2702080"/>
            <a:ext cx="5368528" cy="300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53"/>
              </a:lnSpc>
            </a:pPr>
            <a:r>
              <a:rPr lang="en-US" sz="2752" b="1" dirty="0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Metrics used:</a:t>
            </a:r>
          </a:p>
          <a:p>
            <a:pPr marL="594221" lvl="1" indent="-297111" algn="just">
              <a:lnSpc>
                <a:spcPts val="3853"/>
              </a:lnSpc>
              <a:buFont typeface="Arial"/>
              <a:buChar char="•"/>
            </a:pPr>
            <a:r>
              <a:rPr lang="en-US" sz="2752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Silhouette Score</a:t>
            </a:r>
          </a:p>
          <a:p>
            <a:pPr marL="594221" lvl="1" indent="-297111" algn="just">
              <a:lnSpc>
                <a:spcPts val="3853"/>
              </a:lnSpc>
              <a:buFont typeface="Arial"/>
              <a:buChar char="•"/>
            </a:pPr>
            <a:r>
              <a:rPr lang="en-US" sz="2752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Davies-</a:t>
            </a:r>
            <a:r>
              <a:rPr lang="en-US" sz="2752" dirty="0" err="1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Bouldin</a:t>
            </a:r>
            <a:r>
              <a:rPr lang="en-US" sz="2752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 Index</a:t>
            </a:r>
          </a:p>
          <a:p>
            <a:pPr algn="just">
              <a:lnSpc>
                <a:spcPts val="3853"/>
              </a:lnSpc>
            </a:pPr>
            <a:r>
              <a:rPr lang="en-US" sz="2752" b="1" dirty="0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Result:</a:t>
            </a:r>
          </a:p>
          <a:p>
            <a:pPr marL="594221" lvl="1" indent="-297111" algn="just">
              <a:lnSpc>
                <a:spcPts val="3853"/>
              </a:lnSpc>
              <a:buFont typeface="Arial"/>
              <a:buChar char="•"/>
            </a:pPr>
            <a:r>
              <a:rPr lang="en-US" sz="2752" dirty="0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Canva Sans"/>
                <a:sym typeface="Canva Sans"/>
              </a:rPr>
              <a:t>Moderate cluster separation</a:t>
            </a:r>
          </a:p>
          <a:p>
            <a:pPr algn="just">
              <a:lnSpc>
                <a:spcPts val="3853"/>
              </a:lnSpc>
            </a:pPr>
            <a:endParaRPr lang="en-US" sz="2752" dirty="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192388" y="1748450"/>
            <a:ext cx="4264034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804" b="1" dirty="0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PCA Visualization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13200" y="2702080"/>
            <a:ext cx="5422106" cy="1966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4221" lvl="1" indent="-297111" algn="just">
              <a:lnSpc>
                <a:spcPts val="3853"/>
              </a:lnSpc>
              <a:buFont typeface="Arial"/>
              <a:buChar char="•"/>
            </a:pPr>
            <a:r>
              <a:rPr lang="en-US" sz="2752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Reduced data to 2D</a:t>
            </a:r>
          </a:p>
          <a:p>
            <a:pPr marL="594221" lvl="1" indent="-297111" algn="just">
              <a:lnSpc>
                <a:spcPts val="3853"/>
              </a:lnSpc>
              <a:buFont typeface="Arial"/>
              <a:buChar char="•"/>
            </a:pPr>
            <a:r>
              <a:rPr lang="en-US" sz="2752" dirty="0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Canva Sans"/>
                <a:sym typeface="Canva Sans"/>
              </a:rPr>
              <a:t>Visualized cluster separation</a:t>
            </a:r>
          </a:p>
          <a:p>
            <a:pPr marL="594221" lvl="1" indent="-297111" algn="just">
              <a:lnSpc>
                <a:spcPts val="3853"/>
              </a:lnSpc>
              <a:buFont typeface="Arial"/>
              <a:buChar char="•"/>
            </a:pPr>
            <a:r>
              <a:rPr lang="en-US" sz="2752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Clear grouping observed</a:t>
            </a:r>
          </a:p>
          <a:p>
            <a:pPr algn="just">
              <a:lnSpc>
                <a:spcPts val="3853"/>
              </a:lnSpc>
            </a:pPr>
            <a:endParaRPr lang="en-US" sz="2752" dirty="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76400" y="5748852"/>
            <a:ext cx="4087017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804" b="1" dirty="0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Cluster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51051" y="6896100"/>
            <a:ext cx="4313767" cy="250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4221" lvl="1" indent="-297111" algn="just">
              <a:lnSpc>
                <a:spcPts val="3853"/>
              </a:lnSpc>
              <a:buFont typeface="Arial"/>
              <a:buChar char="•"/>
            </a:pPr>
            <a:r>
              <a:rPr lang="en-US" sz="2752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High spenders</a:t>
            </a:r>
          </a:p>
          <a:p>
            <a:pPr marL="594221" lvl="1" indent="-297111" algn="just">
              <a:lnSpc>
                <a:spcPts val="3853"/>
              </a:lnSpc>
              <a:buFont typeface="Arial"/>
              <a:buChar char="•"/>
            </a:pPr>
            <a:r>
              <a:rPr lang="en-US" sz="2752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Low spenders</a:t>
            </a:r>
          </a:p>
          <a:p>
            <a:pPr marL="594221" lvl="1" indent="-297111" algn="just">
              <a:lnSpc>
                <a:spcPts val="3853"/>
              </a:lnSpc>
              <a:buFont typeface="Arial"/>
              <a:buChar char="•"/>
            </a:pPr>
            <a:r>
              <a:rPr lang="en-US" sz="2752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Frequent buyers</a:t>
            </a:r>
          </a:p>
          <a:p>
            <a:pPr marL="594221" lvl="1" indent="-297111" algn="just">
              <a:lnSpc>
                <a:spcPts val="3853"/>
              </a:lnSpc>
              <a:buFont typeface="Arial"/>
              <a:buChar char="•"/>
            </a:pPr>
            <a:r>
              <a:rPr lang="en-US" sz="2752" dirty="0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Canva Sans"/>
                <a:sym typeface="Canva Sans"/>
              </a:rPr>
              <a:t>Occasional customers</a:t>
            </a:r>
          </a:p>
          <a:p>
            <a:pPr algn="just">
              <a:lnSpc>
                <a:spcPts val="3853"/>
              </a:lnSpc>
            </a:pPr>
            <a:endParaRPr lang="en-US" sz="2752" dirty="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92388" y="5690201"/>
            <a:ext cx="4175359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26"/>
              </a:lnSpc>
            </a:pPr>
            <a:r>
              <a:rPr lang="en-US" sz="3804" b="1" dirty="0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Cluster Profiling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92388" y="6591300"/>
            <a:ext cx="8432347" cy="2464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53"/>
              </a:lnSpc>
            </a:pPr>
            <a:r>
              <a:rPr lang="en-US" sz="2752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Compared clusters using:</a:t>
            </a:r>
          </a:p>
          <a:p>
            <a:pPr marL="594221" lvl="1" indent="-297111">
              <a:lnSpc>
                <a:spcPts val="3853"/>
              </a:lnSpc>
              <a:buFont typeface="Arial"/>
              <a:buChar char="•"/>
            </a:pPr>
            <a:r>
              <a:rPr lang="en-US" sz="2752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Income</a:t>
            </a:r>
          </a:p>
          <a:p>
            <a:pPr marL="594221" lvl="1" indent="-297111">
              <a:lnSpc>
                <a:spcPts val="3853"/>
              </a:lnSpc>
              <a:buFont typeface="Arial"/>
              <a:buChar char="•"/>
            </a:pPr>
            <a:r>
              <a:rPr lang="en-US" sz="2752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Spending</a:t>
            </a:r>
          </a:p>
          <a:p>
            <a:pPr marL="594221" lvl="1" indent="-297111">
              <a:lnSpc>
                <a:spcPts val="3853"/>
              </a:lnSpc>
              <a:buFont typeface="Arial"/>
              <a:buChar char="•"/>
            </a:pPr>
            <a:r>
              <a:rPr lang="en-US" sz="2752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Recency</a:t>
            </a:r>
          </a:p>
          <a:p>
            <a:pPr marL="594221" lvl="1" indent="-297111">
              <a:lnSpc>
                <a:spcPts val="3853"/>
              </a:lnSpc>
              <a:buFont typeface="Arial"/>
              <a:buChar char="•"/>
            </a:pPr>
            <a:r>
              <a:rPr lang="en-US" sz="2752" dirty="0">
                <a:solidFill>
                  <a:srgbClr val="424242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Canva Sans"/>
                <a:sym typeface="Canva Sans"/>
              </a:rPr>
              <a:t>Used heatmaps &amp; radar charts</a:t>
            </a:r>
            <a:endParaRPr lang="en-US" sz="2752" dirty="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174586" y="8477446"/>
            <a:ext cx="3777058" cy="3619109"/>
          </a:xfrm>
          <a:custGeom>
            <a:avLst/>
            <a:gdLst/>
            <a:ahLst/>
            <a:cxnLst/>
            <a:rect l="l" t="t" r="r" b="b"/>
            <a:pathLst>
              <a:path w="3777058" h="3619109">
                <a:moveTo>
                  <a:pt x="0" y="0"/>
                </a:moveTo>
                <a:lnTo>
                  <a:pt x="3777058" y="0"/>
                </a:lnTo>
                <a:lnTo>
                  <a:pt x="3777058" y="3619108"/>
                </a:lnTo>
                <a:lnTo>
                  <a:pt x="0" y="3619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10942" y="68326"/>
            <a:ext cx="3777058" cy="3619109"/>
          </a:xfrm>
          <a:custGeom>
            <a:avLst/>
            <a:gdLst/>
            <a:ahLst/>
            <a:cxnLst/>
            <a:rect l="l" t="t" r="r" b="b"/>
            <a:pathLst>
              <a:path w="3777058" h="3619109">
                <a:moveTo>
                  <a:pt x="0" y="0"/>
                </a:moveTo>
                <a:lnTo>
                  <a:pt x="3777058" y="0"/>
                </a:lnTo>
                <a:lnTo>
                  <a:pt x="3777058" y="3619109"/>
                </a:lnTo>
                <a:lnTo>
                  <a:pt x="0" y="3619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00600" y="661855"/>
            <a:ext cx="8612218" cy="243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CLASSIFICATION MODELS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75607" y="3779180"/>
            <a:ext cx="7249985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 Models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0600" y="5141891"/>
            <a:ext cx="4713949" cy="242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Random Forest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Logistic Regression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Decision Tree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55425" y="3828239"/>
            <a:ext cx="611478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4242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Comparison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3239" y="5449668"/>
            <a:ext cx="7401851" cy="180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Random Forest → Best accuracy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Used for prediction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62400" y="696648"/>
            <a:ext cx="10251048" cy="1094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 dirty="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DEPLOYMENT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2095500"/>
            <a:ext cx="15349656" cy="7345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Saved model using </a:t>
            </a:r>
            <a:r>
              <a:rPr lang="en-US" sz="3399" dirty="0" err="1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joblib</a:t>
            </a:r>
            <a:endParaRPr lang="en-US" sz="3399" dirty="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Exported processed dataset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Ready for integration into app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Dynamic application with static as well as dynamic graphs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 The user has to enter details like income, recency and more inputs in order to know what category of customer he/</a:t>
            </a:r>
            <a:r>
              <a:rPr lang="en-US" sz="3399">
                <a:solidFill>
                  <a:srgbClr val="424242"/>
                </a:solidFill>
                <a:latin typeface="Canva Sans"/>
                <a:ea typeface="Canva Sans"/>
                <a:cs typeface="Canva Sans"/>
                <a:sym typeface="Canva Sans"/>
              </a:rPr>
              <a:t>she belongs.</a:t>
            </a:r>
            <a:endParaRPr lang="en-US" sz="3399" dirty="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42424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73146" y="-1125046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18476" y="1036848"/>
            <a:ext cx="10251048" cy="1094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APP SCREENSHOT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58880" y="2448477"/>
            <a:ext cx="13770240" cy="6460480"/>
            <a:chOff x="0" y="0"/>
            <a:chExt cx="1729800" cy="81155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29800" cy="811557"/>
            </a:xfrm>
            <a:custGeom>
              <a:avLst/>
              <a:gdLst/>
              <a:ahLst/>
              <a:cxnLst/>
              <a:rect l="l" t="t" r="r" b="b"/>
              <a:pathLst>
                <a:path w="1729800" h="811557">
                  <a:moveTo>
                    <a:pt x="12931" y="0"/>
                  </a:moveTo>
                  <a:lnTo>
                    <a:pt x="1716869" y="0"/>
                  </a:lnTo>
                  <a:cubicBezTo>
                    <a:pt x="1720299" y="0"/>
                    <a:pt x="1723588" y="1362"/>
                    <a:pt x="1726013" y="3787"/>
                  </a:cubicBezTo>
                  <a:cubicBezTo>
                    <a:pt x="1728438" y="6212"/>
                    <a:pt x="1729800" y="9502"/>
                    <a:pt x="1729800" y="12931"/>
                  </a:cubicBezTo>
                  <a:lnTo>
                    <a:pt x="1729800" y="798626"/>
                  </a:lnTo>
                  <a:cubicBezTo>
                    <a:pt x="1729800" y="805768"/>
                    <a:pt x="1724011" y="811557"/>
                    <a:pt x="1716869" y="811557"/>
                  </a:cubicBezTo>
                  <a:lnTo>
                    <a:pt x="12931" y="811557"/>
                  </a:lnTo>
                  <a:cubicBezTo>
                    <a:pt x="9502" y="811557"/>
                    <a:pt x="6212" y="810195"/>
                    <a:pt x="3787" y="807770"/>
                  </a:cubicBezTo>
                  <a:cubicBezTo>
                    <a:pt x="1362" y="805345"/>
                    <a:pt x="0" y="802056"/>
                    <a:pt x="0" y="798626"/>
                  </a:cubicBezTo>
                  <a:lnTo>
                    <a:pt x="0" y="12931"/>
                  </a:lnTo>
                  <a:cubicBezTo>
                    <a:pt x="0" y="9502"/>
                    <a:pt x="1362" y="6212"/>
                    <a:pt x="3787" y="3787"/>
                  </a:cubicBezTo>
                  <a:cubicBezTo>
                    <a:pt x="6212" y="1362"/>
                    <a:pt x="9502" y="0"/>
                    <a:pt x="12931" y="0"/>
                  </a:cubicBezTo>
                  <a:close/>
                </a:path>
              </a:pathLst>
            </a:custGeom>
            <a:blipFill>
              <a:blip r:embed="rId4"/>
              <a:stretch>
                <a:fillRect l="-7" r="-7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32959" y="-2455521"/>
            <a:ext cx="5049982" cy="6172200"/>
          </a:xfrm>
          <a:custGeom>
            <a:avLst/>
            <a:gdLst/>
            <a:ahLst/>
            <a:cxnLst/>
            <a:rect l="l" t="t" r="r" b="b"/>
            <a:pathLst>
              <a:path w="5049982" h="6172200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30195" y="70903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00520" y="363806"/>
            <a:ext cx="9190933" cy="131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77"/>
              </a:lnSpc>
              <a:spcBef>
                <a:spcPct val="0"/>
              </a:spcBef>
            </a:pPr>
            <a:r>
              <a:rPr lang="en-US" sz="76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CHALLENGES FACED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50995" y="2954415"/>
            <a:ext cx="10489982" cy="4678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Handling missing values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24242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Choosing optimal clusters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24242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Interpreting clusters meaningfully</a:t>
            </a:r>
          </a:p>
          <a:p>
            <a:pPr algn="l">
              <a:lnSpc>
                <a:spcPts val="5179"/>
              </a:lnSpc>
            </a:pPr>
            <a:endParaRPr lang="en-US" sz="3699">
              <a:solidFill>
                <a:srgbClr val="424242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798823" lvl="1" indent="-399411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Outlier impact on clustering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32959" y="-2455521"/>
            <a:ext cx="5049982" cy="6172200"/>
          </a:xfrm>
          <a:custGeom>
            <a:avLst/>
            <a:gdLst/>
            <a:ahLst/>
            <a:cxnLst/>
            <a:rect l="l" t="t" r="r" b="b"/>
            <a:pathLst>
              <a:path w="5049982" h="6172200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17023" y="104769"/>
            <a:ext cx="9513958" cy="131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77"/>
              </a:lnSpc>
              <a:spcBef>
                <a:spcPct val="0"/>
              </a:spcBef>
            </a:pPr>
            <a:r>
              <a:rPr lang="en-US" sz="76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CHALLENGES HANDLED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600" y="3162300"/>
            <a:ext cx="17423868" cy="6469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5" lvl="1" indent="-356233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Handling missing values - Used median imputation for numerical features to avoid data loss. </a:t>
            </a:r>
          </a:p>
          <a:p>
            <a:pPr>
              <a:lnSpc>
                <a:spcPts val="4619"/>
              </a:lnSpc>
            </a:pPr>
            <a:endParaRPr lang="en-US" sz="3299" dirty="0">
              <a:solidFill>
                <a:srgbClr val="424242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712465" lvl="1" indent="-356233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Choosing optimal clusters - Used the Elbow Method to find the optimal number of clusters by plotting WCSS.</a:t>
            </a:r>
          </a:p>
          <a:p>
            <a:pPr>
              <a:lnSpc>
                <a:spcPts val="4619"/>
              </a:lnSpc>
            </a:pPr>
            <a:endParaRPr lang="en-US" sz="3299" dirty="0">
              <a:solidFill>
                <a:srgbClr val="424242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712465" lvl="1" indent="-356233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Interpreting clusters meaningfully - Labeled clusters based on characteristics such as premium customers, low value families ,store oriented and online customers.</a:t>
            </a:r>
          </a:p>
          <a:p>
            <a:pPr>
              <a:lnSpc>
                <a:spcPts val="4619"/>
              </a:lnSpc>
            </a:pPr>
            <a:endParaRPr lang="en-US" sz="3299" dirty="0">
              <a:solidFill>
                <a:srgbClr val="424242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712465" lvl="1" indent="-356233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Outlier impact on clustering - Detected outliers using boxplots and IQR method. Capped extreme values to improve clustering performance.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1832130"/>
            <a:ext cx="6541988" cy="1327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17"/>
              </a:lnSpc>
              <a:spcBef>
                <a:spcPct val="0"/>
              </a:spcBef>
            </a:pPr>
            <a:r>
              <a:rPr lang="en-US" sz="77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KEY LEARNINGS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4931" y="3711575"/>
            <a:ext cx="12810887" cy="3418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2" lvl="1" indent="-410206" algn="just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Importance of feature engineering</a:t>
            </a:r>
          </a:p>
          <a:p>
            <a:pPr algn="just">
              <a:lnSpc>
                <a:spcPts val="5319"/>
              </a:lnSpc>
            </a:pPr>
            <a:endParaRPr lang="en-US" sz="3799">
              <a:solidFill>
                <a:srgbClr val="424242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820412" lvl="1" indent="-410206" algn="just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Clustering evaluation techniques</a:t>
            </a:r>
          </a:p>
          <a:p>
            <a:pPr algn="just">
              <a:lnSpc>
                <a:spcPts val="5319"/>
              </a:lnSpc>
            </a:pPr>
            <a:endParaRPr lang="en-US" sz="3799">
              <a:solidFill>
                <a:srgbClr val="424242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820412" lvl="1" indent="-410206" algn="just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Real-world business interpretation</a:t>
            </a:r>
          </a:p>
        </p:txBody>
      </p:sp>
      <p:sp>
        <p:nvSpPr>
          <p:cNvPr id="6" name="Freeform 4"/>
          <p:cNvSpPr/>
          <p:nvPr/>
        </p:nvSpPr>
        <p:spPr>
          <a:xfrm>
            <a:off x="13106400" y="5371834"/>
            <a:ext cx="4644650" cy="4619315"/>
          </a:xfrm>
          <a:custGeom>
            <a:avLst/>
            <a:gdLst/>
            <a:ahLst/>
            <a:cxnLst/>
            <a:rect l="l" t="t" r="r" b="b"/>
            <a:pathLst>
              <a:path w="4644650" h="4619315">
                <a:moveTo>
                  <a:pt x="0" y="0"/>
                </a:moveTo>
                <a:lnTo>
                  <a:pt x="4644650" y="0"/>
                </a:lnTo>
                <a:lnTo>
                  <a:pt x="4644650" y="4619315"/>
                </a:lnTo>
                <a:lnTo>
                  <a:pt x="0" y="4619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43350" y="5389415"/>
            <a:ext cx="4644650" cy="4619315"/>
          </a:xfrm>
          <a:custGeom>
            <a:avLst/>
            <a:gdLst/>
            <a:ahLst/>
            <a:cxnLst/>
            <a:rect l="l" t="t" r="r" b="b"/>
            <a:pathLst>
              <a:path w="4644650" h="4619315">
                <a:moveTo>
                  <a:pt x="0" y="0"/>
                </a:moveTo>
                <a:lnTo>
                  <a:pt x="4644650" y="0"/>
                </a:lnTo>
                <a:lnTo>
                  <a:pt x="4644650" y="4619315"/>
                </a:lnTo>
                <a:lnTo>
                  <a:pt x="0" y="4619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30038" y="3731333"/>
            <a:ext cx="10627924" cy="2571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32"/>
              </a:lnSpc>
              <a:spcBef>
                <a:spcPct val="0"/>
              </a:spcBef>
            </a:pPr>
            <a:r>
              <a:rPr lang="en-US" sz="15023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4644650" cy="4619315"/>
          </a:xfrm>
          <a:custGeom>
            <a:avLst/>
            <a:gdLst/>
            <a:ahLst/>
            <a:cxnLst/>
            <a:rect l="l" t="t" r="r" b="b"/>
            <a:pathLst>
              <a:path w="4644650" h="4619315">
                <a:moveTo>
                  <a:pt x="0" y="0"/>
                </a:moveTo>
                <a:lnTo>
                  <a:pt x="4644650" y="0"/>
                </a:lnTo>
                <a:lnTo>
                  <a:pt x="4644650" y="4619315"/>
                </a:lnTo>
                <a:lnTo>
                  <a:pt x="0" y="4619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534</Words>
  <Application>Microsoft Office PowerPoint</Application>
  <PresentationFormat>Custom</PresentationFormat>
  <Paragraphs>169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and Beige Simple Clean Project Overview Presentation</dc:title>
  <cp:lastModifiedBy>Nehal Kakade</cp:lastModifiedBy>
  <cp:revision>12</cp:revision>
  <dcterms:created xsi:type="dcterms:W3CDTF">2006-08-16T00:00:00Z</dcterms:created>
  <dcterms:modified xsi:type="dcterms:W3CDTF">2026-04-06T13:17:12Z</dcterms:modified>
  <dc:identifier>DAHGC4Dtnv0</dc:identifier>
</cp:coreProperties>
</file>